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2"/>
    <p:sldId id="287" r:id="rId3"/>
    <p:sldId id="288" r:id="rId4"/>
    <p:sldId id="263" r:id="rId5"/>
    <p:sldId id="257" r:id="rId6"/>
    <p:sldId id="265" r:id="rId7"/>
    <p:sldId id="262" r:id="rId8"/>
    <p:sldId id="264" r:id="rId9"/>
    <p:sldId id="266" r:id="rId10"/>
    <p:sldId id="267" r:id="rId11"/>
    <p:sldId id="269" r:id="rId12"/>
    <p:sldId id="272" r:id="rId13"/>
    <p:sldId id="273" r:id="rId14"/>
    <p:sldId id="274" r:id="rId15"/>
    <p:sldId id="277" r:id="rId16"/>
    <p:sldId id="279" r:id="rId17"/>
    <p:sldId id="281" r:id="rId18"/>
    <p:sldId id="282" r:id="rId19"/>
    <p:sldId id="283" r:id="rId20"/>
    <p:sldId id="284" r:id="rId21"/>
    <p:sldId id="28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1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161D68-BF65-2C90-2048-8B896CC2CCBB}"/>
              </a:ext>
            </a:extLst>
          </p:cNvPr>
          <p:cNvSpPr/>
          <p:nvPr/>
        </p:nvSpPr>
        <p:spPr>
          <a:xfrm>
            <a:off x="609600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FC0CE-03B2-61AB-7863-5751D414327B}"/>
              </a:ext>
            </a:extLst>
          </p:cNvPr>
          <p:cNvSpPr txBox="1"/>
          <p:nvPr/>
        </p:nvSpPr>
        <p:spPr>
          <a:xfrm>
            <a:off x="1341120" y="53035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677487"/>
                </a:solidFill>
                <a:latin typeface="Aptos"/>
              </a:defRPr>
            </a:pPr>
            <a:r>
              <a:t>PYTHON • REAL-LIFE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8C993-E8A1-4C03-4CDB-231A8BFEBBD1}"/>
              </a:ext>
            </a:extLst>
          </p:cNvPr>
          <p:cNvSpPr txBox="1"/>
          <p:nvPr/>
        </p:nvSpPr>
        <p:spPr>
          <a:xfrm>
            <a:off x="1341120" y="987552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100" b="1">
                <a:solidFill>
                  <a:srgbClr val="232D3C"/>
                </a:solidFill>
                <a:latin typeface="Aptos Display"/>
              </a:defRPr>
            </a:pPr>
            <a:r>
              <a:t>Where Do We Use map(), filter() &amp; reduce()?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790F9F-2228-5776-07C5-FAAA753F9724}"/>
              </a:ext>
            </a:extLst>
          </p:cNvPr>
          <p:cNvSpPr txBox="1"/>
          <p:nvPr/>
        </p:nvSpPr>
        <p:spPr>
          <a:xfrm>
            <a:off x="1359408" y="1664208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0">
                <a:solidFill>
                  <a:srgbClr val="4C5B6F"/>
                </a:solidFill>
                <a:latin typeface="Aptos"/>
              </a:defRPr>
            </a:pPr>
            <a:r>
              <a:t>Useful for transforming, selecting, and combining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4BFA0-44B3-F1A3-90F4-51D3D8F67D60}"/>
              </a:ext>
            </a:extLst>
          </p:cNvPr>
          <p:cNvSpPr txBox="1"/>
          <p:nvPr/>
        </p:nvSpPr>
        <p:spPr>
          <a:xfrm>
            <a:off x="1588007" y="268833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1">
                <a:solidFill>
                  <a:srgbClr val="2D415A"/>
                </a:solidFill>
                <a:latin typeface="Consolas"/>
              </a:defRPr>
            </a:pPr>
            <a:r>
              <a:t>map()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2E343-C53B-C119-A360-04102D214004}"/>
              </a:ext>
            </a:extLst>
          </p:cNvPr>
          <p:cNvSpPr txBox="1"/>
          <p:nvPr/>
        </p:nvSpPr>
        <p:spPr>
          <a:xfrm>
            <a:off x="1588007" y="3136392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Aptos"/>
              </a:defRPr>
            </a:pPr>
            <a:r>
              <a:t>Transform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FB765-93B4-8DCC-3A99-8B6E1096130C}"/>
              </a:ext>
            </a:extLst>
          </p:cNvPr>
          <p:cNvSpPr txBox="1"/>
          <p:nvPr/>
        </p:nvSpPr>
        <p:spPr>
          <a:xfrm>
            <a:off x="1652015" y="3675887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04198-ADFE-95EC-C855-B646477A62C3}"/>
              </a:ext>
            </a:extLst>
          </p:cNvPr>
          <p:cNvSpPr txBox="1"/>
          <p:nvPr/>
        </p:nvSpPr>
        <p:spPr>
          <a:xfrm>
            <a:off x="1908048" y="367588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Convert prices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1774D0-685A-1919-06F5-9A87DBAFAF06}"/>
              </a:ext>
            </a:extLst>
          </p:cNvPr>
          <p:cNvSpPr txBox="1"/>
          <p:nvPr/>
        </p:nvSpPr>
        <p:spPr>
          <a:xfrm>
            <a:off x="1652015" y="4069079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C44EEA-0835-0440-7D56-2115D7A327BD}"/>
              </a:ext>
            </a:extLst>
          </p:cNvPr>
          <p:cNvSpPr txBox="1"/>
          <p:nvPr/>
        </p:nvSpPr>
        <p:spPr>
          <a:xfrm>
            <a:off x="1908048" y="40690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Format names / text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C6D7E-AC06-9F57-7341-1B39EEFD4F34}"/>
              </a:ext>
            </a:extLst>
          </p:cNvPr>
          <p:cNvSpPr txBox="1"/>
          <p:nvPr/>
        </p:nvSpPr>
        <p:spPr>
          <a:xfrm>
            <a:off x="1652015" y="4462271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F7654E-046C-474D-2C48-DEDE384AFEC3}"/>
              </a:ext>
            </a:extLst>
          </p:cNvPr>
          <p:cNvSpPr txBox="1"/>
          <p:nvPr/>
        </p:nvSpPr>
        <p:spPr>
          <a:xfrm>
            <a:off x="1908048" y="4462271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Convert units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B22AD-C94A-8189-A2D0-2F59230A4A56}"/>
              </a:ext>
            </a:extLst>
          </p:cNvPr>
          <p:cNvSpPr txBox="1"/>
          <p:nvPr/>
        </p:nvSpPr>
        <p:spPr>
          <a:xfrm>
            <a:off x="1652015" y="4855463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AE2D5B-2E36-3570-78B9-FD0B96AF7577}"/>
              </a:ext>
            </a:extLst>
          </p:cNvPr>
          <p:cNvSpPr txBox="1"/>
          <p:nvPr/>
        </p:nvSpPr>
        <p:spPr>
          <a:xfrm>
            <a:off x="1908048" y="485546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Apply operation to every item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E02F0C6-EB81-74EA-5647-E957D100279E}"/>
              </a:ext>
            </a:extLst>
          </p:cNvPr>
          <p:cNvSpPr/>
          <p:nvPr/>
        </p:nvSpPr>
        <p:spPr>
          <a:xfrm>
            <a:off x="4888992" y="2423160"/>
            <a:ext cx="3154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4D0AA0-3B2C-63E1-B9AC-8F0B13283306}"/>
              </a:ext>
            </a:extLst>
          </p:cNvPr>
          <p:cNvSpPr txBox="1"/>
          <p:nvPr/>
        </p:nvSpPr>
        <p:spPr>
          <a:xfrm>
            <a:off x="5117592" y="268833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1">
                <a:solidFill>
                  <a:srgbClr val="2D415A"/>
                </a:solidFill>
                <a:latin typeface="Consolas"/>
              </a:defRPr>
            </a:pPr>
            <a:r>
              <a:t>filter()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2585C5-8373-C003-7557-986C12309C53}"/>
              </a:ext>
            </a:extLst>
          </p:cNvPr>
          <p:cNvSpPr txBox="1"/>
          <p:nvPr/>
        </p:nvSpPr>
        <p:spPr>
          <a:xfrm>
            <a:off x="5117592" y="3136392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Aptos"/>
              </a:defRPr>
            </a:pPr>
            <a:r>
              <a:t>Select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0EFB15-83EC-6EC1-3B75-11491E4B48C2}"/>
              </a:ext>
            </a:extLst>
          </p:cNvPr>
          <p:cNvSpPr txBox="1"/>
          <p:nvPr/>
        </p:nvSpPr>
        <p:spPr>
          <a:xfrm>
            <a:off x="5181600" y="3675887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7FAF7A-7489-7417-8B1C-8B630CBF8470}"/>
              </a:ext>
            </a:extLst>
          </p:cNvPr>
          <p:cNvSpPr txBox="1"/>
          <p:nvPr/>
        </p:nvSpPr>
        <p:spPr>
          <a:xfrm>
            <a:off x="5437631" y="367588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Find products below a price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A2475D-9966-E9D1-2BDA-B7AE138D1FF1}"/>
              </a:ext>
            </a:extLst>
          </p:cNvPr>
          <p:cNvSpPr txBox="1"/>
          <p:nvPr/>
        </p:nvSpPr>
        <p:spPr>
          <a:xfrm>
            <a:off x="5181600" y="4069079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560BF-3B23-7AF8-6CE4-448DB8D0BD15}"/>
              </a:ext>
            </a:extLst>
          </p:cNvPr>
          <p:cNvSpPr txBox="1"/>
          <p:nvPr/>
        </p:nvSpPr>
        <p:spPr>
          <a:xfrm>
            <a:off x="5437631" y="40690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Select eligible users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22592A-FD6B-1C20-5728-2A52331F006E}"/>
              </a:ext>
            </a:extLst>
          </p:cNvPr>
          <p:cNvSpPr txBox="1"/>
          <p:nvPr/>
        </p:nvSpPr>
        <p:spPr>
          <a:xfrm>
            <a:off x="5181600" y="4462271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AD2A99-D103-0D2C-27B1-D01A7ED1EFF0}"/>
              </a:ext>
            </a:extLst>
          </p:cNvPr>
          <p:cNvSpPr txBox="1"/>
          <p:nvPr/>
        </p:nvSpPr>
        <p:spPr>
          <a:xfrm>
            <a:off x="5437631" y="4462271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Keep passing students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0F1AF-F882-98B3-72D1-9455BA9946FB}"/>
              </a:ext>
            </a:extLst>
          </p:cNvPr>
          <p:cNvSpPr txBox="1"/>
          <p:nvPr/>
        </p:nvSpPr>
        <p:spPr>
          <a:xfrm>
            <a:off x="5181600" y="4855463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A9D7C04-0A1D-50A7-2226-2E844524996C}"/>
              </a:ext>
            </a:extLst>
          </p:cNvPr>
          <p:cNvSpPr txBox="1"/>
          <p:nvPr/>
        </p:nvSpPr>
        <p:spPr>
          <a:xfrm>
            <a:off x="5437631" y="485546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Remove unwanted records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64F0E9B-9F4C-4266-40AF-2772E798E3DC}"/>
              </a:ext>
            </a:extLst>
          </p:cNvPr>
          <p:cNvSpPr/>
          <p:nvPr/>
        </p:nvSpPr>
        <p:spPr>
          <a:xfrm>
            <a:off x="8418575" y="2423160"/>
            <a:ext cx="31546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3B447B-0CBF-4467-F372-1595081311C1}"/>
              </a:ext>
            </a:extLst>
          </p:cNvPr>
          <p:cNvSpPr txBox="1"/>
          <p:nvPr/>
        </p:nvSpPr>
        <p:spPr>
          <a:xfrm>
            <a:off x="8647175" y="2688336"/>
            <a:ext cx="2697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1">
                <a:solidFill>
                  <a:srgbClr val="2D415A"/>
                </a:solidFill>
                <a:latin typeface="Consolas"/>
              </a:defRPr>
            </a:pPr>
            <a:r>
              <a:t>reduce()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301EFC-53F6-F690-A6EC-CF539FF427D5}"/>
              </a:ext>
            </a:extLst>
          </p:cNvPr>
          <p:cNvSpPr txBox="1"/>
          <p:nvPr/>
        </p:nvSpPr>
        <p:spPr>
          <a:xfrm>
            <a:off x="8647175" y="3136392"/>
            <a:ext cx="2697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Aptos"/>
              </a:defRPr>
            </a:pPr>
            <a:r>
              <a:t>Combine Data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86A27D-88D1-5A61-BE68-F1B8D68B148A}"/>
              </a:ext>
            </a:extLst>
          </p:cNvPr>
          <p:cNvSpPr txBox="1"/>
          <p:nvPr/>
        </p:nvSpPr>
        <p:spPr>
          <a:xfrm>
            <a:off x="8711183" y="3675887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9CFC45-F5E2-8385-4E32-7EF6A15AA063}"/>
              </a:ext>
            </a:extLst>
          </p:cNvPr>
          <p:cNvSpPr txBox="1"/>
          <p:nvPr/>
        </p:nvSpPr>
        <p:spPr>
          <a:xfrm>
            <a:off x="8967215" y="3675887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Calculate shopping total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450EDF-555C-6C41-0EB3-42427318F001}"/>
              </a:ext>
            </a:extLst>
          </p:cNvPr>
          <p:cNvSpPr txBox="1"/>
          <p:nvPr/>
        </p:nvSpPr>
        <p:spPr>
          <a:xfrm>
            <a:off x="8711183" y="4069079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41E61A-F8F0-A05B-30E7-8A224C2C57EB}"/>
              </a:ext>
            </a:extLst>
          </p:cNvPr>
          <p:cNvSpPr txBox="1"/>
          <p:nvPr/>
        </p:nvSpPr>
        <p:spPr>
          <a:xfrm>
            <a:off x="8967215" y="406907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Find total sales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C3671C7-90F4-9CA2-A09C-95C2A9AD620E}"/>
              </a:ext>
            </a:extLst>
          </p:cNvPr>
          <p:cNvSpPr txBox="1"/>
          <p:nvPr/>
        </p:nvSpPr>
        <p:spPr>
          <a:xfrm>
            <a:off x="8711183" y="4462271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2CCF06-2EBF-F77C-E291-529797080E3A}"/>
              </a:ext>
            </a:extLst>
          </p:cNvPr>
          <p:cNvSpPr txBox="1"/>
          <p:nvPr/>
        </p:nvSpPr>
        <p:spPr>
          <a:xfrm>
            <a:off x="8967215" y="4462271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Calculate factorial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B145EA-233E-D564-2643-769CF55540D9}"/>
              </a:ext>
            </a:extLst>
          </p:cNvPr>
          <p:cNvSpPr txBox="1"/>
          <p:nvPr/>
        </p:nvSpPr>
        <p:spPr>
          <a:xfrm>
            <a:off x="8711183" y="4855463"/>
            <a:ext cx="182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7092BE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663454-8C11-14D8-B390-2D1975885767}"/>
              </a:ext>
            </a:extLst>
          </p:cNvPr>
          <p:cNvSpPr txBox="1"/>
          <p:nvPr/>
        </p:nvSpPr>
        <p:spPr>
          <a:xfrm>
            <a:off x="8967215" y="4855463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130" b="0">
                <a:solidFill>
                  <a:srgbClr val="5C697A"/>
                </a:solidFill>
                <a:latin typeface="Aptos"/>
              </a:defRPr>
            </a:pPr>
            <a:r>
              <a:t>Combine values into one result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D1B5163-1C58-3876-75BB-7363F2B23828}"/>
              </a:ext>
            </a:extLst>
          </p:cNvPr>
          <p:cNvSpPr/>
          <p:nvPr/>
        </p:nvSpPr>
        <p:spPr>
          <a:xfrm>
            <a:off x="1359408" y="5742432"/>
            <a:ext cx="10222992" cy="59436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1A1D34-5195-917F-55C3-F796807B9E93}"/>
              </a:ext>
            </a:extLst>
          </p:cNvPr>
          <p:cNvSpPr txBox="1"/>
          <p:nvPr/>
        </p:nvSpPr>
        <p:spPr>
          <a:xfrm>
            <a:off x="1569720" y="5897880"/>
            <a:ext cx="9784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2D415A"/>
                </a:solidFill>
                <a:latin typeface="Consolas"/>
              </a:defRPr>
            </a:pPr>
            <a:r>
              <a:t>map() → Transform     |     filter() → Select     |     reduce() → Combine</a:t>
            </a:r>
          </a:p>
        </p:txBody>
      </p:sp>
    </p:spTree>
    <p:extLst>
      <p:ext uri="{BB962C8B-B14F-4D97-AF65-F5344CB8AC3E}">
        <p14:creationId xmlns:p14="http://schemas.microsoft.com/office/powerpoint/2010/main" val="312989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DBF46-BBB7-751E-8AF7-16E64FEDCEC3}"/>
              </a:ext>
            </a:extLst>
          </p:cNvPr>
          <p:cNvSpPr/>
          <p:nvPr/>
        </p:nvSpPr>
        <p:spPr>
          <a:xfrm>
            <a:off x="623316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4FAF5-C1A1-7A9B-BAF2-73D82B0D7C1C}"/>
              </a:ext>
            </a:extLst>
          </p:cNvPr>
          <p:cNvSpPr txBox="1"/>
          <p:nvPr/>
        </p:nvSpPr>
        <p:spPr>
          <a:xfrm>
            <a:off x="1354836" y="594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677487"/>
                </a:solidFill>
                <a:latin typeface="Aptos"/>
              </a:defRPr>
            </a:pPr>
            <a:r>
              <a:t>PYTHON • PRE-ASSESSMENT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D33B7-9294-8045-8D77-4C02E08D4DDC}"/>
              </a:ext>
            </a:extLst>
          </p:cNvPr>
          <p:cNvSpPr txBox="1"/>
          <p:nvPr/>
        </p:nvSpPr>
        <p:spPr>
          <a:xfrm>
            <a:off x="1354836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000" b="1">
                <a:solidFill>
                  <a:srgbClr val="232D3C"/>
                </a:solidFill>
                <a:latin typeface="Aptos Display"/>
              </a:defRPr>
            </a:pPr>
            <a:r>
              <a:t>Before We Start —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119DB0-3CC8-2D60-72C4-10B7A900CD57}"/>
              </a:ext>
            </a:extLst>
          </p:cNvPr>
          <p:cNvSpPr txBox="1"/>
          <p:nvPr/>
        </p:nvSpPr>
        <p:spPr>
          <a:xfrm>
            <a:off x="1373124" y="153619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4C5B6F"/>
                </a:solidFill>
                <a:latin typeface="Aptos"/>
              </a:defRPr>
            </a:pPr>
            <a:r>
              <a:t>Choose the function you think is correct.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DC9FE6-5C44-C5F4-28F1-EF404098B65A}"/>
              </a:ext>
            </a:extLst>
          </p:cNvPr>
          <p:cNvSpPr/>
          <p:nvPr/>
        </p:nvSpPr>
        <p:spPr>
          <a:xfrm>
            <a:off x="1373124" y="205740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DE1A5C-5831-1E5C-1C3C-5D79E3402ACC}"/>
              </a:ext>
            </a:extLst>
          </p:cNvPr>
          <p:cNvSpPr txBox="1"/>
          <p:nvPr/>
        </p:nvSpPr>
        <p:spPr>
          <a:xfrm>
            <a:off x="1644339" y="2194560"/>
            <a:ext cx="577792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1. You have student marks and want to add 5 marks to every student.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FBF56BC-6C3A-A01F-0959-2AB12F508010}"/>
              </a:ext>
            </a:extLst>
          </p:cNvPr>
          <p:cNvSpPr/>
          <p:nvPr/>
        </p:nvSpPr>
        <p:spPr>
          <a:xfrm>
            <a:off x="1373124" y="288036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C76C90-464F-5674-F9D8-881762F89CFE}"/>
              </a:ext>
            </a:extLst>
          </p:cNvPr>
          <p:cNvSpPr txBox="1"/>
          <p:nvPr/>
        </p:nvSpPr>
        <p:spPr>
          <a:xfrm>
            <a:off x="1610868" y="3017520"/>
            <a:ext cx="568707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2. You have product prices and want to increase every price by 10%.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C3212C1-F9C4-E77D-773E-75BCE6248C5C}"/>
              </a:ext>
            </a:extLst>
          </p:cNvPr>
          <p:cNvSpPr/>
          <p:nvPr/>
        </p:nvSpPr>
        <p:spPr>
          <a:xfrm>
            <a:off x="1373124" y="370332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661D52-39BC-2D9E-B26D-BBA2A36CF44A}"/>
              </a:ext>
            </a:extLst>
          </p:cNvPr>
          <p:cNvSpPr txBox="1"/>
          <p:nvPr/>
        </p:nvSpPr>
        <p:spPr>
          <a:xfrm>
            <a:off x="1610868" y="3840480"/>
            <a:ext cx="58113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3. You have a list of numbers and want to find only the even numbers.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92C4020-022C-0994-7872-E311E4730644}"/>
              </a:ext>
            </a:extLst>
          </p:cNvPr>
          <p:cNvSpPr/>
          <p:nvPr/>
        </p:nvSpPr>
        <p:spPr>
          <a:xfrm>
            <a:off x="1373124" y="452628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6382AB-C05C-9B53-6043-1FFF93495FD7}"/>
              </a:ext>
            </a:extLst>
          </p:cNvPr>
          <p:cNvSpPr txBox="1"/>
          <p:nvPr/>
        </p:nvSpPr>
        <p:spPr>
          <a:xfrm>
            <a:off x="1610868" y="4663440"/>
            <a:ext cx="62249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4. You have employee ages and want to select only employees above 18.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D69A118-C7CE-5257-FCB8-876658D3E21E}"/>
              </a:ext>
            </a:extLst>
          </p:cNvPr>
          <p:cNvSpPr/>
          <p:nvPr/>
        </p:nvSpPr>
        <p:spPr>
          <a:xfrm>
            <a:off x="1373124" y="534924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72148E-007C-A5AC-3374-3D7A90DEE5EE}"/>
              </a:ext>
            </a:extLst>
          </p:cNvPr>
          <p:cNvSpPr txBox="1"/>
          <p:nvPr/>
        </p:nvSpPr>
        <p:spPr>
          <a:xfrm>
            <a:off x="1610868" y="5486400"/>
            <a:ext cx="50722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5. You have [10, 20, 30, 40] and want to calculate the total.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1AE628-716D-A281-BE09-69E55499B421}"/>
              </a:ext>
            </a:extLst>
          </p:cNvPr>
          <p:cNvSpPr txBox="1"/>
          <p:nvPr/>
        </p:nvSpPr>
        <p:spPr>
          <a:xfrm>
            <a:off x="1373124" y="61996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828D9C"/>
                </a:solidFill>
                <a:latin typeface="Aptos"/>
              </a:defRPr>
            </a:pPr>
            <a:r>
              <a:t>No answers shown — we'll revisit after the session.</a:t>
            </a:r>
          </a:p>
        </p:txBody>
      </p:sp>
    </p:spTree>
    <p:extLst>
      <p:ext uri="{BB962C8B-B14F-4D97-AF65-F5344CB8AC3E}">
        <p14:creationId xmlns:p14="http://schemas.microsoft.com/office/powerpoint/2010/main" val="1317835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4165F4-940B-D2E2-F062-9E171B99E294}"/>
              </a:ext>
            </a:extLst>
          </p:cNvPr>
          <p:cNvSpPr/>
          <p:nvPr/>
        </p:nvSpPr>
        <p:spPr>
          <a:xfrm>
            <a:off x="623316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6EA8D0-8E66-D76B-40EF-E96E9B8BA5A9}"/>
              </a:ext>
            </a:extLst>
          </p:cNvPr>
          <p:cNvSpPr txBox="1"/>
          <p:nvPr/>
        </p:nvSpPr>
        <p:spPr>
          <a:xfrm>
            <a:off x="1354836" y="59436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300" b="1">
                <a:solidFill>
                  <a:srgbClr val="677487"/>
                </a:solidFill>
                <a:latin typeface="Aptos"/>
              </a:defRPr>
            </a:pPr>
            <a:r>
              <a:t>PYTHON • PRE-ASSESSMENT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0D718-C39C-2B98-6009-0193C7FD8E8D}"/>
              </a:ext>
            </a:extLst>
          </p:cNvPr>
          <p:cNvSpPr txBox="1"/>
          <p:nvPr/>
        </p:nvSpPr>
        <p:spPr>
          <a:xfrm>
            <a:off x="1354836" y="960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000" b="1">
                <a:solidFill>
                  <a:srgbClr val="232D3C"/>
                </a:solidFill>
                <a:latin typeface="Aptos Display"/>
              </a:defRPr>
            </a:pPr>
            <a:r>
              <a:t>Before We Start —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4E55E-5BC6-EA2D-C095-412CFCAF94F8}"/>
              </a:ext>
            </a:extLst>
          </p:cNvPr>
          <p:cNvSpPr txBox="1"/>
          <p:nvPr/>
        </p:nvSpPr>
        <p:spPr>
          <a:xfrm>
            <a:off x="1373124" y="153619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4C5B6F"/>
                </a:solidFill>
                <a:latin typeface="Aptos"/>
              </a:defRPr>
            </a:pPr>
            <a:r>
              <a:t>Choose the function you think is correct.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47FAAA-2D44-ECF2-3A8A-B7888EC77748}"/>
              </a:ext>
            </a:extLst>
          </p:cNvPr>
          <p:cNvSpPr/>
          <p:nvPr/>
        </p:nvSpPr>
        <p:spPr>
          <a:xfrm>
            <a:off x="1373124" y="205740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7A9F4-6688-DC3C-C920-EA41384CBD62}"/>
              </a:ext>
            </a:extLst>
          </p:cNvPr>
          <p:cNvSpPr txBox="1"/>
          <p:nvPr/>
        </p:nvSpPr>
        <p:spPr>
          <a:xfrm>
            <a:off x="1610868" y="2194560"/>
            <a:ext cx="62042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6. You have shopping prices [100, 200, 300] and want to find the final total. 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1A31F9F-5468-AAA8-499C-71CD47701216}"/>
              </a:ext>
            </a:extLst>
          </p:cNvPr>
          <p:cNvSpPr/>
          <p:nvPr/>
        </p:nvSpPr>
        <p:spPr>
          <a:xfrm>
            <a:off x="1373124" y="288036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287976-797D-8C20-2476-E540995A9C43}"/>
              </a:ext>
            </a:extLst>
          </p:cNvPr>
          <p:cNvSpPr txBox="1"/>
          <p:nvPr/>
        </p:nvSpPr>
        <p:spPr>
          <a:xfrm>
            <a:off x="1610868" y="3017520"/>
            <a:ext cx="67116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7. You have Celsius temperatures and want to convert every value to Fahrenheit.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53A956-DE4B-15B9-44FF-640F45914044}"/>
              </a:ext>
            </a:extLst>
          </p:cNvPr>
          <p:cNvSpPr/>
          <p:nvPr/>
        </p:nvSpPr>
        <p:spPr>
          <a:xfrm>
            <a:off x="1373124" y="370332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6727E-9E04-DB4A-D528-AFFD9AB1A7EA}"/>
              </a:ext>
            </a:extLst>
          </p:cNvPr>
          <p:cNvSpPr txBox="1"/>
          <p:nvPr/>
        </p:nvSpPr>
        <p:spPr>
          <a:xfrm>
            <a:off x="1610868" y="3840480"/>
            <a:ext cx="70262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8. You have student marks and want to select only students who scored 50 or above.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ABA280-028B-BEBB-54E4-2BFE35D2790C}"/>
              </a:ext>
            </a:extLst>
          </p:cNvPr>
          <p:cNvSpPr/>
          <p:nvPr/>
        </p:nvSpPr>
        <p:spPr>
          <a:xfrm>
            <a:off x="1373124" y="452628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52D63A-698B-F31F-E550-333ECBBAB64F}"/>
              </a:ext>
            </a:extLst>
          </p:cNvPr>
          <p:cNvSpPr txBox="1"/>
          <p:nvPr/>
        </p:nvSpPr>
        <p:spPr>
          <a:xfrm>
            <a:off x="1610868" y="4663440"/>
            <a:ext cx="54087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9. You have [2, 3, 4] and want to multiply all numbers together.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286AAA3-700B-9A35-6AF0-43266D379BCE}"/>
              </a:ext>
            </a:extLst>
          </p:cNvPr>
          <p:cNvSpPr/>
          <p:nvPr/>
        </p:nvSpPr>
        <p:spPr>
          <a:xfrm>
            <a:off x="1373124" y="5349240"/>
            <a:ext cx="101955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E449B1-E68C-C1A9-5EA7-7FD7496B0CA0}"/>
              </a:ext>
            </a:extLst>
          </p:cNvPr>
          <p:cNvSpPr txBox="1"/>
          <p:nvPr/>
        </p:nvSpPr>
        <p:spPr>
          <a:xfrm>
            <a:off x="1610868" y="5486400"/>
            <a:ext cx="623369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rPr dirty="0"/>
              <a:t>10. You have a list of names and want to convert every name to uppercase.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D359B2-8620-D24F-C8FD-597D6A9B7DF3}"/>
              </a:ext>
            </a:extLst>
          </p:cNvPr>
          <p:cNvSpPr txBox="1"/>
          <p:nvPr/>
        </p:nvSpPr>
        <p:spPr>
          <a:xfrm>
            <a:off x="1373124" y="6199632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828D9C"/>
                </a:solidFill>
                <a:latin typeface="Aptos"/>
              </a:defRPr>
            </a:pPr>
            <a:r>
              <a:t>No answers shown — we'll revisit after the session.</a:t>
            </a:r>
          </a:p>
        </p:txBody>
      </p:sp>
    </p:spTree>
    <p:extLst>
      <p:ext uri="{BB962C8B-B14F-4D97-AF65-F5344CB8AC3E}">
        <p14:creationId xmlns:p14="http://schemas.microsoft.com/office/powerpoint/2010/main" val="1533814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FCAC81-8419-823A-D025-C381C88B2BB1}"/>
              </a:ext>
            </a:extLst>
          </p:cNvPr>
          <p:cNvSpPr txBox="1"/>
          <p:nvPr/>
        </p:nvSpPr>
        <p:spPr>
          <a:xfrm>
            <a:off x="650748" y="525780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FUNCTION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2D583-A4F2-0633-6146-41841978A196}"/>
              </a:ext>
            </a:extLst>
          </p:cNvPr>
          <p:cNvSpPr txBox="1"/>
          <p:nvPr/>
        </p:nvSpPr>
        <p:spPr>
          <a:xfrm>
            <a:off x="650748" y="891540"/>
            <a:ext cx="8686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map() vs filter() vs reduce()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11D7B-2825-FEA9-DE91-6B841CA6D34B}"/>
              </a:ext>
            </a:extLst>
          </p:cNvPr>
          <p:cNvSpPr txBox="1"/>
          <p:nvPr/>
        </p:nvSpPr>
        <p:spPr>
          <a:xfrm>
            <a:off x="650748" y="1467612"/>
            <a:ext cx="10058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Choose the function based on what you want to do with your data.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FF59CA-BF74-DFE8-D404-A3DCE9628980}"/>
              </a:ext>
            </a:extLst>
          </p:cNvPr>
          <p:cNvSpPr/>
          <p:nvPr/>
        </p:nvSpPr>
        <p:spPr>
          <a:xfrm>
            <a:off x="650748" y="2153412"/>
            <a:ext cx="3429000" cy="3154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92A78D-DFAA-EA96-E5D2-48CDE3AB58D2}"/>
              </a:ext>
            </a:extLst>
          </p:cNvPr>
          <p:cNvSpPr txBox="1"/>
          <p:nvPr/>
        </p:nvSpPr>
        <p:spPr>
          <a:xfrm>
            <a:off x="879348" y="235458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>
                <a:solidFill>
                  <a:srgbClr val="3B82F6"/>
                </a:solidFill>
                <a:latin typeface="Aptos"/>
              </a:rPr>
              <a:t>map()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E6B840-8437-694A-123D-9A7A6AA5D630}"/>
              </a:ext>
            </a:extLst>
          </p:cNvPr>
          <p:cNvSpPr txBox="1"/>
          <p:nvPr/>
        </p:nvSpPr>
        <p:spPr>
          <a:xfrm>
            <a:off x="879348" y="2903220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Transform every item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CAE77-A950-5EB9-27C7-28B67F6B5FB8}"/>
              </a:ext>
            </a:extLst>
          </p:cNvPr>
          <p:cNvSpPr txBox="1"/>
          <p:nvPr/>
        </p:nvSpPr>
        <p:spPr>
          <a:xfrm>
            <a:off x="879348" y="3360420"/>
            <a:ext cx="2971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Change each value using
one common rule.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4125E1-EE25-69C9-7482-3AAEFE2E26E2}"/>
              </a:ext>
            </a:extLst>
          </p:cNvPr>
          <p:cNvSpPr/>
          <p:nvPr/>
        </p:nvSpPr>
        <p:spPr>
          <a:xfrm>
            <a:off x="879348" y="4210812"/>
            <a:ext cx="2971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1216FB-8B4B-1873-99E0-F776800F3F9B}"/>
              </a:ext>
            </a:extLst>
          </p:cNvPr>
          <p:cNvSpPr txBox="1"/>
          <p:nvPr/>
        </p:nvSpPr>
        <p:spPr>
          <a:xfrm>
            <a:off x="998220" y="4265676"/>
            <a:ext cx="273405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[1, 2, 3] → [2, 4, 6]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BBF057-BBBC-2895-7701-945BDD97CB95}"/>
              </a:ext>
            </a:extLst>
          </p:cNvPr>
          <p:cNvSpPr/>
          <p:nvPr/>
        </p:nvSpPr>
        <p:spPr>
          <a:xfrm>
            <a:off x="4381500" y="2153412"/>
            <a:ext cx="3429000" cy="31546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D327DC-A4B1-F0E5-9E90-501DD8E010CC}"/>
              </a:ext>
            </a:extLst>
          </p:cNvPr>
          <p:cNvSpPr txBox="1"/>
          <p:nvPr/>
        </p:nvSpPr>
        <p:spPr>
          <a:xfrm>
            <a:off x="4610100" y="235458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>
                <a:solidFill>
                  <a:srgbClr val="7C3AED"/>
                </a:solidFill>
                <a:latin typeface="Aptos"/>
              </a:rPr>
              <a:t>filter()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C85162-EABD-D646-12DB-0D8F1112C3A7}"/>
              </a:ext>
            </a:extLst>
          </p:cNvPr>
          <p:cNvSpPr txBox="1"/>
          <p:nvPr/>
        </p:nvSpPr>
        <p:spPr>
          <a:xfrm>
            <a:off x="4610100" y="2903220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Select some items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B21F3B-0752-F6D9-D081-4F2BD3C507E4}"/>
              </a:ext>
            </a:extLst>
          </p:cNvPr>
          <p:cNvSpPr txBox="1"/>
          <p:nvPr/>
        </p:nvSpPr>
        <p:spPr>
          <a:xfrm>
            <a:off x="4610100" y="3360420"/>
            <a:ext cx="2971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Keep only the values
that match a condition.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6DD4F2-E8BF-FE65-9D52-923B8445F077}"/>
              </a:ext>
            </a:extLst>
          </p:cNvPr>
          <p:cNvSpPr/>
          <p:nvPr/>
        </p:nvSpPr>
        <p:spPr>
          <a:xfrm>
            <a:off x="4610100" y="4210812"/>
            <a:ext cx="2971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FF7DF7-FFE6-5993-E84A-F5929A0AC945}"/>
              </a:ext>
            </a:extLst>
          </p:cNvPr>
          <p:cNvSpPr txBox="1"/>
          <p:nvPr/>
        </p:nvSpPr>
        <p:spPr>
          <a:xfrm>
            <a:off x="4728972" y="4265676"/>
            <a:ext cx="273405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[1, 2, 3, 4] → [2, 4]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56FFC6-A762-C388-C2DE-108516E14AFB}"/>
              </a:ext>
            </a:extLst>
          </p:cNvPr>
          <p:cNvSpPr/>
          <p:nvPr/>
        </p:nvSpPr>
        <p:spPr>
          <a:xfrm>
            <a:off x="8112251" y="2153412"/>
            <a:ext cx="3429000" cy="3154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4A5F10-7A35-760C-6AAA-7FCDAD1001C0}"/>
              </a:ext>
            </a:extLst>
          </p:cNvPr>
          <p:cNvSpPr txBox="1"/>
          <p:nvPr/>
        </p:nvSpPr>
        <p:spPr>
          <a:xfrm>
            <a:off x="8340851" y="235458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>
                <a:solidFill>
                  <a:srgbClr val="16A34A"/>
                </a:solidFill>
                <a:latin typeface="Aptos"/>
              </a:rPr>
              <a:t>reduce()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64767-FF21-04B0-0AE2-C47C63CA9558}"/>
              </a:ext>
            </a:extLst>
          </p:cNvPr>
          <p:cNvSpPr txBox="1"/>
          <p:nvPr/>
        </p:nvSpPr>
        <p:spPr>
          <a:xfrm>
            <a:off x="8340851" y="2903220"/>
            <a:ext cx="2971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Combine into 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5B43A3-88C7-2516-A2E4-790B36C25D8C}"/>
              </a:ext>
            </a:extLst>
          </p:cNvPr>
          <p:cNvSpPr txBox="1"/>
          <p:nvPr/>
        </p:nvSpPr>
        <p:spPr>
          <a:xfrm>
            <a:off x="8340851" y="3360420"/>
            <a:ext cx="29718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Turn many values into
one final result.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8BCBFA-B12A-A90C-2960-FC90C7335841}"/>
              </a:ext>
            </a:extLst>
          </p:cNvPr>
          <p:cNvSpPr/>
          <p:nvPr/>
        </p:nvSpPr>
        <p:spPr>
          <a:xfrm>
            <a:off x="8340851" y="4210812"/>
            <a:ext cx="297180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7B0A18-783F-31A4-0580-E2F40C371F3D}"/>
              </a:ext>
            </a:extLst>
          </p:cNvPr>
          <p:cNvSpPr txBox="1"/>
          <p:nvPr/>
        </p:nvSpPr>
        <p:spPr>
          <a:xfrm>
            <a:off x="8459724" y="4265676"/>
            <a:ext cx="273405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[1, 2, 3, 4] → 10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82F0CC5-F602-A760-A46C-20977BACA9F3}"/>
              </a:ext>
            </a:extLst>
          </p:cNvPr>
          <p:cNvSpPr/>
          <p:nvPr/>
        </p:nvSpPr>
        <p:spPr>
          <a:xfrm>
            <a:off x="650748" y="5582412"/>
            <a:ext cx="10881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ACD588-DC90-B28A-81F3-9C415555835C}"/>
              </a:ext>
            </a:extLst>
          </p:cNvPr>
          <p:cNvSpPr txBox="1"/>
          <p:nvPr/>
        </p:nvSpPr>
        <p:spPr>
          <a:xfrm>
            <a:off x="879348" y="5673852"/>
            <a:ext cx="13258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QUICK GUIDE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971EDCB-C064-234B-A4E6-69442A59E449}"/>
              </a:ext>
            </a:extLst>
          </p:cNvPr>
          <p:cNvSpPr txBox="1"/>
          <p:nvPr/>
        </p:nvSpPr>
        <p:spPr>
          <a:xfrm>
            <a:off x="2250948" y="5646420"/>
            <a:ext cx="2788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Change all → map()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0584C-B0CD-9FFB-0DDC-55411EC2A942}"/>
              </a:ext>
            </a:extLst>
          </p:cNvPr>
          <p:cNvSpPr txBox="1"/>
          <p:nvPr/>
        </p:nvSpPr>
        <p:spPr>
          <a:xfrm>
            <a:off x="5085588" y="5646420"/>
            <a:ext cx="2880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Select some → filter()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3A899-5B77-B825-B717-3C7F44ADFB17}"/>
              </a:ext>
            </a:extLst>
          </p:cNvPr>
          <p:cNvSpPr txBox="1"/>
          <p:nvPr/>
        </p:nvSpPr>
        <p:spPr>
          <a:xfrm>
            <a:off x="8011668" y="5646420"/>
            <a:ext cx="31546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1F2937"/>
                </a:solidFill>
                <a:latin typeface="Aptos"/>
              </a:rPr>
              <a:t>Combine → reduce()</a:t>
            </a:r>
          </a:p>
        </p:txBody>
      </p:sp>
    </p:spTree>
    <p:extLst>
      <p:ext uri="{BB962C8B-B14F-4D97-AF65-F5344CB8AC3E}">
        <p14:creationId xmlns:p14="http://schemas.microsoft.com/office/powerpoint/2010/main" val="78328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EE9E8E84-C4F2-4616-1BA6-034E071C5090}"/>
              </a:ext>
            </a:extLst>
          </p:cNvPr>
          <p:cNvSpPr/>
          <p:nvPr/>
        </p:nvSpPr>
        <p:spPr>
          <a:xfrm>
            <a:off x="10805160" y="-548640"/>
            <a:ext cx="1920240" cy="1920240"/>
          </a:xfrm>
          <a:prstGeom prst="ellipse">
            <a:avLst/>
          </a:prstGeom>
          <a:solidFill>
            <a:srgbClr val="E4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5DDA46-BA43-8298-1ECB-CE2FC1CD5394}"/>
              </a:ext>
            </a:extLst>
          </p:cNvPr>
          <p:cNvSpPr/>
          <p:nvPr/>
        </p:nvSpPr>
        <p:spPr>
          <a:xfrm>
            <a:off x="-533400" y="5669280"/>
            <a:ext cx="1737360" cy="1737360"/>
          </a:xfrm>
          <a:prstGeom prst="ellipse">
            <a:avLst/>
          </a:prstGeom>
          <a:solidFill>
            <a:srgbClr val="F0E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E75061-C96E-99AE-CE35-068B92D16D07}"/>
              </a:ext>
            </a:extLst>
          </p:cNvPr>
          <p:cNvSpPr/>
          <p:nvPr/>
        </p:nvSpPr>
        <p:spPr>
          <a:xfrm>
            <a:off x="810768" y="457200"/>
            <a:ext cx="1627632" cy="365760"/>
          </a:xfrm>
          <a:prstGeom prst="roundRect">
            <a:avLst/>
          </a:prstGeom>
          <a:solidFill>
            <a:srgbClr val="E4F0FD"/>
          </a:solidFill>
          <a:ln>
            <a:solidFill>
              <a:srgbClr val="E4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D0814-7BD5-7C93-DC7A-D779BA3042E6}"/>
              </a:ext>
            </a:extLst>
          </p:cNvPr>
          <p:cNvSpPr txBox="1"/>
          <p:nvPr/>
        </p:nvSpPr>
        <p:spPr>
          <a:xfrm>
            <a:off x="938784" y="502920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19" b="1">
                <a:solidFill>
                  <a:srgbClr val="1C2B46"/>
                </a:solidFill>
                <a:latin typeface="Aptos"/>
              </a:rPr>
              <a:t>UNDERSTANDING MAP()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4F52FF-428F-0C72-B65C-0A1767F8C397}"/>
              </a:ext>
            </a:extLst>
          </p:cNvPr>
          <p:cNvSpPr txBox="1"/>
          <p:nvPr/>
        </p:nvSpPr>
        <p:spPr>
          <a:xfrm>
            <a:off x="810768" y="1033272"/>
            <a:ext cx="502920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C2B46"/>
                </a:solidFill>
                <a:latin typeface="Aptos"/>
              </a:rPr>
              <a:t>What is map()?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EA2C7-D298-6493-EF73-88F12A784701}"/>
              </a:ext>
            </a:extLst>
          </p:cNvPr>
          <p:cNvSpPr txBox="1"/>
          <p:nvPr/>
        </p:nvSpPr>
        <p:spPr>
          <a:xfrm>
            <a:off x="838200" y="1618488"/>
            <a:ext cx="6400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50" b="0">
                <a:solidFill>
                  <a:srgbClr val="5B6778"/>
                </a:solidFill>
                <a:latin typeface="Aptos"/>
              </a:rPr>
              <a:t>A simple way to transform every item in a collection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9D119B-8433-FECC-1CC2-6162C800FD87}"/>
              </a:ext>
            </a:extLst>
          </p:cNvPr>
          <p:cNvSpPr/>
          <p:nvPr/>
        </p:nvSpPr>
        <p:spPr>
          <a:xfrm>
            <a:off x="838200" y="2194560"/>
            <a:ext cx="5166360" cy="1874519"/>
          </a:xfrm>
          <a:prstGeom prst="roundRect">
            <a:avLst/>
          </a:prstGeom>
          <a:solidFill>
            <a:srgbClr val="F7F9FC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4CDB68-8CEF-739D-DB00-D6836FFFF2D8}"/>
              </a:ext>
            </a:extLst>
          </p:cNvPr>
          <p:cNvSpPr txBox="1"/>
          <p:nvPr/>
        </p:nvSpPr>
        <p:spPr>
          <a:xfrm>
            <a:off x="1094232" y="2441448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8474DC"/>
                </a:solidFill>
                <a:latin typeface="Aptos"/>
              </a:rPr>
              <a:t>Simple definition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4A6E8-5019-B4C8-0E94-E632403C0C17}"/>
              </a:ext>
            </a:extLst>
          </p:cNvPr>
          <p:cNvSpPr txBox="1"/>
          <p:nvPr/>
        </p:nvSpPr>
        <p:spPr>
          <a:xfrm>
            <a:off x="1094232" y="2862072"/>
            <a:ext cx="443484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1">
                <a:solidFill>
                  <a:srgbClr val="1C2B46"/>
                </a:solidFill>
                <a:latin typeface="Aptos"/>
              </a:rPr>
              <a:t>map() applies the same function
to each item, one by one.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2B5046-5B8A-DFD0-5B7C-58FF4E1E8D5B}"/>
              </a:ext>
            </a:extLst>
          </p:cNvPr>
          <p:cNvSpPr txBox="1"/>
          <p:nvPr/>
        </p:nvSpPr>
        <p:spPr>
          <a:xfrm>
            <a:off x="1094232" y="3630167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>
                <a:solidFill>
                  <a:srgbClr val="5B6778"/>
                </a:solidFill>
                <a:latin typeface="Aptos"/>
              </a:rPr>
              <a:t>It creates a new result from the original values.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298DDA0-3A46-A58A-5080-866E874BA41D}"/>
              </a:ext>
            </a:extLst>
          </p:cNvPr>
          <p:cNvSpPr/>
          <p:nvPr/>
        </p:nvSpPr>
        <p:spPr>
          <a:xfrm>
            <a:off x="6233160" y="2194560"/>
            <a:ext cx="5394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CD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6A2B4-2159-4513-2720-6111A831E8FD}"/>
              </a:ext>
            </a:extLst>
          </p:cNvPr>
          <p:cNvSpPr txBox="1"/>
          <p:nvPr/>
        </p:nvSpPr>
        <p:spPr>
          <a:xfrm>
            <a:off x="6507480" y="2441448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64A4E1"/>
                </a:solidFill>
                <a:latin typeface="Aptos"/>
              </a:rPr>
              <a:t>Real-life example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E8B26-A6AE-72B6-7191-CB0DD32AB547}"/>
              </a:ext>
            </a:extLst>
          </p:cNvPr>
          <p:cNvSpPr txBox="1"/>
          <p:nvPr/>
        </p:nvSpPr>
        <p:spPr>
          <a:xfrm>
            <a:off x="6507480" y="2862072"/>
            <a:ext cx="452628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1C2B46"/>
                </a:solidFill>
                <a:latin typeface="Aptos"/>
              </a:rPr>
              <a:t>Teacher gives +5 bonus marks
to every student.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614A7D0-2C90-7D69-F3F5-B33E52362138}"/>
              </a:ext>
            </a:extLst>
          </p:cNvPr>
          <p:cNvSpPr/>
          <p:nvPr/>
        </p:nvSpPr>
        <p:spPr>
          <a:xfrm>
            <a:off x="6507480" y="4370832"/>
            <a:ext cx="1170432" cy="841248"/>
          </a:xfrm>
          <a:prstGeom prst="roundRect">
            <a:avLst/>
          </a:prstGeom>
          <a:solidFill>
            <a:srgbClr val="E4F0FD"/>
          </a:solidFill>
          <a:ln>
            <a:solidFill>
              <a:srgbClr val="E4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EA5641-7A30-4690-9349-FB39A7307486}"/>
              </a:ext>
            </a:extLst>
          </p:cNvPr>
          <p:cNvSpPr txBox="1"/>
          <p:nvPr/>
        </p:nvSpPr>
        <p:spPr>
          <a:xfrm>
            <a:off x="6507480" y="4462272"/>
            <a:ext cx="11704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C2B46"/>
                </a:solidFill>
                <a:latin typeface="Aptos"/>
              </a:rP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F8D19F-C699-9BCD-05D5-51A9F959E5D7}"/>
              </a:ext>
            </a:extLst>
          </p:cNvPr>
          <p:cNvSpPr txBox="1"/>
          <p:nvPr/>
        </p:nvSpPr>
        <p:spPr>
          <a:xfrm>
            <a:off x="6507480" y="4690872"/>
            <a:ext cx="117043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8474DC"/>
                </a:solidFill>
                <a:latin typeface="Aptos"/>
              </a:rPr>
              <a:t>→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D16586-7B4E-4C21-2BB9-6B92FF151182}"/>
              </a:ext>
            </a:extLst>
          </p:cNvPr>
          <p:cNvSpPr txBox="1"/>
          <p:nvPr/>
        </p:nvSpPr>
        <p:spPr>
          <a:xfrm>
            <a:off x="6507480" y="4882896"/>
            <a:ext cx="11704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C2B46"/>
                </a:solidFill>
                <a:latin typeface="Aptos"/>
              </a:rPr>
              <a:t>15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ED71BF1-6F5D-D106-0007-A453124A55F7}"/>
              </a:ext>
            </a:extLst>
          </p:cNvPr>
          <p:cNvSpPr/>
          <p:nvPr/>
        </p:nvSpPr>
        <p:spPr>
          <a:xfrm>
            <a:off x="8016240" y="4370832"/>
            <a:ext cx="1170432" cy="841248"/>
          </a:xfrm>
          <a:prstGeom prst="roundRect">
            <a:avLst/>
          </a:prstGeom>
          <a:solidFill>
            <a:srgbClr val="F0ECFD"/>
          </a:solidFill>
          <a:ln>
            <a:solidFill>
              <a:srgbClr val="F0E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284E72-8824-369E-5903-8B955304ADC8}"/>
              </a:ext>
            </a:extLst>
          </p:cNvPr>
          <p:cNvSpPr txBox="1"/>
          <p:nvPr/>
        </p:nvSpPr>
        <p:spPr>
          <a:xfrm>
            <a:off x="8016240" y="4462272"/>
            <a:ext cx="11704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C2B46"/>
                </a:solidFill>
                <a:latin typeface="Aptos"/>
              </a:rPr>
              <a:t>20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6474D-A89D-EC1A-D13D-84F769154672}"/>
              </a:ext>
            </a:extLst>
          </p:cNvPr>
          <p:cNvSpPr txBox="1"/>
          <p:nvPr/>
        </p:nvSpPr>
        <p:spPr>
          <a:xfrm>
            <a:off x="8016240" y="4690872"/>
            <a:ext cx="117043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8474DC"/>
                </a:solidFill>
                <a:latin typeface="Aptos"/>
              </a:rPr>
              <a:t>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9C735E-D6CF-2CA4-C2BF-25E7DE145BBA}"/>
              </a:ext>
            </a:extLst>
          </p:cNvPr>
          <p:cNvSpPr txBox="1"/>
          <p:nvPr/>
        </p:nvSpPr>
        <p:spPr>
          <a:xfrm>
            <a:off x="8016240" y="4882896"/>
            <a:ext cx="11704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C2B46"/>
                </a:solidFill>
                <a:latin typeface="Aptos"/>
              </a:rPr>
              <a:t>25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73D61BC-9E3A-28F4-F43C-689B10F3F396}"/>
              </a:ext>
            </a:extLst>
          </p:cNvPr>
          <p:cNvSpPr/>
          <p:nvPr/>
        </p:nvSpPr>
        <p:spPr>
          <a:xfrm>
            <a:off x="9525000" y="4370832"/>
            <a:ext cx="1170432" cy="841248"/>
          </a:xfrm>
          <a:prstGeom prst="roundRect">
            <a:avLst/>
          </a:prstGeom>
          <a:solidFill>
            <a:srgbClr val="E4F0FD"/>
          </a:solidFill>
          <a:ln>
            <a:solidFill>
              <a:srgbClr val="E4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B477C6-F91A-A2D0-A375-7422C17FF604}"/>
              </a:ext>
            </a:extLst>
          </p:cNvPr>
          <p:cNvSpPr txBox="1"/>
          <p:nvPr/>
        </p:nvSpPr>
        <p:spPr>
          <a:xfrm>
            <a:off x="9525000" y="4462272"/>
            <a:ext cx="11704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C2B46"/>
                </a:solidFill>
                <a:latin typeface="Aptos"/>
              </a:rPr>
              <a:t>30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398EE1-F05C-5DB0-8770-05CB00201D9C}"/>
              </a:ext>
            </a:extLst>
          </p:cNvPr>
          <p:cNvSpPr txBox="1"/>
          <p:nvPr/>
        </p:nvSpPr>
        <p:spPr>
          <a:xfrm>
            <a:off x="9525000" y="4690872"/>
            <a:ext cx="1170432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8474DC"/>
                </a:solidFill>
                <a:latin typeface="Aptos"/>
              </a:rPr>
              <a:t>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84E3EA-0C53-584A-9496-196846853109}"/>
              </a:ext>
            </a:extLst>
          </p:cNvPr>
          <p:cNvSpPr txBox="1"/>
          <p:nvPr/>
        </p:nvSpPr>
        <p:spPr>
          <a:xfrm>
            <a:off x="9525000" y="4882896"/>
            <a:ext cx="11704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C2B46"/>
                </a:solidFill>
                <a:latin typeface="Aptos"/>
              </a:rPr>
              <a:t>35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D1FEB0-6A7E-CAEC-5D6E-89F372A3EC5F}"/>
              </a:ext>
            </a:extLst>
          </p:cNvPr>
          <p:cNvSpPr txBox="1"/>
          <p:nvPr/>
        </p:nvSpPr>
        <p:spPr>
          <a:xfrm>
            <a:off x="838200" y="4416552"/>
            <a:ext cx="20116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C2B46"/>
                </a:solidFill>
                <a:latin typeface="Aptos"/>
              </a:rPr>
              <a:t>How map() thinks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02B2885-37FF-3858-F579-89D330930838}"/>
              </a:ext>
            </a:extLst>
          </p:cNvPr>
          <p:cNvSpPr/>
          <p:nvPr/>
        </p:nvSpPr>
        <p:spPr>
          <a:xfrm>
            <a:off x="838200" y="4892040"/>
            <a:ext cx="1965960" cy="640080"/>
          </a:xfrm>
          <a:prstGeom prst="roundRect">
            <a:avLst/>
          </a:prstGeom>
          <a:solidFill>
            <a:srgbClr val="E4F0FD"/>
          </a:solidFill>
          <a:ln>
            <a:solidFill>
              <a:srgbClr val="E4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EF1FB9-369E-9743-FFA2-46AFE881CFCF}"/>
              </a:ext>
            </a:extLst>
          </p:cNvPr>
          <p:cNvSpPr txBox="1"/>
          <p:nvPr/>
        </p:nvSpPr>
        <p:spPr>
          <a:xfrm>
            <a:off x="957072" y="5056632"/>
            <a:ext cx="17282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1C2B46"/>
                </a:solidFill>
                <a:latin typeface="Aptos"/>
              </a:rPr>
              <a:t>[1, 2, 3, 4]</a:t>
            </a:r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E04AF739-8832-C12B-2A34-D234FF9B61E9}"/>
              </a:ext>
            </a:extLst>
          </p:cNvPr>
          <p:cNvSpPr/>
          <p:nvPr/>
        </p:nvSpPr>
        <p:spPr>
          <a:xfrm>
            <a:off x="2941320" y="5047488"/>
            <a:ext cx="713232" cy="292608"/>
          </a:xfrm>
          <a:prstGeom prst="rightArrow">
            <a:avLst/>
          </a:prstGeom>
          <a:solidFill>
            <a:srgbClr val="64A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C5BA9BF-8938-7351-0294-F31B3E1632A6}"/>
              </a:ext>
            </a:extLst>
          </p:cNvPr>
          <p:cNvSpPr txBox="1"/>
          <p:nvPr/>
        </p:nvSpPr>
        <p:spPr>
          <a:xfrm>
            <a:off x="2968752" y="469087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50" b="1">
                <a:solidFill>
                  <a:srgbClr val="8474DC"/>
                </a:solidFill>
                <a:latin typeface="Aptos"/>
              </a:rPr>
              <a:t>× 2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DDBEE82-9489-F2FF-7335-9D3A751BEEFC}"/>
              </a:ext>
            </a:extLst>
          </p:cNvPr>
          <p:cNvSpPr/>
          <p:nvPr/>
        </p:nvSpPr>
        <p:spPr>
          <a:xfrm>
            <a:off x="3855720" y="4892040"/>
            <a:ext cx="1965960" cy="640080"/>
          </a:xfrm>
          <a:prstGeom prst="roundRect">
            <a:avLst/>
          </a:prstGeom>
          <a:solidFill>
            <a:srgbClr val="F0ECFD"/>
          </a:solidFill>
          <a:ln>
            <a:solidFill>
              <a:srgbClr val="F0E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7DC0AF-07BD-D144-C004-ABB86861EFDE}"/>
              </a:ext>
            </a:extLst>
          </p:cNvPr>
          <p:cNvSpPr txBox="1"/>
          <p:nvPr/>
        </p:nvSpPr>
        <p:spPr>
          <a:xfrm>
            <a:off x="3974591" y="5056632"/>
            <a:ext cx="1728216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1C2B46"/>
                </a:solidFill>
                <a:latin typeface="Aptos"/>
              </a:rPr>
              <a:t>[2, 4, 6, 8]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E67586C-7CF1-38F2-E6D8-3C6F8795FE5D}"/>
              </a:ext>
            </a:extLst>
          </p:cNvPr>
          <p:cNvSpPr/>
          <p:nvPr/>
        </p:nvSpPr>
        <p:spPr>
          <a:xfrm>
            <a:off x="6233160" y="5550408"/>
            <a:ext cx="5394960" cy="621792"/>
          </a:xfrm>
          <a:prstGeom prst="roundRect">
            <a:avLst/>
          </a:prstGeom>
          <a:solidFill>
            <a:srgbClr val="F0ECFD"/>
          </a:solidFill>
          <a:ln>
            <a:solidFill>
              <a:srgbClr val="F0EC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7A1DF5-C0BF-2D9D-C587-04F6D6BE3D0F}"/>
              </a:ext>
            </a:extLst>
          </p:cNvPr>
          <p:cNvSpPr txBox="1"/>
          <p:nvPr/>
        </p:nvSpPr>
        <p:spPr>
          <a:xfrm>
            <a:off x="6480048" y="5696712"/>
            <a:ext cx="914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19" b="1">
                <a:solidFill>
                  <a:srgbClr val="8474DC"/>
                </a:solidFill>
                <a:latin typeface="Aptos"/>
              </a:rPr>
              <a:t>TAKEAWAY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DFF896-56E2-9497-05EA-5ABD89B3C543}"/>
              </a:ext>
            </a:extLst>
          </p:cNvPr>
          <p:cNvSpPr txBox="1"/>
          <p:nvPr/>
        </p:nvSpPr>
        <p:spPr>
          <a:xfrm>
            <a:off x="7495031" y="5650992"/>
            <a:ext cx="347472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C2B46"/>
                </a:solidFill>
                <a:latin typeface="Aptos"/>
              </a:rPr>
              <a:t>Same function → every item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1EF409-49CE-183D-B47C-32F0A6B8B973}"/>
              </a:ext>
            </a:extLst>
          </p:cNvPr>
          <p:cNvSpPr txBox="1"/>
          <p:nvPr/>
        </p:nvSpPr>
        <p:spPr>
          <a:xfrm>
            <a:off x="838200" y="6400800"/>
            <a:ext cx="23774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>
                <a:solidFill>
                  <a:srgbClr val="5B6778"/>
                </a:solidFill>
                <a:latin typeface="Aptos"/>
              </a:rPr>
              <a:t>Python map() Function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2AEE7B-F326-3272-2E6D-6B937533C402}"/>
              </a:ext>
            </a:extLst>
          </p:cNvPr>
          <p:cNvSpPr txBox="1"/>
          <p:nvPr/>
        </p:nvSpPr>
        <p:spPr>
          <a:xfrm>
            <a:off x="11216640" y="640080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sz="850" b="0">
                <a:solidFill>
                  <a:srgbClr val="5B6778"/>
                </a:solidFill>
                <a:latin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1474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252ABC-EF74-58EA-DF78-504FCC9973B8}"/>
              </a:ext>
            </a:extLst>
          </p:cNvPr>
          <p:cNvSpPr txBox="1"/>
          <p:nvPr/>
        </p:nvSpPr>
        <p:spPr>
          <a:xfrm>
            <a:off x="655320" y="466344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MAP()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1DC794-F29D-6002-6018-64042E316B28}"/>
              </a:ext>
            </a:extLst>
          </p:cNvPr>
          <p:cNvSpPr txBox="1"/>
          <p:nvPr/>
        </p:nvSpPr>
        <p:spPr>
          <a:xfrm>
            <a:off x="655320" y="853958"/>
            <a:ext cx="2302618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 dirty="0">
                <a:solidFill>
                  <a:srgbClr val="1F2937"/>
                </a:solidFill>
                <a:latin typeface="Aptos"/>
              </a:rPr>
              <a:t>map() </a:t>
            </a:r>
            <a:r>
              <a:rPr lang="en-IN" sz="2800" b="1" dirty="0">
                <a:solidFill>
                  <a:srgbClr val="1F2937"/>
                </a:solidFill>
                <a:latin typeface="Aptos"/>
              </a:rPr>
              <a:t>Syntax</a:t>
            </a:r>
            <a:endParaRPr sz="2800" b="1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2F731-D2DA-D299-D93C-C173824E6148}"/>
              </a:ext>
            </a:extLst>
          </p:cNvPr>
          <p:cNvSpPr txBox="1"/>
          <p:nvPr/>
        </p:nvSpPr>
        <p:spPr>
          <a:xfrm>
            <a:off x="655320" y="1417320"/>
            <a:ext cx="8686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Understand the syntax and the role of each part.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133E53F-A9A5-1858-C5D4-433B8362F8ED}"/>
              </a:ext>
            </a:extLst>
          </p:cNvPr>
          <p:cNvSpPr/>
          <p:nvPr/>
        </p:nvSpPr>
        <p:spPr>
          <a:xfrm>
            <a:off x="655320" y="1947672"/>
            <a:ext cx="5212080" cy="1325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E58E0-22AC-AA9E-105D-FA77F9A89EF0}"/>
              </a:ext>
            </a:extLst>
          </p:cNvPr>
          <p:cNvSpPr txBox="1"/>
          <p:nvPr/>
        </p:nvSpPr>
        <p:spPr>
          <a:xfrm>
            <a:off x="911352" y="2112264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BASIC SYNTAX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6698F-2BC7-CD92-057B-ADF56FDF9091}"/>
              </a:ext>
            </a:extLst>
          </p:cNvPr>
          <p:cNvSpPr txBox="1"/>
          <p:nvPr/>
        </p:nvSpPr>
        <p:spPr>
          <a:xfrm>
            <a:off x="911352" y="2478024"/>
            <a:ext cx="4572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1">
                <a:solidFill>
                  <a:srgbClr val="1F2937"/>
                </a:solidFill>
                <a:latin typeface="Consolas"/>
              </a:rPr>
              <a:t>map(function, iterable)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57B341-5989-D8D8-E98E-EDEEF3D2D742}"/>
              </a:ext>
            </a:extLst>
          </p:cNvPr>
          <p:cNvSpPr/>
          <p:nvPr/>
        </p:nvSpPr>
        <p:spPr>
          <a:xfrm>
            <a:off x="6096000" y="1947672"/>
            <a:ext cx="5440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6B7A0-4C0E-39FB-AD04-76143B0AE4A7}"/>
              </a:ext>
            </a:extLst>
          </p:cNvPr>
          <p:cNvSpPr txBox="1"/>
          <p:nvPr/>
        </p:nvSpPr>
        <p:spPr>
          <a:xfrm>
            <a:off x="6342888" y="2103120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EXPLAIN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0D91B6-C1FE-6F83-6FB7-7C0A65050DDD}"/>
              </a:ext>
            </a:extLst>
          </p:cNvPr>
          <p:cNvSpPr txBox="1"/>
          <p:nvPr/>
        </p:nvSpPr>
        <p:spPr>
          <a:xfrm>
            <a:off x="6342888" y="2441448"/>
            <a:ext cx="480060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Consolas"/>
              </a:rPr>
              <a:t>function  →  What operation?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508A2C-75AA-DCE3-6030-B4379584E133}"/>
              </a:ext>
            </a:extLst>
          </p:cNvPr>
          <p:cNvSpPr txBox="1"/>
          <p:nvPr/>
        </p:nvSpPr>
        <p:spPr>
          <a:xfrm>
            <a:off x="6342888" y="2798064"/>
            <a:ext cx="480060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Consolas"/>
              </a:rPr>
              <a:t>iterable  →  On which values?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31FB9C-867A-A3F6-F03E-AD509CF77ED4}"/>
              </a:ext>
            </a:extLst>
          </p:cNvPr>
          <p:cNvSpPr/>
          <p:nvPr/>
        </p:nvSpPr>
        <p:spPr>
          <a:xfrm>
            <a:off x="655320" y="3547872"/>
            <a:ext cx="10881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A03422-86DF-9668-E25E-5FAA59CAF0F6}"/>
              </a:ext>
            </a:extLst>
          </p:cNvPr>
          <p:cNvSpPr txBox="1"/>
          <p:nvPr/>
        </p:nvSpPr>
        <p:spPr>
          <a:xfrm>
            <a:off x="911352" y="3712464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EXAMPLE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EA6D375-A1BA-694E-746B-448801737C16}"/>
              </a:ext>
            </a:extLst>
          </p:cNvPr>
          <p:cNvSpPr/>
          <p:nvPr/>
        </p:nvSpPr>
        <p:spPr>
          <a:xfrm>
            <a:off x="911352" y="4096511"/>
            <a:ext cx="4709160" cy="11704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9526A8-29BA-36F2-4FDC-1DE5ADA041A6}"/>
              </a:ext>
            </a:extLst>
          </p:cNvPr>
          <p:cNvSpPr txBox="1"/>
          <p:nvPr/>
        </p:nvSpPr>
        <p:spPr>
          <a:xfrm>
            <a:off x="1094232" y="4215384"/>
            <a:ext cx="43434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numbers = [1, 2, 3, 4]
result = map(double, numbers)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ADC59-40BB-5EDF-BF44-522CF1663605}"/>
              </a:ext>
            </a:extLst>
          </p:cNvPr>
          <p:cNvSpPr txBox="1"/>
          <p:nvPr/>
        </p:nvSpPr>
        <p:spPr>
          <a:xfrm>
            <a:off x="5849112" y="438912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8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984F5A5-4AB3-1527-31AC-2B17F53D16ED}"/>
              </a:ext>
            </a:extLst>
          </p:cNvPr>
          <p:cNvSpPr/>
          <p:nvPr/>
        </p:nvSpPr>
        <p:spPr>
          <a:xfrm>
            <a:off x="6553200" y="4069080"/>
            <a:ext cx="1325880" cy="11887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C711D9-8314-91C8-5A1C-2F0911A1BFD9}"/>
              </a:ext>
            </a:extLst>
          </p:cNvPr>
          <p:cNvSpPr txBox="1"/>
          <p:nvPr/>
        </p:nvSpPr>
        <p:spPr>
          <a:xfrm>
            <a:off x="6644640" y="4215384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7C3AED"/>
                </a:solidFill>
                <a:latin typeface="Aptos"/>
              </a:rPr>
              <a:t>FUNCTION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3F6F7-B89A-B5A1-103A-22CF609FFC5C}"/>
              </a:ext>
            </a:extLst>
          </p:cNvPr>
          <p:cNvSpPr txBox="1"/>
          <p:nvPr/>
        </p:nvSpPr>
        <p:spPr>
          <a:xfrm>
            <a:off x="6644640" y="4581144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1F2937"/>
                </a:solidFill>
                <a:latin typeface="Consolas"/>
              </a:rPr>
              <a:t>double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2CEBB2-1434-20F0-A5C5-0360A0B54E7A}"/>
              </a:ext>
            </a:extLst>
          </p:cNvPr>
          <p:cNvSpPr txBox="1"/>
          <p:nvPr/>
        </p:nvSpPr>
        <p:spPr>
          <a:xfrm>
            <a:off x="7897367" y="439826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6B7280"/>
                </a:solidFill>
                <a:latin typeface="Aptos"/>
              </a:rPr>
              <a:t>+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B1CD64B-75A3-F47B-FFE1-83A04D917FE5}"/>
              </a:ext>
            </a:extLst>
          </p:cNvPr>
          <p:cNvSpPr/>
          <p:nvPr/>
        </p:nvSpPr>
        <p:spPr>
          <a:xfrm>
            <a:off x="8317992" y="4069080"/>
            <a:ext cx="1325880" cy="11887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8EA597-5B18-5631-D945-4C01094D405E}"/>
              </a:ext>
            </a:extLst>
          </p:cNvPr>
          <p:cNvSpPr txBox="1"/>
          <p:nvPr/>
        </p:nvSpPr>
        <p:spPr>
          <a:xfrm>
            <a:off x="8409432" y="4215384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16A34A"/>
                </a:solidFill>
                <a:latin typeface="Aptos"/>
              </a:rPr>
              <a:t>VALUES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F42C05-5077-24F4-36B7-9C7A4F715258}"/>
              </a:ext>
            </a:extLst>
          </p:cNvPr>
          <p:cNvSpPr txBox="1"/>
          <p:nvPr/>
        </p:nvSpPr>
        <p:spPr>
          <a:xfrm>
            <a:off x="8409432" y="4581144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F2937"/>
                </a:solidFill>
                <a:latin typeface="Consolas"/>
              </a:rPr>
              <a:t>1  2  3  4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387E50-FCF0-F5B7-65DE-6D08693A235A}"/>
              </a:ext>
            </a:extLst>
          </p:cNvPr>
          <p:cNvSpPr txBox="1"/>
          <p:nvPr/>
        </p:nvSpPr>
        <p:spPr>
          <a:xfrm>
            <a:off x="9689592" y="4398264"/>
            <a:ext cx="411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F9D892E-1D31-1249-67B0-A3D618750622}"/>
              </a:ext>
            </a:extLst>
          </p:cNvPr>
          <p:cNvSpPr/>
          <p:nvPr/>
        </p:nvSpPr>
        <p:spPr>
          <a:xfrm>
            <a:off x="10101072" y="4069080"/>
            <a:ext cx="1170432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7EBEA7-AFCD-0C28-9656-C5AFDCB08FF9}"/>
              </a:ext>
            </a:extLst>
          </p:cNvPr>
          <p:cNvSpPr txBox="1"/>
          <p:nvPr/>
        </p:nvSpPr>
        <p:spPr>
          <a:xfrm>
            <a:off x="10192512" y="4215384"/>
            <a:ext cx="987552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3B82F6"/>
                </a:solidFill>
                <a:latin typeface="Aptos"/>
              </a:rPr>
              <a:t>MAP()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12FA6A-7E0B-619E-CD16-9EE98B7DABBC}"/>
              </a:ext>
            </a:extLst>
          </p:cNvPr>
          <p:cNvSpPr txBox="1"/>
          <p:nvPr/>
        </p:nvSpPr>
        <p:spPr>
          <a:xfrm>
            <a:off x="10192512" y="4562856"/>
            <a:ext cx="987552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1F2937"/>
                </a:solidFill>
                <a:latin typeface="Consolas"/>
              </a:rPr>
              <a:t>result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E92A230-E9FC-D9C3-97B1-ABBD3D435156}"/>
              </a:ext>
            </a:extLst>
          </p:cNvPr>
          <p:cNvSpPr/>
          <p:nvPr/>
        </p:nvSpPr>
        <p:spPr>
          <a:xfrm>
            <a:off x="655320" y="5861304"/>
            <a:ext cx="10881360" cy="5303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1F6C287-2C90-CC77-CD18-072426C7D946}"/>
              </a:ext>
            </a:extLst>
          </p:cNvPr>
          <p:cNvSpPr txBox="1"/>
          <p:nvPr/>
        </p:nvSpPr>
        <p:spPr>
          <a:xfrm>
            <a:off x="883920" y="5916168"/>
            <a:ext cx="10424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KEY IDEA: map() takes a function and applies it to every value in the iterable.</a:t>
            </a:r>
          </a:p>
        </p:txBody>
      </p:sp>
    </p:spTree>
    <p:extLst>
      <p:ext uri="{BB962C8B-B14F-4D97-AF65-F5344CB8AC3E}">
        <p14:creationId xmlns:p14="http://schemas.microsoft.com/office/powerpoint/2010/main" val="3673705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624809-EDA9-CEA9-3BA6-F7B35C91A992}"/>
              </a:ext>
            </a:extLst>
          </p:cNvPr>
          <p:cNvSpPr txBox="1"/>
          <p:nvPr/>
        </p:nvSpPr>
        <p:spPr>
          <a:xfrm>
            <a:off x="655320" y="43434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MAP()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AE128D-EC32-D13E-3DE9-4D826EB4BC4B}"/>
              </a:ext>
            </a:extLst>
          </p:cNvPr>
          <p:cNvSpPr txBox="1"/>
          <p:nvPr/>
        </p:nvSpPr>
        <p:spPr>
          <a:xfrm>
            <a:off x="655320" y="800100"/>
            <a:ext cx="71323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Real-Life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7C3A1-0FF0-ECEC-E5B3-8729D95B5AB9}"/>
              </a:ext>
            </a:extLst>
          </p:cNvPr>
          <p:cNvSpPr txBox="1"/>
          <p:nvPr/>
        </p:nvSpPr>
        <p:spPr>
          <a:xfrm>
            <a:off x="655320" y="1376172"/>
            <a:ext cx="9601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Use map() when the same change is needed for every item.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A40D34-9384-7BE2-E368-0CBA3C5205B4}"/>
              </a:ext>
            </a:extLst>
          </p:cNvPr>
          <p:cNvSpPr/>
          <p:nvPr/>
        </p:nvSpPr>
        <p:spPr>
          <a:xfrm>
            <a:off x="655320" y="2016252"/>
            <a:ext cx="324612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439012-23F4-5E38-42D8-58A04611CB7D}"/>
              </a:ext>
            </a:extLst>
          </p:cNvPr>
          <p:cNvSpPr txBox="1"/>
          <p:nvPr/>
        </p:nvSpPr>
        <p:spPr>
          <a:xfrm>
            <a:off x="883920" y="2263140"/>
            <a:ext cx="2651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🛒 Shopping Discount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74E2C7-6994-E564-8EB0-AAD06AF1CF01}"/>
              </a:ext>
            </a:extLst>
          </p:cNvPr>
          <p:cNvSpPr txBox="1"/>
          <p:nvPr/>
        </p:nvSpPr>
        <p:spPr>
          <a:xfrm>
            <a:off x="883920" y="2811780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6B7280"/>
                </a:solidFill>
                <a:latin typeface="Aptos"/>
              </a:rPr>
              <a:t>Original prices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E249E-6A11-D437-AB54-2F3DE7B176E1}"/>
              </a:ext>
            </a:extLst>
          </p:cNvPr>
          <p:cNvSpPr txBox="1"/>
          <p:nvPr/>
        </p:nvSpPr>
        <p:spPr>
          <a:xfrm>
            <a:off x="883920" y="3140964"/>
            <a:ext cx="26517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000" b="1">
                <a:solidFill>
                  <a:srgbClr val="1F2937"/>
                </a:solidFill>
                <a:latin typeface="Aptos"/>
              </a:rPr>
              <a:t>₹100   ₹200   ₹300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9FF68-8299-2141-0041-77C6108BF05C}"/>
              </a:ext>
            </a:extLst>
          </p:cNvPr>
          <p:cNvSpPr txBox="1"/>
          <p:nvPr/>
        </p:nvSpPr>
        <p:spPr>
          <a:xfrm>
            <a:off x="883920" y="3753612"/>
            <a:ext cx="2651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7C3AED"/>
                </a:solidFill>
                <a:latin typeface="Aptos"/>
              </a:rPr>
              <a:t>10% discount on every item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DA257-1F11-5DA8-6DF3-DFD29292E8DA}"/>
              </a:ext>
            </a:extLst>
          </p:cNvPr>
          <p:cNvSpPr txBox="1"/>
          <p:nvPr/>
        </p:nvSpPr>
        <p:spPr>
          <a:xfrm>
            <a:off x="883920" y="4091940"/>
            <a:ext cx="265176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7C3AED"/>
                </a:solidFill>
                <a:latin typeface="Aptos"/>
              </a:rPr>
              <a:t>Same rule → every price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3BB48F-3EBA-DC09-3A44-DE53CC2CFABB}"/>
              </a:ext>
            </a:extLst>
          </p:cNvPr>
          <p:cNvSpPr txBox="1"/>
          <p:nvPr/>
        </p:nvSpPr>
        <p:spPr>
          <a:xfrm>
            <a:off x="4175760" y="3296412"/>
            <a:ext cx="9144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34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EE47F4-BE0F-86A2-3274-EC65CD4E7B59}"/>
              </a:ext>
            </a:extLst>
          </p:cNvPr>
          <p:cNvSpPr/>
          <p:nvPr/>
        </p:nvSpPr>
        <p:spPr>
          <a:xfrm>
            <a:off x="4998720" y="2016252"/>
            <a:ext cx="3794760" cy="36118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74DBFD-62E7-0901-91A7-DE1AF41D498D}"/>
              </a:ext>
            </a:extLst>
          </p:cNvPr>
          <p:cNvSpPr txBox="1"/>
          <p:nvPr/>
        </p:nvSpPr>
        <p:spPr>
          <a:xfrm>
            <a:off x="5245608" y="2263140"/>
            <a:ext cx="3200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3B82F6"/>
                </a:solidFill>
                <a:latin typeface="Aptos"/>
              </a:rPr>
              <a:t>Python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815ED1-D2B7-D52D-5E3E-92ED2CD23509}"/>
              </a:ext>
            </a:extLst>
          </p:cNvPr>
          <p:cNvSpPr txBox="1"/>
          <p:nvPr/>
        </p:nvSpPr>
        <p:spPr>
          <a:xfrm>
            <a:off x="5245608" y="2747772"/>
            <a:ext cx="32461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400">
                <a:solidFill>
                  <a:srgbClr val="1F2937"/>
                </a:solidFill>
                <a:latin typeface="Consolas"/>
              </a:rPr>
              <a:t>prices = [100, 200, 300]
discounted = list(
    map(lambda x: x * 0.9, prices)
)
print(discounted)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E80A0BD-C4F2-D227-5FE7-F0D5A1CCEAB7}"/>
              </a:ext>
            </a:extLst>
          </p:cNvPr>
          <p:cNvSpPr/>
          <p:nvPr/>
        </p:nvSpPr>
        <p:spPr>
          <a:xfrm>
            <a:off x="9113520" y="2016252"/>
            <a:ext cx="2423160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F3761B-969E-55AC-0E18-42416A8235E0}"/>
              </a:ext>
            </a:extLst>
          </p:cNvPr>
          <p:cNvSpPr txBox="1"/>
          <p:nvPr/>
        </p:nvSpPr>
        <p:spPr>
          <a:xfrm>
            <a:off x="9342120" y="2263140"/>
            <a:ext cx="19202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6A34A"/>
                </a:solidFill>
                <a:latin typeface="Aptos"/>
              </a:rPr>
              <a:t>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21D0F7-8CA3-E658-E040-793CABFA811F}"/>
              </a:ext>
            </a:extLst>
          </p:cNvPr>
          <p:cNvSpPr txBox="1"/>
          <p:nvPr/>
        </p:nvSpPr>
        <p:spPr>
          <a:xfrm>
            <a:off x="9342120" y="2930652"/>
            <a:ext cx="1965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6B7280"/>
                </a:solidFill>
                <a:latin typeface="Aptos"/>
              </a:rPr>
              <a:t>After discount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9A45F-F1F5-DB00-84B2-AD4D8AFE4E04}"/>
              </a:ext>
            </a:extLst>
          </p:cNvPr>
          <p:cNvSpPr txBox="1"/>
          <p:nvPr/>
        </p:nvSpPr>
        <p:spPr>
          <a:xfrm>
            <a:off x="9342120" y="3360420"/>
            <a:ext cx="1965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₹90   ₹180   ₹270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FF8B5BC-D75E-3FAD-5EA3-2FCD28C83A38}"/>
              </a:ext>
            </a:extLst>
          </p:cNvPr>
          <p:cNvSpPr/>
          <p:nvPr/>
        </p:nvSpPr>
        <p:spPr>
          <a:xfrm>
            <a:off x="9342120" y="4210812"/>
            <a:ext cx="1965960" cy="7498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6A54A2-7FA4-3186-6458-7033F0429EF3}"/>
              </a:ext>
            </a:extLst>
          </p:cNvPr>
          <p:cNvSpPr txBox="1"/>
          <p:nvPr/>
        </p:nvSpPr>
        <p:spPr>
          <a:xfrm>
            <a:off x="9479280" y="4302252"/>
            <a:ext cx="1691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Every price changed
by the same rule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6974816-B851-8A82-F67F-71A81D908717}"/>
              </a:ext>
            </a:extLst>
          </p:cNvPr>
          <p:cNvSpPr/>
          <p:nvPr/>
        </p:nvSpPr>
        <p:spPr>
          <a:xfrm>
            <a:off x="655320" y="5920740"/>
            <a:ext cx="1088136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77F5D-37DB-AD4D-7152-90B35A6A3F5C}"/>
              </a:ext>
            </a:extLst>
          </p:cNvPr>
          <p:cNvSpPr txBox="1"/>
          <p:nvPr/>
        </p:nvSpPr>
        <p:spPr>
          <a:xfrm>
            <a:off x="883920" y="5966460"/>
            <a:ext cx="10424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7C3AED"/>
                </a:solidFill>
                <a:latin typeface="Aptos"/>
              </a:rPr>
              <a:t>KEY IDEA: map() is useful when one transformation must be applied to all items.</a:t>
            </a:r>
          </a:p>
        </p:txBody>
      </p:sp>
    </p:spTree>
    <p:extLst>
      <p:ext uri="{BB962C8B-B14F-4D97-AF65-F5344CB8AC3E}">
        <p14:creationId xmlns:p14="http://schemas.microsoft.com/office/powerpoint/2010/main" val="605026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5CB300-830A-D0D0-437E-79E91165F5AA}"/>
              </a:ext>
            </a:extLst>
          </p:cNvPr>
          <p:cNvSpPr txBox="1"/>
          <p:nvPr/>
        </p:nvSpPr>
        <p:spPr>
          <a:xfrm>
            <a:off x="655320" y="466344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MAP()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F072D5-B28D-2CAC-0A73-153D4745AC37}"/>
              </a:ext>
            </a:extLst>
          </p:cNvPr>
          <p:cNvSpPr txBox="1"/>
          <p:nvPr/>
        </p:nvSpPr>
        <p:spPr>
          <a:xfrm>
            <a:off x="655320" y="832104"/>
            <a:ext cx="7315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Important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78AB1-4F03-DB30-4019-60AAA10C0EEB}"/>
              </a:ext>
            </a:extLst>
          </p:cNvPr>
          <p:cNvSpPr txBox="1"/>
          <p:nvPr/>
        </p:nvSpPr>
        <p:spPr>
          <a:xfrm>
            <a:off x="655320" y="1417320"/>
            <a:ext cx="89611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Rules for using map()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F7EB52-58D4-68A2-AFF3-2D89FDAEDCCF}"/>
              </a:ext>
            </a:extLst>
          </p:cNvPr>
          <p:cNvSpPr/>
          <p:nvPr/>
        </p:nvSpPr>
        <p:spPr>
          <a:xfrm>
            <a:off x="655320" y="1993391"/>
            <a:ext cx="5257800" cy="10789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E6C1114-A9FB-D421-2B16-2AF69448409B}"/>
              </a:ext>
            </a:extLst>
          </p:cNvPr>
          <p:cNvSpPr/>
          <p:nvPr/>
        </p:nvSpPr>
        <p:spPr>
          <a:xfrm>
            <a:off x="856487" y="2240280"/>
            <a:ext cx="566928" cy="56692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3741A-4F1E-1E1E-E4AE-9985C2306A46}"/>
              </a:ext>
            </a:extLst>
          </p:cNvPr>
          <p:cNvSpPr txBox="1"/>
          <p:nvPr/>
        </p:nvSpPr>
        <p:spPr>
          <a:xfrm>
            <a:off x="856487" y="2258568"/>
            <a:ext cx="5669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CD8D7-BEE1-4B74-018A-C7CDEC0E00B3}"/>
              </a:ext>
            </a:extLst>
          </p:cNvPr>
          <p:cNvSpPr txBox="1"/>
          <p:nvPr/>
        </p:nvSpPr>
        <p:spPr>
          <a:xfrm>
            <a:off x="1588008" y="2157984"/>
            <a:ext cx="3977639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A function is required.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47D2916-B4D4-8A66-1E7B-FBCDDFCE7B57}"/>
              </a:ext>
            </a:extLst>
          </p:cNvPr>
          <p:cNvSpPr/>
          <p:nvPr/>
        </p:nvSpPr>
        <p:spPr>
          <a:xfrm>
            <a:off x="655320" y="3200400"/>
            <a:ext cx="5257800" cy="10789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5A90F7E-9214-43D7-4ACE-7EDE82739CDB}"/>
              </a:ext>
            </a:extLst>
          </p:cNvPr>
          <p:cNvSpPr/>
          <p:nvPr/>
        </p:nvSpPr>
        <p:spPr>
          <a:xfrm>
            <a:off x="856487" y="3447288"/>
            <a:ext cx="566928" cy="56692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2CAE2-621D-284A-C629-C09F0361F332}"/>
              </a:ext>
            </a:extLst>
          </p:cNvPr>
          <p:cNvSpPr txBox="1"/>
          <p:nvPr/>
        </p:nvSpPr>
        <p:spPr>
          <a:xfrm>
            <a:off x="856487" y="3465576"/>
            <a:ext cx="5669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664127-D158-8D34-25C3-598CEA5D7AD0}"/>
              </a:ext>
            </a:extLst>
          </p:cNvPr>
          <p:cNvSpPr txBox="1"/>
          <p:nvPr/>
        </p:nvSpPr>
        <p:spPr>
          <a:xfrm>
            <a:off x="1588008" y="3364992"/>
            <a:ext cx="3977639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The function is applied to every element.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BF0016F-9955-354B-580F-5AABCD043380}"/>
              </a:ext>
            </a:extLst>
          </p:cNvPr>
          <p:cNvSpPr/>
          <p:nvPr/>
        </p:nvSpPr>
        <p:spPr>
          <a:xfrm>
            <a:off x="655320" y="4407408"/>
            <a:ext cx="5257800" cy="10789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F46098-AA9D-67DD-1D0C-DDC31D98628A}"/>
              </a:ext>
            </a:extLst>
          </p:cNvPr>
          <p:cNvSpPr/>
          <p:nvPr/>
        </p:nvSpPr>
        <p:spPr>
          <a:xfrm>
            <a:off x="856487" y="4654295"/>
            <a:ext cx="566928" cy="566928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2512EC-9903-7A16-F928-86388A752AE3}"/>
              </a:ext>
            </a:extLst>
          </p:cNvPr>
          <p:cNvSpPr txBox="1"/>
          <p:nvPr/>
        </p:nvSpPr>
        <p:spPr>
          <a:xfrm>
            <a:off x="856487" y="4672584"/>
            <a:ext cx="5669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BD367-AA59-AD63-D723-F9A92D8BA888}"/>
              </a:ext>
            </a:extLst>
          </p:cNvPr>
          <p:cNvSpPr txBox="1"/>
          <p:nvPr/>
        </p:nvSpPr>
        <p:spPr>
          <a:xfrm>
            <a:off x="1588008" y="4571999"/>
            <a:ext cx="3977639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Syntax is map(function, iterable).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C7F0CF8-B5C1-8A9D-1F74-45F98BA866D9}"/>
              </a:ext>
            </a:extLst>
          </p:cNvPr>
          <p:cNvSpPr/>
          <p:nvPr/>
        </p:nvSpPr>
        <p:spPr>
          <a:xfrm>
            <a:off x="6278880" y="1993391"/>
            <a:ext cx="5257800" cy="107899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4CFD55-D3B0-3109-E4C8-92AB5176A1CA}"/>
              </a:ext>
            </a:extLst>
          </p:cNvPr>
          <p:cNvSpPr/>
          <p:nvPr/>
        </p:nvSpPr>
        <p:spPr>
          <a:xfrm>
            <a:off x="6480047" y="2240280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14F7D4-48EC-2B0F-6E5B-7BF2797B46B1}"/>
              </a:ext>
            </a:extLst>
          </p:cNvPr>
          <p:cNvSpPr txBox="1"/>
          <p:nvPr/>
        </p:nvSpPr>
        <p:spPr>
          <a:xfrm>
            <a:off x="6480047" y="2258568"/>
            <a:ext cx="5669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049561-4E23-3935-7084-017A45031709}"/>
              </a:ext>
            </a:extLst>
          </p:cNvPr>
          <p:cNvSpPr txBox="1"/>
          <p:nvPr/>
        </p:nvSpPr>
        <p:spPr>
          <a:xfrm>
            <a:off x="7211567" y="2157984"/>
            <a:ext cx="3977639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lambda is optional.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3C4DEB6-EFBF-69F2-F05D-839F6305D84D}"/>
              </a:ext>
            </a:extLst>
          </p:cNvPr>
          <p:cNvSpPr/>
          <p:nvPr/>
        </p:nvSpPr>
        <p:spPr>
          <a:xfrm>
            <a:off x="6278880" y="3200400"/>
            <a:ext cx="5257800" cy="107899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4C26F9A-08DA-5C5D-1C91-99FEA423FF73}"/>
              </a:ext>
            </a:extLst>
          </p:cNvPr>
          <p:cNvSpPr/>
          <p:nvPr/>
        </p:nvSpPr>
        <p:spPr>
          <a:xfrm>
            <a:off x="6480047" y="3447288"/>
            <a:ext cx="566928" cy="566928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D99AA2-26DA-ADBB-F008-E950BA0B041F}"/>
              </a:ext>
            </a:extLst>
          </p:cNvPr>
          <p:cNvSpPr txBox="1"/>
          <p:nvPr/>
        </p:nvSpPr>
        <p:spPr>
          <a:xfrm>
            <a:off x="6480047" y="3465576"/>
            <a:ext cx="5669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1E0D0E-2426-A545-82B2-E12C530251D6}"/>
              </a:ext>
            </a:extLst>
          </p:cNvPr>
          <p:cNvSpPr txBox="1"/>
          <p:nvPr/>
        </p:nvSpPr>
        <p:spPr>
          <a:xfrm>
            <a:off x="7211567" y="3364992"/>
            <a:ext cx="3977639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list() can be used to see the results as a list.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F69601D-73CA-AA33-E208-D71E73E19095}"/>
              </a:ext>
            </a:extLst>
          </p:cNvPr>
          <p:cNvSpPr/>
          <p:nvPr/>
        </p:nvSpPr>
        <p:spPr>
          <a:xfrm>
            <a:off x="6278880" y="4407408"/>
            <a:ext cx="5257800" cy="107899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D6E391-0A2C-7821-27DF-E2DBF4E78C53}"/>
              </a:ext>
            </a:extLst>
          </p:cNvPr>
          <p:cNvSpPr/>
          <p:nvPr/>
        </p:nvSpPr>
        <p:spPr>
          <a:xfrm>
            <a:off x="6480047" y="4654295"/>
            <a:ext cx="566928" cy="566928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7E0796-12CF-8ABE-0CA7-7DD598ADDC9B}"/>
              </a:ext>
            </a:extLst>
          </p:cNvPr>
          <p:cNvSpPr txBox="1"/>
          <p:nvPr/>
        </p:nvSpPr>
        <p:spPr>
          <a:xfrm>
            <a:off x="6480047" y="4672584"/>
            <a:ext cx="566928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3967C7-2FE6-D930-6216-BF3076A34203}"/>
              </a:ext>
            </a:extLst>
          </p:cNvPr>
          <p:cNvSpPr txBox="1"/>
          <p:nvPr/>
        </p:nvSpPr>
        <p:spPr>
          <a:xfrm>
            <a:off x="7211567" y="4571999"/>
            <a:ext cx="3977639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Aptos"/>
              </a:rPr>
              <a:t>Best suited for transformation.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4989728-19E2-6A36-C988-5EB8FC92B8A7}"/>
              </a:ext>
            </a:extLst>
          </p:cNvPr>
          <p:cNvSpPr/>
          <p:nvPr/>
        </p:nvSpPr>
        <p:spPr>
          <a:xfrm>
            <a:off x="655320" y="5769864"/>
            <a:ext cx="10881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CE17F3-93D3-FDFC-744C-36300ABD9B6F}"/>
              </a:ext>
            </a:extLst>
          </p:cNvPr>
          <p:cNvSpPr txBox="1"/>
          <p:nvPr/>
        </p:nvSpPr>
        <p:spPr>
          <a:xfrm>
            <a:off x="883920" y="5843016"/>
            <a:ext cx="1051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KEY IDEA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AF27CD-EAF8-7DBA-5D54-F661989FF22E}"/>
              </a:ext>
            </a:extLst>
          </p:cNvPr>
          <p:cNvSpPr txBox="1"/>
          <p:nvPr/>
        </p:nvSpPr>
        <p:spPr>
          <a:xfrm>
            <a:off x="1889759" y="5815584"/>
            <a:ext cx="90982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map() takes a function → applies it to every item → produces transformed results.</a:t>
            </a:r>
          </a:p>
        </p:txBody>
      </p:sp>
    </p:spTree>
    <p:extLst>
      <p:ext uri="{BB962C8B-B14F-4D97-AF65-F5344CB8AC3E}">
        <p14:creationId xmlns:p14="http://schemas.microsoft.com/office/powerpoint/2010/main" val="457576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89E8B9-285B-F004-8C7C-0DB089ED9DCB}"/>
              </a:ext>
            </a:extLst>
          </p:cNvPr>
          <p:cNvSpPr txBox="1"/>
          <p:nvPr/>
        </p:nvSpPr>
        <p:spPr>
          <a:xfrm>
            <a:off x="792480" y="512064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FILTER()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8C1630-B9D9-1B94-092E-F5F2A902F947}"/>
              </a:ext>
            </a:extLst>
          </p:cNvPr>
          <p:cNvSpPr txBox="1"/>
          <p:nvPr/>
        </p:nvSpPr>
        <p:spPr>
          <a:xfrm>
            <a:off x="792480" y="1426464"/>
            <a:ext cx="658368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3200" b="1">
                <a:solidFill>
                  <a:srgbClr val="1F2937"/>
                </a:solidFill>
                <a:latin typeface="Aptos"/>
              </a:rPr>
              <a:t>Python filter() Function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873C0-2A60-8DEA-8648-545622544C7D}"/>
              </a:ext>
            </a:extLst>
          </p:cNvPr>
          <p:cNvSpPr txBox="1"/>
          <p:nvPr/>
        </p:nvSpPr>
        <p:spPr>
          <a:xfrm>
            <a:off x="792480" y="2185416"/>
            <a:ext cx="6858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0" dirty="0">
                <a:solidFill>
                  <a:srgbClr val="6B7280"/>
                </a:solidFill>
                <a:latin typeface="Aptos"/>
              </a:rPr>
              <a:t>Select the elements that meet a condition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C70B356-CA76-4C36-70D9-DF1CB488F1DA}"/>
              </a:ext>
            </a:extLst>
          </p:cNvPr>
          <p:cNvSpPr/>
          <p:nvPr/>
        </p:nvSpPr>
        <p:spPr>
          <a:xfrm>
            <a:off x="792480" y="3163824"/>
            <a:ext cx="4709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3C05C-D27F-A2B9-61C0-5A890634628E}"/>
              </a:ext>
            </a:extLst>
          </p:cNvPr>
          <p:cNvSpPr txBox="1"/>
          <p:nvPr/>
        </p:nvSpPr>
        <p:spPr>
          <a:xfrm>
            <a:off x="1066800" y="3410712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THE IDEA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FD081-ABCF-8D61-4E90-DD9F7BCEE16B}"/>
              </a:ext>
            </a:extLst>
          </p:cNvPr>
          <p:cNvSpPr txBox="1"/>
          <p:nvPr/>
        </p:nvSpPr>
        <p:spPr>
          <a:xfrm>
            <a:off x="1066800" y="3831335"/>
            <a:ext cx="4023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700" b="1">
                <a:solidFill>
                  <a:srgbClr val="1F2937"/>
                </a:solidFill>
                <a:latin typeface="Aptos"/>
              </a:rPr>
              <a:t>Check each value → Keep matching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2474CF-D239-421C-45B3-BAAC9AE582F0}"/>
              </a:ext>
            </a:extLst>
          </p:cNvPr>
          <p:cNvSpPr txBox="1"/>
          <p:nvPr/>
        </p:nvSpPr>
        <p:spPr>
          <a:xfrm>
            <a:off x="1066800" y="4416552"/>
            <a:ext cx="3931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filter() is mainly used for selection.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581075-B709-33A3-68FE-DED4C2AA22C3}"/>
              </a:ext>
            </a:extLst>
          </p:cNvPr>
          <p:cNvSpPr/>
          <p:nvPr/>
        </p:nvSpPr>
        <p:spPr>
          <a:xfrm>
            <a:off x="5958840" y="2798064"/>
            <a:ext cx="5440680" cy="2697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BECAE8-9860-DDC4-9E35-9C4B27F1A71E}"/>
              </a:ext>
            </a:extLst>
          </p:cNvPr>
          <p:cNvSpPr txBox="1"/>
          <p:nvPr/>
        </p:nvSpPr>
        <p:spPr>
          <a:xfrm>
            <a:off x="6260592" y="3044952"/>
            <a:ext cx="1645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SIMPLE FLOW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4DDA0A-A444-CEF0-2EF3-1067286ECFBE}"/>
              </a:ext>
            </a:extLst>
          </p:cNvPr>
          <p:cNvSpPr/>
          <p:nvPr/>
        </p:nvSpPr>
        <p:spPr>
          <a:xfrm>
            <a:off x="6324600" y="3666744"/>
            <a:ext cx="14173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1C477-B80E-07C8-1EAC-7EC52BFE3AAD}"/>
              </a:ext>
            </a:extLst>
          </p:cNvPr>
          <p:cNvSpPr txBox="1"/>
          <p:nvPr/>
        </p:nvSpPr>
        <p:spPr>
          <a:xfrm>
            <a:off x="6416040" y="3776472"/>
            <a:ext cx="1234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6B7280"/>
                </a:solidFill>
                <a:latin typeface="Aptos"/>
              </a:rPr>
              <a:t>VALUES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0F1042-355E-57D0-A288-6826F2945547}"/>
              </a:ext>
            </a:extLst>
          </p:cNvPr>
          <p:cNvSpPr txBox="1"/>
          <p:nvPr/>
        </p:nvSpPr>
        <p:spPr>
          <a:xfrm>
            <a:off x="6416040" y="4050792"/>
            <a:ext cx="12344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 dirty="0">
                <a:solidFill>
                  <a:srgbClr val="1F2937"/>
                </a:solidFill>
                <a:latin typeface="Consolas"/>
              </a:rPr>
              <a:t>1  2  </a:t>
            </a:r>
            <a:r>
              <a:rPr lang="en-IN" sz="1200" b="1" dirty="0">
                <a:solidFill>
                  <a:srgbClr val="1F2937"/>
                </a:solidFill>
                <a:latin typeface="Consolas"/>
              </a:rPr>
              <a:t>3</a:t>
            </a:r>
            <a:r>
              <a:rPr sz="1200" b="1" dirty="0">
                <a:solidFill>
                  <a:srgbClr val="1F2937"/>
                </a:solidFill>
                <a:latin typeface="Consolas"/>
              </a:rPr>
              <a:t>  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EAB3EE-9053-9AA2-1D48-24D7EF3308D8}"/>
              </a:ext>
            </a:extLst>
          </p:cNvPr>
          <p:cNvSpPr txBox="1"/>
          <p:nvPr/>
        </p:nvSpPr>
        <p:spPr>
          <a:xfrm>
            <a:off x="7815072" y="3822192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B0CE50D-7325-AEF5-DDDA-8214CA5CAD3E}"/>
              </a:ext>
            </a:extLst>
          </p:cNvPr>
          <p:cNvSpPr/>
          <p:nvPr/>
        </p:nvSpPr>
        <p:spPr>
          <a:xfrm>
            <a:off x="8336280" y="3666744"/>
            <a:ext cx="1508760" cy="7772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A18815-DD52-31D1-CFF6-3C7DCE0A79AB}"/>
              </a:ext>
            </a:extLst>
          </p:cNvPr>
          <p:cNvSpPr txBox="1"/>
          <p:nvPr/>
        </p:nvSpPr>
        <p:spPr>
          <a:xfrm>
            <a:off x="8427720" y="3776472"/>
            <a:ext cx="13258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7C3AED"/>
                </a:solidFill>
                <a:latin typeface="Aptos"/>
              </a:rPr>
              <a:t>CHECK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12F21D-3F12-A758-E105-4A427D363C30}"/>
              </a:ext>
            </a:extLst>
          </p:cNvPr>
          <p:cNvSpPr txBox="1"/>
          <p:nvPr/>
        </p:nvSpPr>
        <p:spPr>
          <a:xfrm>
            <a:off x="8427720" y="4050792"/>
            <a:ext cx="13258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Consolas"/>
              </a:rPr>
              <a:t>even?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BADF98-6D25-ECC3-3D09-E3C6B0756D58}"/>
              </a:ext>
            </a:extLst>
          </p:cNvPr>
          <p:cNvSpPr txBox="1"/>
          <p:nvPr/>
        </p:nvSpPr>
        <p:spPr>
          <a:xfrm>
            <a:off x="9863328" y="3822192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85B972B-2188-C21C-9362-36F80FBB48BA}"/>
              </a:ext>
            </a:extLst>
          </p:cNvPr>
          <p:cNvSpPr/>
          <p:nvPr/>
        </p:nvSpPr>
        <p:spPr>
          <a:xfrm>
            <a:off x="10366248" y="3666744"/>
            <a:ext cx="777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E156DC-C414-52F0-0201-AD71887510BB}"/>
              </a:ext>
            </a:extLst>
          </p:cNvPr>
          <p:cNvSpPr txBox="1"/>
          <p:nvPr/>
        </p:nvSpPr>
        <p:spPr>
          <a:xfrm>
            <a:off x="10430256" y="3776472"/>
            <a:ext cx="640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800" b="1">
                <a:solidFill>
                  <a:srgbClr val="3B82F6"/>
                </a:solidFill>
                <a:latin typeface="Aptos"/>
              </a:rPr>
              <a:t>KEEP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51CC3C-A668-E9E8-31C4-1624C6AEC0B9}"/>
              </a:ext>
            </a:extLst>
          </p:cNvPr>
          <p:cNvSpPr txBox="1"/>
          <p:nvPr/>
        </p:nvSpPr>
        <p:spPr>
          <a:xfrm>
            <a:off x="10430256" y="4050792"/>
            <a:ext cx="6400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1F2937"/>
                </a:solidFill>
                <a:latin typeface="Consolas"/>
              </a:rPr>
              <a:t>2  4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4D73357-EE78-E284-3230-387A20FF5A7D}"/>
              </a:ext>
            </a:extLst>
          </p:cNvPr>
          <p:cNvSpPr/>
          <p:nvPr/>
        </p:nvSpPr>
        <p:spPr>
          <a:xfrm>
            <a:off x="792480" y="5815584"/>
            <a:ext cx="10607040" cy="5303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1083E3-19FE-B7BD-A43D-30BC44000D6A}"/>
              </a:ext>
            </a:extLst>
          </p:cNvPr>
          <p:cNvSpPr txBox="1"/>
          <p:nvPr/>
        </p:nvSpPr>
        <p:spPr>
          <a:xfrm>
            <a:off x="1021080" y="5879592"/>
            <a:ext cx="101498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KEY IDEA: filter() checks a condition and keeps only the matching elements.</a:t>
            </a:r>
          </a:p>
        </p:txBody>
      </p:sp>
    </p:spTree>
    <p:extLst>
      <p:ext uri="{BB962C8B-B14F-4D97-AF65-F5344CB8AC3E}">
        <p14:creationId xmlns:p14="http://schemas.microsoft.com/office/powerpoint/2010/main" val="340157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0A936E-142C-9131-A1AB-6FE23425FF83}"/>
              </a:ext>
            </a:extLst>
          </p:cNvPr>
          <p:cNvSpPr txBox="1"/>
          <p:nvPr/>
        </p:nvSpPr>
        <p:spPr>
          <a:xfrm>
            <a:off x="655320" y="475488"/>
            <a:ext cx="2194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FILTER()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CAAF8-72DE-B002-2271-49B5BA8E8BB7}"/>
              </a:ext>
            </a:extLst>
          </p:cNvPr>
          <p:cNvSpPr txBox="1"/>
          <p:nvPr/>
        </p:nvSpPr>
        <p:spPr>
          <a:xfrm>
            <a:off x="655320" y="841248"/>
            <a:ext cx="7315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What is filter()?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A769F-1F1E-9EFD-5406-050EC7D2F855}"/>
              </a:ext>
            </a:extLst>
          </p:cNvPr>
          <p:cNvSpPr txBox="1"/>
          <p:nvPr/>
        </p:nvSpPr>
        <p:spPr>
          <a:xfrm>
            <a:off x="655320" y="1417320"/>
            <a:ext cx="960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filter() selects only the elements that satisfy a condition.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68079F-9555-387E-589F-23949DD6B17A}"/>
              </a:ext>
            </a:extLst>
          </p:cNvPr>
          <p:cNvSpPr/>
          <p:nvPr/>
        </p:nvSpPr>
        <p:spPr>
          <a:xfrm>
            <a:off x="655320" y="2057400"/>
            <a:ext cx="512064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590297-AB8A-AF5C-B46A-CDA25E57C9D5}"/>
              </a:ext>
            </a:extLst>
          </p:cNvPr>
          <p:cNvSpPr txBox="1"/>
          <p:nvPr/>
        </p:nvSpPr>
        <p:spPr>
          <a:xfrm>
            <a:off x="911352" y="2267712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SIMPLE DEFINITION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37F4B-A173-08EA-2BFD-32FD51DAC259}"/>
              </a:ext>
            </a:extLst>
          </p:cNvPr>
          <p:cNvSpPr txBox="1"/>
          <p:nvPr/>
        </p:nvSpPr>
        <p:spPr>
          <a:xfrm>
            <a:off x="911352" y="2633472"/>
            <a:ext cx="4526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>
                <a:solidFill>
                  <a:srgbClr val="1F2937"/>
                </a:solidFill>
                <a:latin typeface="Aptos"/>
              </a:rPr>
              <a:t>filter() → Check → Select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9C15770-1113-E9E5-727D-B752A2067CCD}"/>
              </a:ext>
            </a:extLst>
          </p:cNvPr>
          <p:cNvSpPr/>
          <p:nvPr/>
        </p:nvSpPr>
        <p:spPr>
          <a:xfrm>
            <a:off x="6004560" y="2057400"/>
            <a:ext cx="5532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F969B-F6AB-6739-42C3-7B2184E9D8C6}"/>
              </a:ext>
            </a:extLst>
          </p:cNvPr>
          <p:cNvSpPr txBox="1"/>
          <p:nvPr/>
        </p:nvSpPr>
        <p:spPr>
          <a:xfrm>
            <a:off x="6260592" y="2267712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REAL-LIFE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C166D2-B455-19C2-D8BB-D6150BA9AA32}"/>
              </a:ext>
            </a:extLst>
          </p:cNvPr>
          <p:cNvSpPr txBox="1"/>
          <p:nvPr/>
        </p:nvSpPr>
        <p:spPr>
          <a:xfrm>
            <a:off x="6260592" y="2624328"/>
            <a:ext cx="4892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Select students who scored 50 or more.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0198D9-D937-D95C-E97B-079F545E3886}"/>
              </a:ext>
            </a:extLst>
          </p:cNvPr>
          <p:cNvSpPr/>
          <p:nvPr/>
        </p:nvSpPr>
        <p:spPr>
          <a:xfrm>
            <a:off x="655320" y="3749040"/>
            <a:ext cx="108813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6B0EA-3DAD-C496-E0E4-011FE646ED2A}"/>
              </a:ext>
            </a:extLst>
          </p:cNvPr>
          <p:cNvSpPr txBox="1"/>
          <p:nvPr/>
        </p:nvSpPr>
        <p:spPr>
          <a:xfrm>
            <a:off x="911352" y="3931920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HOW IT WORKS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721283B-681D-21AB-57C9-9D3073E70D03}"/>
              </a:ext>
            </a:extLst>
          </p:cNvPr>
          <p:cNvSpPr/>
          <p:nvPr/>
        </p:nvSpPr>
        <p:spPr>
          <a:xfrm>
            <a:off x="929640" y="4407408"/>
            <a:ext cx="1874519" cy="74980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A6AB0A-CDFA-8396-FF8E-F8F95FF0E599}"/>
              </a:ext>
            </a:extLst>
          </p:cNvPr>
          <p:cNvSpPr txBox="1"/>
          <p:nvPr/>
        </p:nvSpPr>
        <p:spPr>
          <a:xfrm>
            <a:off x="1039368" y="4498848"/>
            <a:ext cx="16459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 dirty="0">
                <a:solidFill>
                  <a:srgbClr val="3B82F6"/>
                </a:solidFill>
                <a:latin typeface="Aptos"/>
              </a:rPr>
              <a:t>MARKS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ECA182-7737-8166-5BF4-6C93D7BA3A5B}"/>
              </a:ext>
            </a:extLst>
          </p:cNvPr>
          <p:cNvSpPr txBox="1"/>
          <p:nvPr/>
        </p:nvSpPr>
        <p:spPr>
          <a:xfrm>
            <a:off x="1039368" y="4773168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Consolas"/>
              </a:rPr>
              <a:t>40  55  70  30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0A0853-EE17-5855-7364-C6D4A372021E}"/>
              </a:ext>
            </a:extLst>
          </p:cNvPr>
          <p:cNvSpPr txBox="1"/>
          <p:nvPr/>
        </p:nvSpPr>
        <p:spPr>
          <a:xfrm>
            <a:off x="2895600" y="457200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6DE2B82-70B9-0FCB-7604-85C198790D4D}"/>
              </a:ext>
            </a:extLst>
          </p:cNvPr>
          <p:cNvSpPr/>
          <p:nvPr/>
        </p:nvSpPr>
        <p:spPr>
          <a:xfrm>
            <a:off x="3471672" y="4407408"/>
            <a:ext cx="2057400" cy="74980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1989FD-D8F6-C978-99E1-1EC9F63A1DC8}"/>
              </a:ext>
            </a:extLst>
          </p:cNvPr>
          <p:cNvSpPr txBox="1"/>
          <p:nvPr/>
        </p:nvSpPr>
        <p:spPr>
          <a:xfrm>
            <a:off x="3581400" y="4498848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7C3AED"/>
                </a:solidFill>
                <a:latin typeface="Aptos"/>
              </a:rPr>
              <a:t>CONDITION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3E805C-24BF-1841-0B0B-266246CB5E1A}"/>
              </a:ext>
            </a:extLst>
          </p:cNvPr>
          <p:cNvSpPr txBox="1"/>
          <p:nvPr/>
        </p:nvSpPr>
        <p:spPr>
          <a:xfrm>
            <a:off x="3581400" y="4773168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Consolas"/>
              </a:rPr>
              <a:t>score &gt;= 50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3A4F08-6700-0D35-39F0-64BD53D24D34}"/>
              </a:ext>
            </a:extLst>
          </p:cNvPr>
          <p:cNvSpPr txBox="1"/>
          <p:nvPr/>
        </p:nvSpPr>
        <p:spPr>
          <a:xfrm>
            <a:off x="5574792" y="4572000"/>
            <a:ext cx="548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06E0FEE-2DA1-5C87-7A67-774CD2A371B2}"/>
              </a:ext>
            </a:extLst>
          </p:cNvPr>
          <p:cNvSpPr/>
          <p:nvPr/>
        </p:nvSpPr>
        <p:spPr>
          <a:xfrm>
            <a:off x="6160008" y="4407408"/>
            <a:ext cx="2148840" cy="7498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D16892-5286-3217-FAB0-B002D72EABAD}"/>
              </a:ext>
            </a:extLst>
          </p:cNvPr>
          <p:cNvSpPr txBox="1"/>
          <p:nvPr/>
        </p:nvSpPr>
        <p:spPr>
          <a:xfrm>
            <a:off x="6269736" y="4498848"/>
            <a:ext cx="19202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16A34A"/>
                </a:solidFill>
                <a:latin typeface="Aptos"/>
              </a:rPr>
              <a:t>SELECTED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618FF7-AB0A-647A-B0F3-B226A6444B7A}"/>
              </a:ext>
            </a:extLst>
          </p:cNvPr>
          <p:cNvSpPr txBox="1"/>
          <p:nvPr/>
        </p:nvSpPr>
        <p:spPr>
          <a:xfrm>
            <a:off x="6269736" y="4773168"/>
            <a:ext cx="192024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Consolas"/>
              </a:rPr>
              <a:t>55  70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FF8632-422A-DAE1-8151-7DE9ED0E3CB4}"/>
              </a:ext>
            </a:extLst>
          </p:cNvPr>
          <p:cNvSpPr txBox="1"/>
          <p:nvPr/>
        </p:nvSpPr>
        <p:spPr>
          <a:xfrm>
            <a:off x="8628888" y="4407408"/>
            <a:ext cx="242316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F2937"/>
                </a:solidFill>
                <a:latin typeface="Aptos"/>
              </a:rPr>
              <a:t>Only values that return
True are kept.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D94D7D6-F816-C736-946D-407ABC56DF4A}"/>
              </a:ext>
            </a:extLst>
          </p:cNvPr>
          <p:cNvSpPr/>
          <p:nvPr/>
        </p:nvSpPr>
        <p:spPr>
          <a:xfrm>
            <a:off x="655320" y="5852160"/>
            <a:ext cx="10881360" cy="5303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127248-E2F7-55C1-4974-DBD66B66F358}"/>
              </a:ext>
            </a:extLst>
          </p:cNvPr>
          <p:cNvSpPr txBox="1"/>
          <p:nvPr/>
        </p:nvSpPr>
        <p:spPr>
          <a:xfrm>
            <a:off x="883920" y="5916168"/>
            <a:ext cx="10424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KEY IDEA: map() changes values • filter() selects values</a:t>
            </a:r>
          </a:p>
        </p:txBody>
      </p:sp>
    </p:spTree>
    <p:extLst>
      <p:ext uri="{BB962C8B-B14F-4D97-AF65-F5344CB8AC3E}">
        <p14:creationId xmlns:p14="http://schemas.microsoft.com/office/powerpoint/2010/main" val="1278619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0B1BD6-E9F4-4EA5-03D2-7BC5D9745038}"/>
              </a:ext>
            </a:extLst>
          </p:cNvPr>
          <p:cNvSpPr txBox="1"/>
          <p:nvPr/>
        </p:nvSpPr>
        <p:spPr>
          <a:xfrm>
            <a:off x="655320" y="466344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FILTER()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31DF7-1B01-314C-828D-B80B2A6C18C8}"/>
              </a:ext>
            </a:extLst>
          </p:cNvPr>
          <p:cNvSpPr txBox="1"/>
          <p:nvPr/>
        </p:nvSpPr>
        <p:spPr>
          <a:xfrm>
            <a:off x="655320" y="832104"/>
            <a:ext cx="82296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How Does filter() Work?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31EB8-CB61-FC8B-FEF1-3CC43777472C}"/>
              </a:ext>
            </a:extLst>
          </p:cNvPr>
          <p:cNvSpPr txBox="1"/>
          <p:nvPr/>
        </p:nvSpPr>
        <p:spPr>
          <a:xfrm>
            <a:off x="655320" y="1408176"/>
            <a:ext cx="9875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Understand the syntax, condition, and selection process.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5E80F8-6E14-257C-3283-3CE09BDEFE98}"/>
              </a:ext>
            </a:extLst>
          </p:cNvPr>
          <p:cNvSpPr/>
          <p:nvPr/>
        </p:nvSpPr>
        <p:spPr>
          <a:xfrm>
            <a:off x="655320" y="1956815"/>
            <a:ext cx="5074920" cy="1371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766DA-86A4-2494-F0CD-E1D16F2D095F}"/>
              </a:ext>
            </a:extLst>
          </p:cNvPr>
          <p:cNvSpPr txBox="1"/>
          <p:nvPr/>
        </p:nvSpPr>
        <p:spPr>
          <a:xfrm>
            <a:off x="911352" y="2139696"/>
            <a:ext cx="1463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BASIC SYNTAX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8BC8E-7FE7-C661-FB64-9781412B053C}"/>
              </a:ext>
            </a:extLst>
          </p:cNvPr>
          <p:cNvSpPr txBox="1"/>
          <p:nvPr/>
        </p:nvSpPr>
        <p:spPr>
          <a:xfrm>
            <a:off x="911352" y="2532888"/>
            <a:ext cx="4389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1">
                <a:solidFill>
                  <a:srgbClr val="1F2937"/>
                </a:solidFill>
                <a:latin typeface="Consolas"/>
              </a:rPr>
              <a:t>filter(function, iterable)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C335CEF-AA93-BCFB-E0BB-530104B02BF7}"/>
              </a:ext>
            </a:extLst>
          </p:cNvPr>
          <p:cNvSpPr/>
          <p:nvPr/>
        </p:nvSpPr>
        <p:spPr>
          <a:xfrm>
            <a:off x="5958840" y="1956815"/>
            <a:ext cx="5577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217056-4456-3A83-6109-C427FDA2A0EF}"/>
              </a:ext>
            </a:extLst>
          </p:cNvPr>
          <p:cNvSpPr txBox="1"/>
          <p:nvPr/>
        </p:nvSpPr>
        <p:spPr>
          <a:xfrm>
            <a:off x="6214872" y="2139696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EXPLAIN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9C717-0DA9-F763-AD2A-997D882AD4C3}"/>
              </a:ext>
            </a:extLst>
          </p:cNvPr>
          <p:cNvSpPr txBox="1"/>
          <p:nvPr/>
        </p:nvSpPr>
        <p:spPr>
          <a:xfrm>
            <a:off x="6214872" y="2478024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Consolas"/>
              </a:rPr>
              <a:t>function  →  What condition?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7BDEBE-9E0D-FA18-C0CD-328B2CF41B2B}"/>
              </a:ext>
            </a:extLst>
          </p:cNvPr>
          <p:cNvSpPr txBox="1"/>
          <p:nvPr/>
        </p:nvSpPr>
        <p:spPr>
          <a:xfrm>
            <a:off x="6214872" y="2843784"/>
            <a:ext cx="4983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Consolas"/>
              </a:rPr>
              <a:t>iterable  →  Which values?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102AF6-FC8E-A9D9-7CFC-57CBFBA2D499}"/>
              </a:ext>
            </a:extLst>
          </p:cNvPr>
          <p:cNvSpPr/>
          <p:nvPr/>
        </p:nvSpPr>
        <p:spPr>
          <a:xfrm>
            <a:off x="655320" y="3602736"/>
            <a:ext cx="10881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A1799-C3CA-0320-4790-295F7B787A3E}"/>
              </a:ext>
            </a:extLst>
          </p:cNvPr>
          <p:cNvSpPr txBox="1"/>
          <p:nvPr/>
        </p:nvSpPr>
        <p:spPr>
          <a:xfrm>
            <a:off x="911352" y="3785616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PROCESS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72C078D-40CE-5B09-2CAF-C4116A3B0F7E}"/>
              </a:ext>
            </a:extLst>
          </p:cNvPr>
          <p:cNvSpPr/>
          <p:nvPr/>
        </p:nvSpPr>
        <p:spPr>
          <a:xfrm>
            <a:off x="929640" y="4306824"/>
            <a:ext cx="201168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49AF9A-D7A9-3F7C-3835-D4A403793D67}"/>
              </a:ext>
            </a:extLst>
          </p:cNvPr>
          <p:cNvSpPr txBox="1"/>
          <p:nvPr/>
        </p:nvSpPr>
        <p:spPr>
          <a:xfrm>
            <a:off x="1039368" y="4398264"/>
            <a:ext cx="1783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3B82F6"/>
                </a:solidFill>
                <a:latin typeface="Aptos"/>
              </a:rPr>
              <a:t>INPUT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323016-029B-3DEA-E6C8-8A4A59E34181}"/>
              </a:ext>
            </a:extLst>
          </p:cNvPr>
          <p:cNvSpPr txBox="1"/>
          <p:nvPr/>
        </p:nvSpPr>
        <p:spPr>
          <a:xfrm>
            <a:off x="1039368" y="4690872"/>
            <a:ext cx="1783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F2937"/>
                </a:solidFill>
                <a:latin typeface="Consolas"/>
              </a:rPr>
              <a:t>[1, 2, 3, 4]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CCD507-9720-E1CF-33F0-39CB40278823}"/>
              </a:ext>
            </a:extLst>
          </p:cNvPr>
          <p:cNvSpPr txBox="1"/>
          <p:nvPr/>
        </p:nvSpPr>
        <p:spPr>
          <a:xfrm>
            <a:off x="3014472" y="4489704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5030A85-89A3-55C7-516B-CC3A9ECDF739}"/>
              </a:ext>
            </a:extLst>
          </p:cNvPr>
          <p:cNvSpPr/>
          <p:nvPr/>
        </p:nvSpPr>
        <p:spPr>
          <a:xfrm>
            <a:off x="3581400" y="4306824"/>
            <a:ext cx="210312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23FC50-220D-85F5-A4B7-1F704C651EE1}"/>
              </a:ext>
            </a:extLst>
          </p:cNvPr>
          <p:cNvSpPr txBox="1"/>
          <p:nvPr/>
        </p:nvSpPr>
        <p:spPr>
          <a:xfrm>
            <a:off x="3691127" y="4398264"/>
            <a:ext cx="1874519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7C3AED"/>
                </a:solidFill>
                <a:latin typeface="Aptos"/>
              </a:rPr>
              <a:t>CHECK CONDITION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69F83C-5584-0FDF-D323-BE14ABECA51A}"/>
              </a:ext>
            </a:extLst>
          </p:cNvPr>
          <p:cNvSpPr txBox="1"/>
          <p:nvPr/>
        </p:nvSpPr>
        <p:spPr>
          <a:xfrm>
            <a:off x="3691127" y="4690872"/>
            <a:ext cx="1874519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F2937"/>
                </a:solidFill>
                <a:latin typeface="Consolas"/>
              </a:rPr>
              <a:t>x % 2 ==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8B275D-8F10-9725-5656-BB2101DB093E}"/>
              </a:ext>
            </a:extLst>
          </p:cNvPr>
          <p:cNvSpPr txBox="1"/>
          <p:nvPr/>
        </p:nvSpPr>
        <p:spPr>
          <a:xfrm>
            <a:off x="5849112" y="4489704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6C286B7-46E6-BF9F-1464-051A9CEFCA61}"/>
              </a:ext>
            </a:extLst>
          </p:cNvPr>
          <p:cNvSpPr/>
          <p:nvPr/>
        </p:nvSpPr>
        <p:spPr>
          <a:xfrm>
            <a:off x="6416040" y="4123944"/>
            <a:ext cx="1325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00DE1F-2540-4C8B-E8C0-F5818F16997F}"/>
              </a:ext>
            </a:extLst>
          </p:cNvPr>
          <p:cNvSpPr txBox="1"/>
          <p:nvPr/>
        </p:nvSpPr>
        <p:spPr>
          <a:xfrm>
            <a:off x="6507480" y="4242816"/>
            <a:ext cx="1143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6B7280"/>
                </a:solidFill>
                <a:latin typeface="Aptos"/>
              </a:rPr>
              <a:t>RESULT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CBA22E-7F3D-D985-C317-3D1F1910B50C}"/>
              </a:ext>
            </a:extLst>
          </p:cNvPr>
          <p:cNvSpPr txBox="1"/>
          <p:nvPr/>
        </p:nvSpPr>
        <p:spPr>
          <a:xfrm>
            <a:off x="6507480" y="4544568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16A34A"/>
                </a:solidFill>
                <a:latin typeface="Aptos"/>
              </a:rPr>
              <a:t>True → Keep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54C212-07B0-973E-2A7F-B8596600FEF4}"/>
              </a:ext>
            </a:extLst>
          </p:cNvPr>
          <p:cNvSpPr txBox="1"/>
          <p:nvPr/>
        </p:nvSpPr>
        <p:spPr>
          <a:xfrm>
            <a:off x="6507480" y="4882896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100" b="1">
                <a:solidFill>
                  <a:srgbClr val="6B7280"/>
                </a:solidFill>
                <a:latin typeface="Aptos"/>
              </a:rPr>
              <a:t>False → Skip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85FCC2-2E2E-94E5-DDED-6FFD97E09293}"/>
              </a:ext>
            </a:extLst>
          </p:cNvPr>
          <p:cNvSpPr txBox="1"/>
          <p:nvPr/>
        </p:nvSpPr>
        <p:spPr>
          <a:xfrm>
            <a:off x="7860792" y="4489704"/>
            <a:ext cx="502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500" b="1">
                <a:solidFill>
                  <a:srgbClr val="3B82F6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62F7535-FCD3-D584-092D-95557249E7FA}"/>
              </a:ext>
            </a:extLst>
          </p:cNvPr>
          <p:cNvSpPr/>
          <p:nvPr/>
        </p:nvSpPr>
        <p:spPr>
          <a:xfrm>
            <a:off x="8427720" y="4306824"/>
            <a:ext cx="2057400" cy="8229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A27C26-6E40-32E4-AC1D-FD2B32574049}"/>
              </a:ext>
            </a:extLst>
          </p:cNvPr>
          <p:cNvSpPr txBox="1"/>
          <p:nvPr/>
        </p:nvSpPr>
        <p:spPr>
          <a:xfrm>
            <a:off x="8537448" y="4398264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00" b="1">
                <a:solidFill>
                  <a:srgbClr val="16A34A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4AF9AF-8381-02B8-1D2A-9AD8B3942D72}"/>
              </a:ext>
            </a:extLst>
          </p:cNvPr>
          <p:cNvSpPr txBox="1"/>
          <p:nvPr/>
        </p:nvSpPr>
        <p:spPr>
          <a:xfrm>
            <a:off x="8537448" y="4690872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F2937"/>
                </a:solidFill>
                <a:latin typeface="Consolas"/>
              </a:rPr>
              <a:t>[2, 4]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3CC9E6F-1AE0-9096-4FAE-5C3DA390151A}"/>
              </a:ext>
            </a:extLst>
          </p:cNvPr>
          <p:cNvSpPr/>
          <p:nvPr/>
        </p:nvSpPr>
        <p:spPr>
          <a:xfrm>
            <a:off x="655320" y="5888736"/>
            <a:ext cx="10881360" cy="5029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F983EA-2EDE-D11B-82D6-C52B22160D05}"/>
              </a:ext>
            </a:extLst>
          </p:cNvPr>
          <p:cNvSpPr txBox="1"/>
          <p:nvPr/>
        </p:nvSpPr>
        <p:spPr>
          <a:xfrm>
            <a:off x="883920" y="5952744"/>
            <a:ext cx="10424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KEY IDEA: filter() keeps an element only when the condition returns True.</a:t>
            </a:r>
          </a:p>
        </p:txBody>
      </p:sp>
    </p:spTree>
    <p:extLst>
      <p:ext uri="{BB962C8B-B14F-4D97-AF65-F5344CB8AC3E}">
        <p14:creationId xmlns:p14="http://schemas.microsoft.com/office/powerpoint/2010/main" val="1779900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BB42BA-3B05-2FEC-658A-9BED5A2D6DA6}"/>
              </a:ext>
            </a:extLst>
          </p:cNvPr>
          <p:cNvSpPr txBox="1"/>
          <p:nvPr/>
        </p:nvSpPr>
        <p:spPr>
          <a:xfrm>
            <a:off x="655320" y="534924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FILTER()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593E6-8B41-B64A-BE1C-3C53DB181CB8}"/>
              </a:ext>
            </a:extLst>
          </p:cNvPr>
          <p:cNvSpPr txBox="1"/>
          <p:nvPr/>
        </p:nvSpPr>
        <p:spPr>
          <a:xfrm>
            <a:off x="655320" y="900684"/>
            <a:ext cx="7772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Real-Life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2136E-B260-F15A-4DD0-EB8D1809BAAD}"/>
              </a:ext>
            </a:extLst>
          </p:cNvPr>
          <p:cNvSpPr txBox="1"/>
          <p:nvPr/>
        </p:nvSpPr>
        <p:spPr>
          <a:xfrm>
            <a:off x="655320" y="1476756"/>
            <a:ext cx="10058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Select only the products that are below ₹500.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54B119-1026-DC58-E3F3-02781DF5FD79}"/>
              </a:ext>
            </a:extLst>
          </p:cNvPr>
          <p:cNvSpPr/>
          <p:nvPr/>
        </p:nvSpPr>
        <p:spPr>
          <a:xfrm>
            <a:off x="655320" y="2025395"/>
            <a:ext cx="315468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D72770-C875-415C-F1F4-9FBBFEC659DF}"/>
              </a:ext>
            </a:extLst>
          </p:cNvPr>
          <p:cNvSpPr txBox="1"/>
          <p:nvPr/>
        </p:nvSpPr>
        <p:spPr>
          <a:xfrm>
            <a:off x="911352" y="2253996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800" b="1">
                <a:solidFill>
                  <a:srgbClr val="1F2937"/>
                </a:solidFill>
                <a:latin typeface="Aptos"/>
              </a:rPr>
              <a:t>🛒 Shopping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BCBD88-E662-430A-2D23-B25BA30ECDFD}"/>
              </a:ext>
            </a:extLst>
          </p:cNvPr>
          <p:cNvSpPr txBox="1"/>
          <p:nvPr/>
        </p:nvSpPr>
        <p:spPr>
          <a:xfrm>
            <a:off x="911352" y="2784348"/>
            <a:ext cx="2286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6B7280"/>
                </a:solidFill>
                <a:latin typeface="Aptos"/>
              </a:rPr>
              <a:t>Product prices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1D23A-FA21-31C7-0DAA-AA70DB0ED69B}"/>
              </a:ext>
            </a:extLst>
          </p:cNvPr>
          <p:cNvSpPr txBox="1"/>
          <p:nvPr/>
        </p:nvSpPr>
        <p:spPr>
          <a:xfrm>
            <a:off x="911352" y="3122676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>
                <a:solidFill>
                  <a:srgbClr val="1F2937"/>
                </a:solidFill>
                <a:latin typeface="Consolas"/>
              </a:rPr>
              <a:t>₹200   ₹750   ₹450   ₹1000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D8F38-8A18-323F-80A0-73140253F9AE}"/>
              </a:ext>
            </a:extLst>
          </p:cNvPr>
          <p:cNvSpPr txBox="1"/>
          <p:nvPr/>
        </p:nvSpPr>
        <p:spPr>
          <a:xfrm>
            <a:off x="911352" y="3717036"/>
            <a:ext cx="2377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Condition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6B08CF-31F0-31F4-018E-10863A8B5CB1}"/>
              </a:ext>
            </a:extLst>
          </p:cNvPr>
          <p:cNvSpPr/>
          <p:nvPr/>
        </p:nvSpPr>
        <p:spPr>
          <a:xfrm>
            <a:off x="911352" y="4064508"/>
            <a:ext cx="2423160" cy="5943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3B8F8-1B5B-E10D-F697-D4003128E8C2}"/>
              </a:ext>
            </a:extLst>
          </p:cNvPr>
          <p:cNvSpPr txBox="1"/>
          <p:nvPr/>
        </p:nvSpPr>
        <p:spPr>
          <a:xfrm>
            <a:off x="1021080" y="4165091"/>
            <a:ext cx="2194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>
                <a:solidFill>
                  <a:srgbClr val="7C3AED"/>
                </a:solidFill>
                <a:latin typeface="Consolas"/>
              </a:rPr>
              <a:t>price &lt; 500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C3F84-27E4-DE38-343C-F56F078178D0}"/>
              </a:ext>
            </a:extLst>
          </p:cNvPr>
          <p:cNvSpPr txBox="1"/>
          <p:nvPr/>
        </p:nvSpPr>
        <p:spPr>
          <a:xfrm>
            <a:off x="911352" y="4768596"/>
            <a:ext cx="24231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0">
                <a:solidFill>
                  <a:srgbClr val="6B7280"/>
                </a:solidFill>
                <a:latin typeface="Aptos"/>
              </a:rPr>
              <a:t>Keep matching prices only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1CF610-849B-AD31-6B1A-014982F1B025}"/>
              </a:ext>
            </a:extLst>
          </p:cNvPr>
          <p:cNvSpPr/>
          <p:nvPr/>
        </p:nvSpPr>
        <p:spPr>
          <a:xfrm>
            <a:off x="4056888" y="2025395"/>
            <a:ext cx="4343400" cy="3154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88988-020A-0262-81BA-23F0B42D4059}"/>
              </a:ext>
            </a:extLst>
          </p:cNvPr>
          <p:cNvSpPr txBox="1"/>
          <p:nvPr/>
        </p:nvSpPr>
        <p:spPr>
          <a:xfrm>
            <a:off x="4312920" y="2253996"/>
            <a:ext cx="1371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PYTHON CODE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80250-75BA-3333-612D-0AD3D7FF9A53}"/>
              </a:ext>
            </a:extLst>
          </p:cNvPr>
          <p:cNvSpPr txBox="1"/>
          <p:nvPr/>
        </p:nvSpPr>
        <p:spPr>
          <a:xfrm>
            <a:off x="4312920" y="2665476"/>
            <a:ext cx="3703320" cy="2011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0">
                <a:solidFill>
                  <a:srgbClr val="1F2937"/>
                </a:solidFill>
                <a:latin typeface="Consolas"/>
              </a:rPr>
              <a:t>prices = [200, 750, 450, 1000]
result = list(
    filter(lambda x: x &lt; 500, prices)
)
print(result)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3BFCDCC-9123-5007-2756-55EA8030D834}"/>
              </a:ext>
            </a:extLst>
          </p:cNvPr>
          <p:cNvSpPr/>
          <p:nvPr/>
        </p:nvSpPr>
        <p:spPr>
          <a:xfrm>
            <a:off x="8656320" y="2025395"/>
            <a:ext cx="288036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EE2178-3EB9-75F5-9317-A180AE55F706}"/>
              </a:ext>
            </a:extLst>
          </p:cNvPr>
          <p:cNvSpPr txBox="1"/>
          <p:nvPr/>
        </p:nvSpPr>
        <p:spPr>
          <a:xfrm>
            <a:off x="8903208" y="2253996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16A34A"/>
                </a:solidFill>
                <a:latin typeface="Aptos"/>
              </a:rPr>
              <a:t>RESULT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0A77639-1609-7327-E4B7-62AD9443F3A8}"/>
              </a:ext>
            </a:extLst>
          </p:cNvPr>
          <p:cNvSpPr/>
          <p:nvPr/>
        </p:nvSpPr>
        <p:spPr>
          <a:xfrm>
            <a:off x="8903208" y="2756916"/>
            <a:ext cx="2377440" cy="74980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B92A2-A601-C3D3-6731-76F7C34A12A1}"/>
              </a:ext>
            </a:extLst>
          </p:cNvPr>
          <p:cNvSpPr txBox="1"/>
          <p:nvPr/>
        </p:nvSpPr>
        <p:spPr>
          <a:xfrm>
            <a:off x="9012936" y="2958084"/>
            <a:ext cx="21488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900" b="1">
                <a:solidFill>
                  <a:srgbClr val="1F2937"/>
                </a:solidFill>
                <a:latin typeface="Consolas"/>
              </a:rPr>
              <a:t>[200, 450]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DAD434-32A2-B78C-0656-3067BE1CC144}"/>
              </a:ext>
            </a:extLst>
          </p:cNvPr>
          <p:cNvSpPr txBox="1"/>
          <p:nvPr/>
        </p:nvSpPr>
        <p:spPr>
          <a:xfrm>
            <a:off x="8903208" y="3762756"/>
            <a:ext cx="23774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>
                <a:solidFill>
                  <a:srgbClr val="7C3AED"/>
                </a:solidFill>
                <a:latin typeface="Aptos"/>
              </a:rPr>
              <a:t>Why?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FE29D3-C3E3-8679-1EE6-E06BEA41512A}"/>
              </a:ext>
            </a:extLst>
          </p:cNvPr>
          <p:cNvSpPr txBox="1"/>
          <p:nvPr/>
        </p:nvSpPr>
        <p:spPr>
          <a:xfrm>
            <a:off x="8903208" y="4128515"/>
            <a:ext cx="23774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0">
                <a:solidFill>
                  <a:srgbClr val="6B7280"/>
                </a:solidFill>
                <a:latin typeface="Consolas"/>
              </a:rPr>
              <a:t>200 &lt; 500 ✓
750 &lt; 500 ✗
450 &lt; 500 ✓
1000 &lt; 500 ✗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2D79F65-C58C-947B-C70F-14269D9F43F3}"/>
              </a:ext>
            </a:extLst>
          </p:cNvPr>
          <p:cNvSpPr/>
          <p:nvPr/>
        </p:nvSpPr>
        <p:spPr>
          <a:xfrm>
            <a:off x="655320" y="5500116"/>
            <a:ext cx="1088136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0A3503-6A39-4503-635B-F5E87BC5038C}"/>
              </a:ext>
            </a:extLst>
          </p:cNvPr>
          <p:cNvSpPr txBox="1"/>
          <p:nvPr/>
        </p:nvSpPr>
        <p:spPr>
          <a:xfrm>
            <a:off x="911352" y="5637276"/>
            <a:ext cx="12344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7C3AED"/>
                </a:solidFill>
                <a:latin typeface="Aptos"/>
              </a:rPr>
              <a:t>KEY IDEA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568CF7-8AFB-6DA7-AC07-DA591620D9B2}"/>
              </a:ext>
            </a:extLst>
          </p:cNvPr>
          <p:cNvSpPr txBox="1"/>
          <p:nvPr/>
        </p:nvSpPr>
        <p:spPr>
          <a:xfrm>
            <a:off x="1981200" y="5591556"/>
            <a:ext cx="90982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1F2937"/>
                </a:solidFill>
                <a:latin typeface="Aptos"/>
              </a:rPr>
              <a:t>filter() is useful when we need to select data based on a condition.</a:t>
            </a:r>
          </a:p>
        </p:txBody>
      </p:sp>
    </p:spTree>
    <p:extLst>
      <p:ext uri="{BB962C8B-B14F-4D97-AF65-F5344CB8AC3E}">
        <p14:creationId xmlns:p14="http://schemas.microsoft.com/office/powerpoint/2010/main" val="1161996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409789-8F64-FC31-C7CE-B62C41C018AB}"/>
              </a:ext>
            </a:extLst>
          </p:cNvPr>
          <p:cNvSpPr txBox="1"/>
          <p:nvPr/>
        </p:nvSpPr>
        <p:spPr>
          <a:xfrm>
            <a:off x="655320" y="484632"/>
            <a:ext cx="2560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FUNCTION COMPARISON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CA7F2-7F11-2E7E-ADAB-8C58CCC23A76}"/>
              </a:ext>
            </a:extLst>
          </p:cNvPr>
          <p:cNvSpPr txBox="1"/>
          <p:nvPr/>
        </p:nvSpPr>
        <p:spPr>
          <a:xfrm>
            <a:off x="655320" y="850392"/>
            <a:ext cx="8046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filter() vs map()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B18723-9A3D-21DC-97A4-85F805897229}"/>
              </a:ext>
            </a:extLst>
          </p:cNvPr>
          <p:cNvSpPr txBox="1"/>
          <p:nvPr/>
        </p:nvSpPr>
        <p:spPr>
          <a:xfrm>
            <a:off x="655320" y="1426464"/>
            <a:ext cx="9875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Both work with iterables, but they have different purposes.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59F242-5279-3CFA-5E74-5ECDB152CE55}"/>
              </a:ext>
            </a:extLst>
          </p:cNvPr>
          <p:cNvSpPr/>
          <p:nvPr/>
        </p:nvSpPr>
        <p:spPr>
          <a:xfrm>
            <a:off x="655320" y="2020824"/>
            <a:ext cx="5257800" cy="3246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FB06B-38F4-D1AE-4D59-A264F6FBAEEC}"/>
              </a:ext>
            </a:extLst>
          </p:cNvPr>
          <p:cNvSpPr txBox="1"/>
          <p:nvPr/>
        </p:nvSpPr>
        <p:spPr>
          <a:xfrm>
            <a:off x="929640" y="2276856"/>
            <a:ext cx="1188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>
                <a:solidFill>
                  <a:srgbClr val="3B82F6"/>
                </a:solidFill>
                <a:latin typeface="Aptos"/>
              </a:rPr>
              <a:t>map()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61D4CA-EE9F-2048-E0BF-2F2EEA4BA223}"/>
              </a:ext>
            </a:extLst>
          </p:cNvPr>
          <p:cNvSpPr txBox="1"/>
          <p:nvPr/>
        </p:nvSpPr>
        <p:spPr>
          <a:xfrm>
            <a:off x="929640" y="2734056"/>
            <a:ext cx="4480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Purpose: Change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80F29-4C13-028E-3F6E-A949B40E72D0}"/>
              </a:ext>
            </a:extLst>
          </p:cNvPr>
          <p:cNvSpPr txBox="1"/>
          <p:nvPr/>
        </p:nvSpPr>
        <p:spPr>
          <a:xfrm>
            <a:off x="929640" y="3163824"/>
            <a:ext cx="443484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Applies an operation to
every element.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4A3B008-8D5F-1561-82DA-B3B00FD3A9C6}"/>
              </a:ext>
            </a:extLst>
          </p:cNvPr>
          <p:cNvSpPr/>
          <p:nvPr/>
        </p:nvSpPr>
        <p:spPr>
          <a:xfrm>
            <a:off x="929640" y="3986784"/>
            <a:ext cx="45262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5BADC-5E97-BE83-E424-31EF542353BA}"/>
              </a:ext>
            </a:extLst>
          </p:cNvPr>
          <p:cNvSpPr txBox="1"/>
          <p:nvPr/>
        </p:nvSpPr>
        <p:spPr>
          <a:xfrm>
            <a:off x="1066800" y="4114799"/>
            <a:ext cx="42519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1F2937"/>
                </a:solidFill>
                <a:latin typeface="Consolas"/>
              </a:rPr>
              <a:t>[1, 2, 3]  →  [2, 4, 6]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C1BBBA-27CE-2AFA-553D-A90D96C00954}"/>
              </a:ext>
            </a:extLst>
          </p:cNvPr>
          <p:cNvSpPr txBox="1"/>
          <p:nvPr/>
        </p:nvSpPr>
        <p:spPr>
          <a:xfrm>
            <a:off x="929640" y="4837176"/>
            <a:ext cx="4480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3B82F6"/>
                </a:solidFill>
                <a:latin typeface="Aptos"/>
              </a:rPr>
              <a:t>Think: “Change every item”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61E3B8-A4CF-C489-2C2C-746373CCC212}"/>
              </a:ext>
            </a:extLst>
          </p:cNvPr>
          <p:cNvSpPr/>
          <p:nvPr/>
        </p:nvSpPr>
        <p:spPr>
          <a:xfrm>
            <a:off x="6187440" y="2020824"/>
            <a:ext cx="5349240" cy="32461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CB5A26-6694-351E-30A7-5F8073CFC898}"/>
              </a:ext>
            </a:extLst>
          </p:cNvPr>
          <p:cNvSpPr txBox="1"/>
          <p:nvPr/>
        </p:nvSpPr>
        <p:spPr>
          <a:xfrm>
            <a:off x="6461760" y="2276856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100" b="1">
                <a:solidFill>
                  <a:srgbClr val="7C3AED"/>
                </a:solidFill>
                <a:latin typeface="Aptos"/>
              </a:rPr>
              <a:t>filter()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DB8C55-3156-9B58-45C1-BAF34EE3F95A}"/>
              </a:ext>
            </a:extLst>
          </p:cNvPr>
          <p:cNvSpPr txBox="1"/>
          <p:nvPr/>
        </p:nvSpPr>
        <p:spPr>
          <a:xfrm>
            <a:off x="6461760" y="2734056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1">
                <a:solidFill>
                  <a:srgbClr val="1F2937"/>
                </a:solidFill>
                <a:latin typeface="Aptos"/>
              </a:rPr>
              <a:t>Purpose: Select values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2C0F3-7967-021B-ED10-375B4EFE202E}"/>
              </a:ext>
            </a:extLst>
          </p:cNvPr>
          <p:cNvSpPr txBox="1"/>
          <p:nvPr/>
        </p:nvSpPr>
        <p:spPr>
          <a:xfrm>
            <a:off x="6461760" y="3163824"/>
            <a:ext cx="45262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0">
                <a:solidFill>
                  <a:srgbClr val="6B7280"/>
                </a:solidFill>
                <a:latin typeface="Aptos"/>
              </a:rPr>
              <a:t>Keeps only elements that
match a condition.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A586899-E555-D56D-E0AD-1284B090367E}"/>
              </a:ext>
            </a:extLst>
          </p:cNvPr>
          <p:cNvSpPr/>
          <p:nvPr/>
        </p:nvSpPr>
        <p:spPr>
          <a:xfrm>
            <a:off x="6461760" y="3986784"/>
            <a:ext cx="46634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4D0D1C-902F-E32F-DFD0-B2CFC671541F}"/>
              </a:ext>
            </a:extLst>
          </p:cNvPr>
          <p:cNvSpPr txBox="1"/>
          <p:nvPr/>
        </p:nvSpPr>
        <p:spPr>
          <a:xfrm>
            <a:off x="6580632" y="4114799"/>
            <a:ext cx="44348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>
                <a:solidFill>
                  <a:srgbClr val="1F2937"/>
                </a:solidFill>
                <a:latin typeface="Consolas"/>
              </a:rPr>
              <a:t>[1, 2, 3, 4]  →  [2, 4]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05B767-9D45-C5AA-879D-9E48314F0AF8}"/>
              </a:ext>
            </a:extLst>
          </p:cNvPr>
          <p:cNvSpPr txBox="1"/>
          <p:nvPr/>
        </p:nvSpPr>
        <p:spPr>
          <a:xfrm>
            <a:off x="6461760" y="4837176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7C3AED"/>
                </a:solidFill>
                <a:latin typeface="Aptos"/>
              </a:rPr>
              <a:t>Think: “Keep required items”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D79FCC7-B2B2-FF8F-C810-A5664B884C5A}"/>
              </a:ext>
            </a:extLst>
          </p:cNvPr>
          <p:cNvSpPr/>
          <p:nvPr/>
        </p:nvSpPr>
        <p:spPr>
          <a:xfrm>
            <a:off x="655320" y="5568696"/>
            <a:ext cx="108813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661F8E-5CB5-6429-801F-8F2B0C4518BD}"/>
              </a:ext>
            </a:extLst>
          </p:cNvPr>
          <p:cNvSpPr txBox="1"/>
          <p:nvPr/>
        </p:nvSpPr>
        <p:spPr>
          <a:xfrm>
            <a:off x="911352" y="5660136"/>
            <a:ext cx="1143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QUICK GUIDE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122EE7-53D5-5EFC-7F6A-EA76E9C57E3D}"/>
              </a:ext>
            </a:extLst>
          </p:cNvPr>
          <p:cNvSpPr txBox="1"/>
          <p:nvPr/>
        </p:nvSpPr>
        <p:spPr>
          <a:xfrm>
            <a:off x="2164080" y="5623560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3B82F6"/>
                </a:solidFill>
                <a:latin typeface="Aptos"/>
              </a:rPr>
              <a:t>Need to change? → map()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DE021C-8CC8-0D38-D06A-0769CBD8A3B2}"/>
              </a:ext>
            </a:extLst>
          </p:cNvPr>
          <p:cNvSpPr txBox="1"/>
          <p:nvPr/>
        </p:nvSpPr>
        <p:spPr>
          <a:xfrm>
            <a:off x="5273040" y="5623560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Need to select? → filter()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C3A11A-AA8C-1652-BE76-0383A5CF75E6}"/>
              </a:ext>
            </a:extLst>
          </p:cNvPr>
          <p:cNvSpPr txBox="1"/>
          <p:nvPr/>
        </p:nvSpPr>
        <p:spPr>
          <a:xfrm>
            <a:off x="8382000" y="5623560"/>
            <a:ext cx="278892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00" b="1">
                <a:solidFill>
                  <a:srgbClr val="1F2937"/>
                </a:solidFill>
                <a:latin typeface="Aptos"/>
              </a:rPr>
              <a:t>Transform ≠ Select</a:t>
            </a:r>
          </a:p>
        </p:txBody>
      </p:sp>
    </p:spTree>
    <p:extLst>
      <p:ext uri="{BB962C8B-B14F-4D97-AF65-F5344CB8AC3E}">
        <p14:creationId xmlns:p14="http://schemas.microsoft.com/office/powerpoint/2010/main" val="3624503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29EE5E-9C27-8B1A-D71C-7D7BBA609ED5}"/>
              </a:ext>
            </a:extLst>
          </p:cNvPr>
          <p:cNvSpPr txBox="1"/>
          <p:nvPr/>
        </p:nvSpPr>
        <p:spPr>
          <a:xfrm>
            <a:off x="655320" y="466344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>
                <a:solidFill>
                  <a:srgbClr val="3B82F6"/>
                </a:solidFill>
                <a:latin typeface="Aptos"/>
              </a:rPr>
              <a:t>PYTHON • FILTER()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19DAC-53B2-AF9F-ADA0-2B19EBB75200}"/>
              </a:ext>
            </a:extLst>
          </p:cNvPr>
          <p:cNvSpPr txBox="1"/>
          <p:nvPr/>
        </p:nvSpPr>
        <p:spPr>
          <a:xfrm>
            <a:off x="655320" y="832104"/>
            <a:ext cx="7772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800" b="1">
                <a:solidFill>
                  <a:srgbClr val="1F2937"/>
                </a:solidFill>
                <a:latin typeface="Aptos"/>
              </a:rPr>
              <a:t>Important Rules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04709F-2716-0BDE-A88A-0253DD48C04C}"/>
              </a:ext>
            </a:extLst>
          </p:cNvPr>
          <p:cNvSpPr txBox="1"/>
          <p:nvPr/>
        </p:nvSpPr>
        <p:spPr>
          <a:xfrm>
            <a:off x="655320" y="1408176"/>
            <a:ext cx="9601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500" b="0">
                <a:solidFill>
                  <a:srgbClr val="6B7280"/>
                </a:solidFill>
                <a:latin typeface="Aptos"/>
              </a:rPr>
              <a:t>Rules to remember when using filter().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6847588-1B52-2ECC-1C0F-4EF882D1F703}"/>
              </a:ext>
            </a:extLst>
          </p:cNvPr>
          <p:cNvSpPr/>
          <p:nvPr/>
        </p:nvSpPr>
        <p:spPr>
          <a:xfrm>
            <a:off x="655320" y="1956815"/>
            <a:ext cx="5257800" cy="9875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08510B-D5F6-B141-FD71-1EB904A75140}"/>
              </a:ext>
            </a:extLst>
          </p:cNvPr>
          <p:cNvSpPr/>
          <p:nvPr/>
        </p:nvSpPr>
        <p:spPr>
          <a:xfrm>
            <a:off x="856487" y="2167127"/>
            <a:ext cx="530352" cy="53035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A33C54-7F4D-D8BE-51A0-DEEDF25CE21F}"/>
              </a:ext>
            </a:extLst>
          </p:cNvPr>
          <p:cNvSpPr txBox="1"/>
          <p:nvPr/>
        </p:nvSpPr>
        <p:spPr>
          <a:xfrm>
            <a:off x="856487" y="2203704"/>
            <a:ext cx="5303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B8A651-DD70-424A-E0E1-2A0B2CEEE264}"/>
              </a:ext>
            </a:extLst>
          </p:cNvPr>
          <p:cNvSpPr txBox="1"/>
          <p:nvPr/>
        </p:nvSpPr>
        <p:spPr>
          <a:xfrm>
            <a:off x="1588008" y="2084832"/>
            <a:ext cx="4069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A function is required.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37E769-5FBA-B50D-0D78-2818E0686A5B}"/>
              </a:ext>
            </a:extLst>
          </p:cNvPr>
          <p:cNvSpPr txBox="1"/>
          <p:nvPr/>
        </p:nvSpPr>
        <p:spPr>
          <a:xfrm>
            <a:off x="1588008" y="2432304"/>
            <a:ext cx="4069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>
                <a:solidFill>
                  <a:srgbClr val="6B7280"/>
                </a:solidFill>
                <a:latin typeface="Consolas"/>
              </a:rPr>
              <a:t>filter(function, iterable)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D9B132B-EF1A-EED0-2204-B0C2909DD3E5}"/>
              </a:ext>
            </a:extLst>
          </p:cNvPr>
          <p:cNvSpPr/>
          <p:nvPr/>
        </p:nvSpPr>
        <p:spPr>
          <a:xfrm>
            <a:off x="6278880" y="1956815"/>
            <a:ext cx="5257800" cy="9875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0D42E7A-E695-3DEB-3C73-551572E04779}"/>
              </a:ext>
            </a:extLst>
          </p:cNvPr>
          <p:cNvSpPr/>
          <p:nvPr/>
        </p:nvSpPr>
        <p:spPr>
          <a:xfrm>
            <a:off x="6480048" y="2167127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90851D-2A51-DA6C-4C30-91D0F64214AD}"/>
              </a:ext>
            </a:extLst>
          </p:cNvPr>
          <p:cNvSpPr txBox="1"/>
          <p:nvPr/>
        </p:nvSpPr>
        <p:spPr>
          <a:xfrm>
            <a:off x="6480048" y="2203704"/>
            <a:ext cx="5303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FC2006-D539-0766-3044-932F15EC3943}"/>
              </a:ext>
            </a:extLst>
          </p:cNvPr>
          <p:cNvSpPr txBox="1"/>
          <p:nvPr/>
        </p:nvSpPr>
        <p:spPr>
          <a:xfrm>
            <a:off x="7211568" y="2084832"/>
            <a:ext cx="4069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The function should return True or False.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493A5-098A-1218-C3A4-8CB870229C8E}"/>
              </a:ext>
            </a:extLst>
          </p:cNvPr>
          <p:cNvSpPr txBox="1"/>
          <p:nvPr/>
        </p:nvSpPr>
        <p:spPr>
          <a:xfrm>
            <a:off x="7211568" y="2432304"/>
            <a:ext cx="4069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>
                <a:solidFill>
                  <a:srgbClr val="6B7280"/>
                </a:solidFill>
                <a:latin typeface="Consolas"/>
              </a:rPr>
              <a:t>True → Keep  |  False → Skip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A85571E-F5CD-8C9B-8301-8AA19C0B85E9}"/>
              </a:ext>
            </a:extLst>
          </p:cNvPr>
          <p:cNvSpPr/>
          <p:nvPr/>
        </p:nvSpPr>
        <p:spPr>
          <a:xfrm>
            <a:off x="655320" y="3118104"/>
            <a:ext cx="5257800" cy="9875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86F9C7D-6696-2FF7-B7B1-FD6235097ADB}"/>
              </a:ext>
            </a:extLst>
          </p:cNvPr>
          <p:cNvSpPr/>
          <p:nvPr/>
        </p:nvSpPr>
        <p:spPr>
          <a:xfrm>
            <a:off x="856487" y="3328416"/>
            <a:ext cx="530352" cy="5303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4B5B1A-890B-EBE6-0D4A-740337CB39F6}"/>
              </a:ext>
            </a:extLst>
          </p:cNvPr>
          <p:cNvSpPr txBox="1"/>
          <p:nvPr/>
        </p:nvSpPr>
        <p:spPr>
          <a:xfrm>
            <a:off x="856487" y="3364992"/>
            <a:ext cx="5303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20867-6026-FDAA-6461-11A980FAF327}"/>
              </a:ext>
            </a:extLst>
          </p:cNvPr>
          <p:cNvSpPr txBox="1"/>
          <p:nvPr/>
        </p:nvSpPr>
        <p:spPr>
          <a:xfrm>
            <a:off x="1588008" y="3246120"/>
            <a:ext cx="4069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The condition is checked for every element.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6AEA4-174A-AD99-61A9-E46949CC4459}"/>
              </a:ext>
            </a:extLst>
          </p:cNvPr>
          <p:cNvSpPr txBox="1"/>
          <p:nvPr/>
        </p:nvSpPr>
        <p:spPr>
          <a:xfrm>
            <a:off x="1588008" y="3593592"/>
            <a:ext cx="4069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Each value is tested separately.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F9D8238-0E4B-FEBA-7730-E19CE11B1E1C}"/>
              </a:ext>
            </a:extLst>
          </p:cNvPr>
          <p:cNvSpPr/>
          <p:nvPr/>
        </p:nvSpPr>
        <p:spPr>
          <a:xfrm>
            <a:off x="6278880" y="3118104"/>
            <a:ext cx="5257800" cy="9875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90DD266-08BD-90FA-6FF3-2529FC338675}"/>
              </a:ext>
            </a:extLst>
          </p:cNvPr>
          <p:cNvSpPr/>
          <p:nvPr/>
        </p:nvSpPr>
        <p:spPr>
          <a:xfrm>
            <a:off x="6480048" y="3328416"/>
            <a:ext cx="530352" cy="530352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13B5D5-1AEC-A5E6-F1D9-DCD64BE54E4A}"/>
              </a:ext>
            </a:extLst>
          </p:cNvPr>
          <p:cNvSpPr txBox="1"/>
          <p:nvPr/>
        </p:nvSpPr>
        <p:spPr>
          <a:xfrm>
            <a:off x="6480048" y="3364992"/>
            <a:ext cx="5303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56504-605F-0131-8089-142A2A2367F0}"/>
              </a:ext>
            </a:extLst>
          </p:cNvPr>
          <p:cNvSpPr txBox="1"/>
          <p:nvPr/>
        </p:nvSpPr>
        <p:spPr>
          <a:xfrm>
            <a:off x="7211568" y="3246120"/>
            <a:ext cx="4069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lambda is optional.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BD4322-1A80-78D8-7DE0-11FE84F92B04}"/>
              </a:ext>
            </a:extLst>
          </p:cNvPr>
          <p:cNvSpPr txBox="1"/>
          <p:nvPr/>
        </p:nvSpPr>
        <p:spPr>
          <a:xfrm>
            <a:off x="7211568" y="3593592"/>
            <a:ext cx="4069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Use it for a short condition.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3334E26-3161-4739-5E31-F1ADA211E8B9}"/>
              </a:ext>
            </a:extLst>
          </p:cNvPr>
          <p:cNvSpPr/>
          <p:nvPr/>
        </p:nvSpPr>
        <p:spPr>
          <a:xfrm>
            <a:off x="655320" y="4279392"/>
            <a:ext cx="5257800" cy="9875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7E2DE87-1F5F-0A0F-C5D7-1546162D4C6A}"/>
              </a:ext>
            </a:extLst>
          </p:cNvPr>
          <p:cNvSpPr/>
          <p:nvPr/>
        </p:nvSpPr>
        <p:spPr>
          <a:xfrm>
            <a:off x="856487" y="4489704"/>
            <a:ext cx="530352" cy="53035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AFAFD0-73CC-D4F0-A272-8EBA60F9F324}"/>
              </a:ext>
            </a:extLst>
          </p:cNvPr>
          <p:cNvSpPr txBox="1"/>
          <p:nvPr/>
        </p:nvSpPr>
        <p:spPr>
          <a:xfrm>
            <a:off x="856487" y="4526279"/>
            <a:ext cx="5303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0165A6-089C-2FDB-F7ED-C365EAE7687B}"/>
              </a:ext>
            </a:extLst>
          </p:cNvPr>
          <p:cNvSpPr txBox="1"/>
          <p:nvPr/>
        </p:nvSpPr>
        <p:spPr>
          <a:xfrm>
            <a:off x="1588008" y="4407408"/>
            <a:ext cx="4069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list() can show the results as a list.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27D600-6A91-86BA-08B3-DAC10A6EB809}"/>
              </a:ext>
            </a:extLst>
          </p:cNvPr>
          <p:cNvSpPr txBox="1"/>
          <p:nvPr/>
        </p:nvSpPr>
        <p:spPr>
          <a:xfrm>
            <a:off x="1588008" y="4754879"/>
            <a:ext cx="4069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>
                <a:solidFill>
                  <a:srgbClr val="6B7280"/>
                </a:solidFill>
                <a:latin typeface="Consolas"/>
              </a:rPr>
              <a:t>list(filter(...))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2D6955B-FA0E-2FF7-B4F2-FD16B07F3405}"/>
              </a:ext>
            </a:extLst>
          </p:cNvPr>
          <p:cNvSpPr/>
          <p:nvPr/>
        </p:nvSpPr>
        <p:spPr>
          <a:xfrm>
            <a:off x="6278880" y="4279392"/>
            <a:ext cx="5257800" cy="987552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D0748AC-9E78-AD35-CCD5-BDD05A5974F8}"/>
              </a:ext>
            </a:extLst>
          </p:cNvPr>
          <p:cNvSpPr/>
          <p:nvPr/>
        </p:nvSpPr>
        <p:spPr>
          <a:xfrm>
            <a:off x="6480048" y="4489704"/>
            <a:ext cx="530352" cy="53035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A8F901-990E-AB83-D435-F6F016D1A250}"/>
              </a:ext>
            </a:extLst>
          </p:cNvPr>
          <p:cNvSpPr txBox="1"/>
          <p:nvPr/>
        </p:nvSpPr>
        <p:spPr>
          <a:xfrm>
            <a:off x="6480048" y="4526279"/>
            <a:ext cx="530352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818C5D-9820-24C5-CC34-B4A6CB16BCAB}"/>
              </a:ext>
            </a:extLst>
          </p:cNvPr>
          <p:cNvSpPr txBox="1"/>
          <p:nvPr/>
        </p:nvSpPr>
        <p:spPr>
          <a:xfrm>
            <a:off x="7211568" y="4407408"/>
            <a:ext cx="40690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00" b="1">
                <a:solidFill>
                  <a:srgbClr val="1F2937"/>
                </a:solidFill>
                <a:latin typeface="Aptos"/>
              </a:rPr>
              <a:t>Best suited for selection.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09C3D9-43A4-CC7A-96DD-572B679E6B21}"/>
              </a:ext>
            </a:extLst>
          </p:cNvPr>
          <p:cNvSpPr txBox="1"/>
          <p:nvPr/>
        </p:nvSpPr>
        <p:spPr>
          <a:xfrm>
            <a:off x="7211568" y="4754879"/>
            <a:ext cx="40690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50" b="0">
                <a:solidFill>
                  <a:srgbClr val="6B7280"/>
                </a:solidFill>
                <a:latin typeface="Aptos"/>
              </a:rPr>
              <a:t>Keep only the values you need.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4F61346-2309-CF96-7631-5026E2CBE0B0}"/>
              </a:ext>
            </a:extLst>
          </p:cNvPr>
          <p:cNvSpPr/>
          <p:nvPr/>
        </p:nvSpPr>
        <p:spPr>
          <a:xfrm>
            <a:off x="655320" y="5568696"/>
            <a:ext cx="108813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3FCBCC-A7AA-5CD2-B9D5-05EF1E9E48C3}"/>
              </a:ext>
            </a:extLst>
          </p:cNvPr>
          <p:cNvSpPr txBox="1"/>
          <p:nvPr/>
        </p:nvSpPr>
        <p:spPr>
          <a:xfrm>
            <a:off x="911352" y="5696712"/>
            <a:ext cx="10972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000" b="1">
                <a:solidFill>
                  <a:srgbClr val="3B82F6"/>
                </a:solidFill>
                <a:latin typeface="Aptos"/>
              </a:rPr>
              <a:t>KEY IDEA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AC26F9-C28C-08F2-089F-2731DC0061A4}"/>
              </a:ext>
            </a:extLst>
          </p:cNvPr>
          <p:cNvSpPr txBox="1"/>
          <p:nvPr/>
        </p:nvSpPr>
        <p:spPr>
          <a:xfrm>
            <a:off x="1981200" y="5641848"/>
            <a:ext cx="90982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300" b="1">
                <a:solidFill>
                  <a:srgbClr val="7C3AED"/>
                </a:solidFill>
                <a:latin typeface="Aptos"/>
              </a:rPr>
              <a:t>filter() checks a condition → keeps matching elements → returns the filtered result.</a:t>
            </a:r>
          </a:p>
        </p:txBody>
      </p:sp>
    </p:spTree>
    <p:extLst>
      <p:ext uri="{BB962C8B-B14F-4D97-AF65-F5344CB8AC3E}">
        <p14:creationId xmlns:p14="http://schemas.microsoft.com/office/powerpoint/2010/main" val="1831897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FA31AE-3922-0E0F-A4A5-571F0139FC3F}"/>
              </a:ext>
            </a:extLst>
          </p:cNvPr>
          <p:cNvSpPr/>
          <p:nvPr/>
        </p:nvSpPr>
        <p:spPr>
          <a:xfrm>
            <a:off x="641604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DA532-461A-BA9B-0EEA-3935B2187FE4}"/>
              </a:ext>
            </a:extLst>
          </p:cNvPr>
          <p:cNvSpPr txBox="1"/>
          <p:nvPr/>
        </p:nvSpPr>
        <p:spPr>
          <a:xfrm>
            <a:off x="1373124" y="5943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677487"/>
                </a:solidFill>
                <a:latin typeface="Aptos"/>
              </a:defRPr>
            </a:pPr>
            <a:r>
              <a:t>PYTHON • REDUCE()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44A3BC-DF98-1871-E76A-03A291D6136B}"/>
              </a:ext>
            </a:extLst>
          </p:cNvPr>
          <p:cNvSpPr txBox="1"/>
          <p:nvPr/>
        </p:nvSpPr>
        <p:spPr>
          <a:xfrm>
            <a:off x="1373124" y="1097280"/>
            <a:ext cx="176343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400" b="1">
                <a:solidFill>
                  <a:srgbClr val="232D3C"/>
                </a:solidFill>
                <a:latin typeface="Aptos Display"/>
              </a:defRPr>
            </a:pPr>
            <a:r>
              <a:rPr dirty="0"/>
              <a:t>reduce()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F8D84-5F5F-424F-4A70-8CA5636DC12B}"/>
              </a:ext>
            </a:extLst>
          </p:cNvPr>
          <p:cNvSpPr txBox="1"/>
          <p:nvPr/>
        </p:nvSpPr>
        <p:spPr>
          <a:xfrm>
            <a:off x="1391412" y="1783080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900" b="0">
                <a:solidFill>
                  <a:srgbClr val="4C5B6F"/>
                </a:solidFill>
                <a:latin typeface="Aptos"/>
              </a:defRPr>
            </a:pPr>
            <a:r>
              <a:t>reduce() combines multiple values step by step to produce one final result.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546F7B-7ABA-D1CB-3F2F-666A8DB803AE}"/>
              </a:ext>
            </a:extLst>
          </p:cNvPr>
          <p:cNvSpPr/>
          <p:nvPr/>
        </p:nvSpPr>
        <p:spPr>
          <a:xfrm>
            <a:off x="1391412" y="2743200"/>
            <a:ext cx="315468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79061A-44C3-85FF-8C4C-05B24EB3BCE9}"/>
              </a:ext>
            </a:extLst>
          </p:cNvPr>
          <p:cNvSpPr txBox="1"/>
          <p:nvPr/>
        </p:nvSpPr>
        <p:spPr>
          <a:xfrm>
            <a:off x="1592580" y="2999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445266"/>
                </a:solidFill>
                <a:latin typeface="Aptos"/>
              </a:defRPr>
            </a:pPr>
            <a:r>
              <a:t>Many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6FF13-32AC-6B64-CAEF-8039FA6AF6A2}"/>
              </a:ext>
            </a:extLst>
          </p:cNvPr>
          <p:cNvSpPr txBox="1"/>
          <p:nvPr/>
        </p:nvSpPr>
        <p:spPr>
          <a:xfrm>
            <a:off x="1592580" y="34930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00" b="1">
                <a:solidFill>
                  <a:srgbClr val="2D415A"/>
                </a:solidFill>
                <a:latin typeface="Consolas"/>
              </a:defRPr>
            </a:pPr>
            <a:r>
              <a:t>1   2   3   4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0B6A3-6A5A-3EAD-F6E4-9A1A5F144E5D}"/>
              </a:ext>
            </a:extLst>
          </p:cNvPr>
          <p:cNvSpPr txBox="1"/>
          <p:nvPr/>
        </p:nvSpPr>
        <p:spPr>
          <a:xfrm>
            <a:off x="1647444" y="4133087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6E7A8B"/>
                </a:solidFill>
                <a:latin typeface="Aptos"/>
              </a:defRPr>
            </a:pPr>
            <a:r>
              <a:t>Start with multiple values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8658B90-1422-4F78-9F7E-E33772DEAE28}"/>
              </a:ext>
            </a:extLst>
          </p:cNvPr>
          <p:cNvSpPr/>
          <p:nvPr/>
        </p:nvSpPr>
        <p:spPr>
          <a:xfrm>
            <a:off x="4893564" y="2743200"/>
            <a:ext cx="315468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DA83BE-2DC4-F8C3-F6BE-6A0070F4C2B7}"/>
              </a:ext>
            </a:extLst>
          </p:cNvPr>
          <p:cNvSpPr txBox="1"/>
          <p:nvPr/>
        </p:nvSpPr>
        <p:spPr>
          <a:xfrm>
            <a:off x="5094732" y="2999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445266"/>
                </a:solidFill>
                <a:latin typeface="Aptos"/>
              </a:defRPr>
            </a:pPr>
            <a:r>
              <a:t>Combine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98D761-E284-A722-F0A0-FB074EDC4087}"/>
              </a:ext>
            </a:extLst>
          </p:cNvPr>
          <p:cNvSpPr txBox="1"/>
          <p:nvPr/>
        </p:nvSpPr>
        <p:spPr>
          <a:xfrm>
            <a:off x="5094732" y="34930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00" b="1">
                <a:solidFill>
                  <a:srgbClr val="2D415A"/>
                </a:solidFill>
                <a:latin typeface="Consolas"/>
              </a:defRPr>
            </a:pPr>
            <a:r>
              <a:rPr dirty="0"/>
              <a:t>1 + 2 →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8ABD24-363F-699B-872F-DD881ADE7F01}"/>
              </a:ext>
            </a:extLst>
          </p:cNvPr>
          <p:cNvSpPr txBox="1"/>
          <p:nvPr/>
        </p:nvSpPr>
        <p:spPr>
          <a:xfrm>
            <a:off x="5149596" y="4133087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6E7A8B"/>
                </a:solidFill>
                <a:latin typeface="Aptos"/>
              </a:defRPr>
            </a:pPr>
            <a:r>
              <a:t>Combine values step by step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6F5F89-CFE8-343A-03ED-021D12529821}"/>
              </a:ext>
            </a:extLst>
          </p:cNvPr>
          <p:cNvSpPr/>
          <p:nvPr/>
        </p:nvSpPr>
        <p:spPr>
          <a:xfrm>
            <a:off x="8395716" y="2743200"/>
            <a:ext cx="315468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4EEC17-B5CB-1721-EA6E-742703A51D39}"/>
              </a:ext>
            </a:extLst>
          </p:cNvPr>
          <p:cNvSpPr txBox="1"/>
          <p:nvPr/>
        </p:nvSpPr>
        <p:spPr>
          <a:xfrm>
            <a:off x="8596884" y="2999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445266"/>
                </a:solidFill>
                <a:latin typeface="Aptos"/>
              </a:defRPr>
            </a:pPr>
            <a:r>
              <a:t>One result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6D9A5F-AFB0-5103-1EA9-8468E9EFED97}"/>
              </a:ext>
            </a:extLst>
          </p:cNvPr>
          <p:cNvSpPr txBox="1"/>
          <p:nvPr/>
        </p:nvSpPr>
        <p:spPr>
          <a:xfrm>
            <a:off x="8596884" y="3493008"/>
            <a:ext cx="2743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300" b="1">
                <a:solidFill>
                  <a:srgbClr val="2D415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641F75-FBC2-24EF-4072-0F0DAE496A8F}"/>
              </a:ext>
            </a:extLst>
          </p:cNvPr>
          <p:cNvSpPr txBox="1"/>
          <p:nvPr/>
        </p:nvSpPr>
        <p:spPr>
          <a:xfrm>
            <a:off x="8651748" y="4133087"/>
            <a:ext cx="2651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6E7A8B"/>
                </a:solidFill>
                <a:latin typeface="Aptos"/>
              </a:defRPr>
            </a:pPr>
            <a:r>
              <a:t>Get one final value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F0824C-2E14-6944-6A5C-B72B723414A1}"/>
              </a:ext>
            </a:extLst>
          </p:cNvPr>
          <p:cNvSpPr txBox="1"/>
          <p:nvPr/>
        </p:nvSpPr>
        <p:spPr>
          <a:xfrm>
            <a:off x="4463795" y="36118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 b="1">
                <a:solidFill>
                  <a:srgbClr val="7092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9C88F9-A501-6859-9038-B2CC08A5FAFC}"/>
              </a:ext>
            </a:extLst>
          </p:cNvPr>
          <p:cNvSpPr txBox="1"/>
          <p:nvPr/>
        </p:nvSpPr>
        <p:spPr>
          <a:xfrm>
            <a:off x="7965948" y="3611880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400" b="1">
                <a:solidFill>
                  <a:srgbClr val="7092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9CBBB45-E907-30D0-6AB0-F06A121236B8}"/>
              </a:ext>
            </a:extLst>
          </p:cNvPr>
          <p:cNvSpPr/>
          <p:nvPr/>
        </p:nvSpPr>
        <p:spPr>
          <a:xfrm>
            <a:off x="1391412" y="5349240"/>
            <a:ext cx="10149840" cy="749808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E94B9C-D27C-D599-3061-F52BFD2D3F95}"/>
              </a:ext>
            </a:extLst>
          </p:cNvPr>
          <p:cNvSpPr txBox="1"/>
          <p:nvPr/>
        </p:nvSpPr>
        <p:spPr>
          <a:xfrm>
            <a:off x="1601724" y="5504688"/>
            <a:ext cx="9738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3E4C5F"/>
                </a:solidFill>
                <a:latin typeface="Aptos"/>
              </a:defRPr>
            </a:pPr>
            <a:r>
              <a:t>Simple real-life example: Add several shopping prices → get one total amount.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1C7B1A-4777-9382-E1AB-E40709399493}"/>
              </a:ext>
            </a:extLst>
          </p:cNvPr>
          <p:cNvSpPr txBox="1"/>
          <p:nvPr/>
        </p:nvSpPr>
        <p:spPr>
          <a:xfrm>
            <a:off x="1391412" y="6355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828D9C"/>
                </a:solidFill>
                <a:latin typeface="Aptos"/>
              </a:defRPr>
            </a:pPr>
            <a:r>
              <a:t>Beginner-friendly concept</a:t>
            </a:r>
          </a:p>
        </p:txBody>
      </p:sp>
    </p:spTree>
    <p:extLst>
      <p:ext uri="{BB962C8B-B14F-4D97-AF65-F5344CB8AC3E}">
        <p14:creationId xmlns:p14="http://schemas.microsoft.com/office/powerpoint/2010/main" val="2237422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25BC91-5FF4-DC8B-ABF0-753C5FCC60F4}"/>
              </a:ext>
            </a:extLst>
          </p:cNvPr>
          <p:cNvSpPr/>
          <p:nvPr/>
        </p:nvSpPr>
        <p:spPr>
          <a:xfrm>
            <a:off x="609600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14D01-8025-9EB8-58C0-D7D90D0C60FD}"/>
              </a:ext>
            </a:extLst>
          </p:cNvPr>
          <p:cNvSpPr txBox="1"/>
          <p:nvPr/>
        </p:nvSpPr>
        <p:spPr>
          <a:xfrm>
            <a:off x="1341120" y="594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677487"/>
                </a:solidFill>
                <a:latin typeface="Aptos"/>
              </a:defRPr>
            </a:pPr>
            <a:r>
              <a:t>PYTHON • REDUCE()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01B33D-B6B2-10F7-43EE-8BF776FD5F5F}"/>
              </a:ext>
            </a:extLst>
          </p:cNvPr>
          <p:cNvSpPr txBox="1"/>
          <p:nvPr/>
        </p:nvSpPr>
        <p:spPr>
          <a:xfrm>
            <a:off x="1341120" y="1097280"/>
            <a:ext cx="311489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400" b="1">
                <a:solidFill>
                  <a:srgbClr val="232D3C"/>
                </a:solidFill>
                <a:latin typeface="Aptos Display"/>
              </a:defRPr>
            </a:pPr>
            <a:r>
              <a:rPr dirty="0"/>
              <a:t>reduce()</a:t>
            </a:r>
            <a:r>
              <a:rPr lang="en-IN" dirty="0"/>
              <a:t> Syntax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DBC742-27BA-DE4B-020C-0AEED6160818}"/>
              </a:ext>
            </a:extLst>
          </p:cNvPr>
          <p:cNvSpPr/>
          <p:nvPr/>
        </p:nvSpPr>
        <p:spPr>
          <a:xfrm>
            <a:off x="1359408" y="2514600"/>
            <a:ext cx="4800600" cy="2331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FCF55-5E1C-C9A0-5179-1820AFA27805}"/>
              </a:ext>
            </a:extLst>
          </p:cNvPr>
          <p:cNvSpPr txBox="1"/>
          <p:nvPr/>
        </p:nvSpPr>
        <p:spPr>
          <a:xfrm>
            <a:off x="1615440" y="2761488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445266"/>
                </a:solidFill>
                <a:latin typeface="Aptos"/>
              </a:defRPr>
            </a:pPr>
            <a:r>
              <a:t>Basic Syntax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104EFD-FDFA-42E8-EBC6-3F748B8D629D}"/>
              </a:ext>
            </a:extLst>
          </p:cNvPr>
          <p:cNvSpPr txBox="1"/>
          <p:nvPr/>
        </p:nvSpPr>
        <p:spPr>
          <a:xfrm>
            <a:off x="1633728" y="3310128"/>
            <a:ext cx="4251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00" b="1">
                <a:solidFill>
                  <a:srgbClr val="2D415A"/>
                </a:solidFill>
                <a:latin typeface="Consolas"/>
              </a:defRPr>
            </a:pPr>
            <a:r>
              <a:t>reduce(function, iterable)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A2698E-5896-9510-BC9A-8D60A6644A4A}"/>
              </a:ext>
            </a:extLst>
          </p:cNvPr>
          <p:cNvSpPr/>
          <p:nvPr/>
        </p:nvSpPr>
        <p:spPr>
          <a:xfrm>
            <a:off x="6507480" y="2514600"/>
            <a:ext cx="5074920" cy="233172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0B43E7-D35A-1D58-BF33-F7D3E4FD367A}"/>
              </a:ext>
            </a:extLst>
          </p:cNvPr>
          <p:cNvSpPr txBox="1"/>
          <p:nvPr/>
        </p:nvSpPr>
        <p:spPr>
          <a:xfrm>
            <a:off x="6809232" y="277063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1">
                <a:solidFill>
                  <a:srgbClr val="445266"/>
                </a:solidFill>
                <a:latin typeface="Aptos"/>
              </a:defRPr>
            </a:pPr>
            <a:r>
              <a:t>What do the parts mean?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CDA62-82A3-1404-E28D-E501CC71906B}"/>
              </a:ext>
            </a:extLst>
          </p:cNvPr>
          <p:cNvSpPr txBox="1"/>
          <p:nvPr/>
        </p:nvSpPr>
        <p:spPr>
          <a:xfrm>
            <a:off x="6845808" y="3310128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46678C"/>
                </a:solidFill>
                <a:latin typeface="Consolas"/>
              </a:defRPr>
            </a:pPr>
            <a: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7E4F5-F22D-B5AB-650B-C305EC72EFF6}"/>
              </a:ext>
            </a:extLst>
          </p:cNvPr>
          <p:cNvSpPr txBox="1"/>
          <p:nvPr/>
        </p:nvSpPr>
        <p:spPr>
          <a:xfrm>
            <a:off x="8336279" y="3310128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0">
                <a:solidFill>
                  <a:srgbClr val="3E4C5F"/>
                </a:solidFill>
                <a:latin typeface="Aptos"/>
              </a:defRPr>
            </a:pPr>
            <a:r>
              <a:t>→ How to combine?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22CDD5-4AED-1279-DD81-A9F2046986E8}"/>
              </a:ext>
            </a:extLst>
          </p:cNvPr>
          <p:cNvSpPr txBox="1"/>
          <p:nvPr/>
        </p:nvSpPr>
        <p:spPr>
          <a:xfrm>
            <a:off x="6845808" y="3913632"/>
            <a:ext cx="1417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46678C"/>
                </a:solidFill>
                <a:latin typeface="Consolas"/>
              </a:defRPr>
            </a:pPr>
            <a:r>
              <a:t>iterable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81CBA8-C609-2F3D-48EC-BF9F42067B1B}"/>
              </a:ext>
            </a:extLst>
          </p:cNvPr>
          <p:cNvSpPr txBox="1"/>
          <p:nvPr/>
        </p:nvSpPr>
        <p:spPr>
          <a:xfrm>
            <a:off x="8336279" y="3913632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600" b="0">
                <a:solidFill>
                  <a:srgbClr val="3E4C5F"/>
                </a:solidFill>
                <a:latin typeface="Aptos"/>
              </a:defRPr>
            </a:pPr>
            <a:r>
              <a:t>→ Which values?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9C83FEC-2C52-FFFD-15DB-B06D875F92E4}"/>
              </a:ext>
            </a:extLst>
          </p:cNvPr>
          <p:cNvSpPr/>
          <p:nvPr/>
        </p:nvSpPr>
        <p:spPr>
          <a:xfrm>
            <a:off x="1359408" y="5257800"/>
            <a:ext cx="10222992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0F10AB-3EF8-7DBA-3326-F66CE73A07E9}"/>
              </a:ext>
            </a:extLst>
          </p:cNvPr>
          <p:cNvSpPr txBox="1"/>
          <p:nvPr/>
        </p:nvSpPr>
        <p:spPr>
          <a:xfrm>
            <a:off x="1569720" y="5458968"/>
            <a:ext cx="9784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2D415A"/>
                </a:solidFill>
                <a:latin typeface="Aptos"/>
              </a:defRPr>
            </a:pPr>
            <a:r>
              <a:t>Values  →  Apply function  →  Combine  →  One final result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318E00-07E6-9AA5-6B66-4ED32C353278}"/>
              </a:ext>
            </a:extLst>
          </p:cNvPr>
          <p:cNvSpPr txBox="1"/>
          <p:nvPr/>
        </p:nvSpPr>
        <p:spPr>
          <a:xfrm>
            <a:off x="1359408" y="635508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828D9C"/>
                </a:solidFill>
                <a:latin typeface="Aptos"/>
              </a:defRPr>
            </a:pPr>
            <a:r>
              <a:t>Think: combine step by step</a:t>
            </a:r>
          </a:p>
        </p:txBody>
      </p:sp>
    </p:spTree>
    <p:extLst>
      <p:ext uri="{BB962C8B-B14F-4D97-AF65-F5344CB8AC3E}">
        <p14:creationId xmlns:p14="http://schemas.microsoft.com/office/powerpoint/2010/main" val="3008619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A00BD9-E4FC-38B4-14BE-DFF5ECC44001}"/>
              </a:ext>
            </a:extLst>
          </p:cNvPr>
          <p:cNvSpPr/>
          <p:nvPr/>
        </p:nvSpPr>
        <p:spPr>
          <a:xfrm>
            <a:off x="609600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E95BB-97F8-EFB3-51E4-FC03404E84F9}"/>
              </a:ext>
            </a:extLst>
          </p:cNvPr>
          <p:cNvSpPr txBox="1"/>
          <p:nvPr/>
        </p:nvSpPr>
        <p:spPr>
          <a:xfrm>
            <a:off x="1341120" y="594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677487"/>
                </a:solidFill>
                <a:latin typeface="Aptos"/>
              </a:defRPr>
            </a:pPr>
            <a:r>
              <a:t>PYTHON • REDUCE()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67CCD-4FD2-14E5-3C61-4209E006AB50}"/>
              </a:ext>
            </a:extLst>
          </p:cNvPr>
          <p:cNvSpPr txBox="1"/>
          <p:nvPr/>
        </p:nvSpPr>
        <p:spPr>
          <a:xfrm>
            <a:off x="1341120" y="10972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400" b="1">
                <a:solidFill>
                  <a:srgbClr val="232D3C"/>
                </a:solidFill>
                <a:latin typeface="Aptos Display"/>
              </a:defRPr>
            </a:pPr>
            <a:r>
              <a:t>How Reduction Happens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59D1F-7CFE-DDCF-74DD-3083EAFF3F9C}"/>
              </a:ext>
            </a:extLst>
          </p:cNvPr>
          <p:cNvSpPr txBox="1"/>
          <p:nvPr/>
        </p:nvSpPr>
        <p:spPr>
          <a:xfrm>
            <a:off x="1359408" y="175564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4C5B6F"/>
                </a:solidFill>
                <a:latin typeface="Aptos"/>
              </a:defRPr>
            </a:pPr>
            <a:r>
              <a:t>reduce() combines two values at a time and carries the result forward.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8F4012-A606-AE6F-0D84-337BAAFD1913}"/>
              </a:ext>
            </a:extLst>
          </p:cNvPr>
          <p:cNvSpPr/>
          <p:nvPr/>
        </p:nvSpPr>
        <p:spPr>
          <a:xfrm>
            <a:off x="1359408" y="2514600"/>
            <a:ext cx="10222992" cy="28803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BE4393-E581-BB3B-E82D-4E11B045B54D}"/>
              </a:ext>
            </a:extLst>
          </p:cNvPr>
          <p:cNvSpPr txBox="1"/>
          <p:nvPr/>
        </p:nvSpPr>
        <p:spPr>
          <a:xfrm>
            <a:off x="1615440" y="27432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445266"/>
                </a:solidFill>
                <a:latin typeface="Consolas"/>
              </a:defRPr>
            </a:pPr>
            <a:r>
              <a:t>Example: reduce(lambda x, y: x + y, [1, 2, 3, 4])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1FF14A-5C09-11F1-3665-CF77CC70B7CD}"/>
              </a:ext>
            </a:extLst>
          </p:cNvPr>
          <p:cNvSpPr/>
          <p:nvPr/>
        </p:nvSpPr>
        <p:spPr>
          <a:xfrm>
            <a:off x="1752600" y="3401568"/>
            <a:ext cx="242316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3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92C91-7A8B-7C9F-F20A-8916520CB648}"/>
              </a:ext>
            </a:extLst>
          </p:cNvPr>
          <p:cNvSpPr txBox="1"/>
          <p:nvPr/>
        </p:nvSpPr>
        <p:spPr>
          <a:xfrm>
            <a:off x="1889760" y="354787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677487"/>
                </a:solidFill>
                <a:latin typeface="Aptos"/>
              </a:defRPr>
            </a:pPr>
            <a:r>
              <a:t>Step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FF24C1-DF0B-6A53-B3EF-1C6D8FCFFAAB}"/>
              </a:ext>
            </a:extLst>
          </p:cNvPr>
          <p:cNvSpPr txBox="1"/>
          <p:nvPr/>
        </p:nvSpPr>
        <p:spPr>
          <a:xfrm>
            <a:off x="1889760" y="3840480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2D415A"/>
                </a:solidFill>
                <a:latin typeface="Consolas"/>
              </a:defRPr>
            </a:pPr>
            <a:r>
              <a:t>1 + 2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42D126-1B40-F92B-AEAE-884841D2993C}"/>
              </a:ext>
            </a:extLst>
          </p:cNvPr>
          <p:cNvSpPr txBox="1"/>
          <p:nvPr/>
        </p:nvSpPr>
        <p:spPr>
          <a:xfrm>
            <a:off x="1889760" y="42245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Consolas"/>
              </a:defRPr>
            </a:pPr>
            <a:r>
              <a:t>→ 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FD959F-10BA-310B-7333-095154321E60}"/>
              </a:ext>
            </a:extLst>
          </p:cNvPr>
          <p:cNvSpPr/>
          <p:nvPr/>
        </p:nvSpPr>
        <p:spPr>
          <a:xfrm>
            <a:off x="4861560" y="3401568"/>
            <a:ext cx="242316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3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42AA8F-DDA7-BA02-60A4-713D156683D7}"/>
              </a:ext>
            </a:extLst>
          </p:cNvPr>
          <p:cNvSpPr txBox="1"/>
          <p:nvPr/>
        </p:nvSpPr>
        <p:spPr>
          <a:xfrm>
            <a:off x="4998720" y="354787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677487"/>
                </a:solidFill>
                <a:latin typeface="Aptos"/>
              </a:defRPr>
            </a:pPr>
            <a:r>
              <a:t>Step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5F654-683E-0DD8-8653-CCE489F635C6}"/>
              </a:ext>
            </a:extLst>
          </p:cNvPr>
          <p:cNvSpPr txBox="1"/>
          <p:nvPr/>
        </p:nvSpPr>
        <p:spPr>
          <a:xfrm>
            <a:off x="4998720" y="3840480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2D415A"/>
                </a:solidFill>
                <a:latin typeface="Consolas"/>
              </a:defRPr>
            </a:pPr>
            <a:r>
              <a:t>3 + 3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FE4474-94FD-9D0E-D349-5941CBC88F8E}"/>
              </a:ext>
            </a:extLst>
          </p:cNvPr>
          <p:cNvSpPr txBox="1"/>
          <p:nvPr/>
        </p:nvSpPr>
        <p:spPr>
          <a:xfrm>
            <a:off x="4998720" y="42245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Consolas"/>
              </a:defRPr>
            </a:pPr>
            <a:r>
              <a:t>→ 6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8865157-5E57-D990-4660-5E505902527A}"/>
              </a:ext>
            </a:extLst>
          </p:cNvPr>
          <p:cNvSpPr/>
          <p:nvPr/>
        </p:nvSpPr>
        <p:spPr>
          <a:xfrm>
            <a:off x="7970520" y="3401568"/>
            <a:ext cx="2423160" cy="1325880"/>
          </a:xfrm>
          <a:prstGeom prst="roundRect">
            <a:avLst/>
          </a:prstGeom>
          <a:solidFill>
            <a:srgbClr val="EBF2FA"/>
          </a:solidFill>
          <a:ln>
            <a:solidFill>
              <a:srgbClr val="D3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C971B-DF9F-08DD-BF22-36DD341D4CF4}"/>
              </a:ext>
            </a:extLst>
          </p:cNvPr>
          <p:cNvSpPr txBox="1"/>
          <p:nvPr/>
        </p:nvSpPr>
        <p:spPr>
          <a:xfrm>
            <a:off x="8107680" y="354787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1">
                <a:solidFill>
                  <a:srgbClr val="677487"/>
                </a:solidFill>
                <a:latin typeface="Aptos"/>
              </a:defRPr>
            </a:pPr>
            <a:r>
              <a:t>Step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FDD69D-0320-C6E6-2F11-06956C4EE0DB}"/>
              </a:ext>
            </a:extLst>
          </p:cNvPr>
          <p:cNvSpPr txBox="1"/>
          <p:nvPr/>
        </p:nvSpPr>
        <p:spPr>
          <a:xfrm>
            <a:off x="8107680" y="3840480"/>
            <a:ext cx="21488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2D415A"/>
                </a:solidFill>
                <a:latin typeface="Consolas"/>
              </a:defRPr>
            </a:pPr>
            <a:r>
              <a:t>6 + 4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EBC0B-EDD4-EFD9-405F-2EDEA75EC1AC}"/>
              </a:ext>
            </a:extLst>
          </p:cNvPr>
          <p:cNvSpPr txBox="1"/>
          <p:nvPr/>
        </p:nvSpPr>
        <p:spPr>
          <a:xfrm>
            <a:off x="8107680" y="4224528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Consolas"/>
              </a:defRPr>
            </a:pPr>
            <a:r>
              <a:t>→ 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1C37CB-F7DB-E258-859E-B00F4E2DA0B1}"/>
              </a:ext>
            </a:extLst>
          </p:cNvPr>
          <p:cNvSpPr txBox="1"/>
          <p:nvPr/>
        </p:nvSpPr>
        <p:spPr>
          <a:xfrm>
            <a:off x="4294632" y="3840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solidFill>
                  <a:srgbClr val="7092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D463DC-F440-0267-1A2A-EA731060C7AE}"/>
              </a:ext>
            </a:extLst>
          </p:cNvPr>
          <p:cNvSpPr txBox="1"/>
          <p:nvPr/>
        </p:nvSpPr>
        <p:spPr>
          <a:xfrm>
            <a:off x="7403592" y="38404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solidFill>
                  <a:srgbClr val="7092B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5C7EEB-6CA5-EC79-2C83-0212139648C2}"/>
              </a:ext>
            </a:extLst>
          </p:cNvPr>
          <p:cNvSpPr txBox="1"/>
          <p:nvPr/>
        </p:nvSpPr>
        <p:spPr>
          <a:xfrm>
            <a:off x="1661160" y="5010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2D415A"/>
                </a:solidFill>
                <a:latin typeface="Consolas"/>
              </a:defRPr>
            </a:pPr>
            <a:r>
              <a:t>Final result = 10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87EED3-B336-DE3B-6D93-4150C58F41C0}"/>
              </a:ext>
            </a:extLst>
          </p:cNvPr>
          <p:cNvSpPr txBox="1"/>
          <p:nvPr/>
        </p:nvSpPr>
        <p:spPr>
          <a:xfrm>
            <a:off x="1359408" y="635508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828D9C"/>
                </a:solidFill>
                <a:latin typeface="Aptos"/>
              </a:defRPr>
            </a:pPr>
            <a:r>
              <a:t>Combine → carry forward → combine again</a:t>
            </a:r>
          </a:p>
        </p:txBody>
      </p:sp>
    </p:spTree>
    <p:extLst>
      <p:ext uri="{BB962C8B-B14F-4D97-AF65-F5344CB8AC3E}">
        <p14:creationId xmlns:p14="http://schemas.microsoft.com/office/powerpoint/2010/main" val="752865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5E329E-9DD2-7546-7A0C-C059B2EDF86C}"/>
              </a:ext>
            </a:extLst>
          </p:cNvPr>
          <p:cNvSpPr/>
          <p:nvPr/>
        </p:nvSpPr>
        <p:spPr>
          <a:xfrm>
            <a:off x="609600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5A84B-3AB5-7ED9-5A80-BF1A1832B1E5}"/>
              </a:ext>
            </a:extLst>
          </p:cNvPr>
          <p:cNvSpPr txBox="1"/>
          <p:nvPr/>
        </p:nvSpPr>
        <p:spPr>
          <a:xfrm>
            <a:off x="1341120" y="594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677487"/>
                </a:solidFill>
                <a:latin typeface="Aptos"/>
              </a:defRPr>
            </a:pPr>
            <a:r>
              <a:t>PYTHON • REDUCE()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C36AB-9E5B-C7D8-99C0-6319B654221D}"/>
              </a:ext>
            </a:extLst>
          </p:cNvPr>
          <p:cNvSpPr txBox="1"/>
          <p:nvPr/>
        </p:nvSpPr>
        <p:spPr>
          <a:xfrm>
            <a:off x="1341120" y="1097280"/>
            <a:ext cx="7132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400" b="1">
                <a:solidFill>
                  <a:srgbClr val="232D3C"/>
                </a:solidFill>
                <a:latin typeface="Aptos Display"/>
              </a:defRPr>
            </a:pPr>
            <a:r>
              <a:t>Real-Life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5E6E47-7405-9713-F02C-C21BBA4DA801}"/>
              </a:ext>
            </a:extLst>
          </p:cNvPr>
          <p:cNvSpPr txBox="1"/>
          <p:nvPr/>
        </p:nvSpPr>
        <p:spPr>
          <a:xfrm>
            <a:off x="1359408" y="1755648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4C5B6F"/>
                </a:solidFill>
                <a:latin typeface="Aptos"/>
              </a:defRPr>
            </a:pPr>
            <a:r>
              <a:t>Shopping cart total — combine all prices into one final amount.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F19BD0-189E-41BC-EBAB-E2B1B0F09F57}"/>
              </a:ext>
            </a:extLst>
          </p:cNvPr>
          <p:cNvSpPr/>
          <p:nvPr/>
        </p:nvSpPr>
        <p:spPr>
          <a:xfrm>
            <a:off x="1359408" y="2514600"/>
            <a:ext cx="470916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5F757-EFBC-90BD-F907-42967ABFC7F6}"/>
              </a:ext>
            </a:extLst>
          </p:cNvPr>
          <p:cNvSpPr txBox="1"/>
          <p:nvPr/>
        </p:nvSpPr>
        <p:spPr>
          <a:xfrm>
            <a:off x="1615440" y="2761488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700" b="1">
                <a:solidFill>
                  <a:srgbClr val="445266"/>
                </a:solidFill>
                <a:latin typeface="Aptos"/>
              </a:defRPr>
            </a:pPr>
            <a:r>
              <a:t>Shopping Cart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000F2-3C37-8934-7151-3688AA0A6EFA}"/>
              </a:ext>
            </a:extLst>
          </p:cNvPr>
          <p:cNvSpPr txBox="1"/>
          <p:nvPr/>
        </p:nvSpPr>
        <p:spPr>
          <a:xfrm>
            <a:off x="1752600" y="3310128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4C5B6F"/>
                </a:solidFill>
                <a:latin typeface="Aptos"/>
              </a:defRPr>
            </a:pPr>
            <a:r>
              <a:t>Item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39BD24-DE00-CD6F-F041-324269F509E5}"/>
              </a:ext>
            </a:extLst>
          </p:cNvPr>
          <p:cNvSpPr txBox="1"/>
          <p:nvPr/>
        </p:nvSpPr>
        <p:spPr>
          <a:xfrm>
            <a:off x="3855720" y="3310128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600" b="1">
                <a:solidFill>
                  <a:srgbClr val="2D415A"/>
                </a:solidFill>
                <a:latin typeface="Consolas"/>
              </a:defRPr>
            </a:pPr>
            <a:r>
              <a:t>₹100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F89430-D9A5-778E-9392-2CF430C5951D}"/>
              </a:ext>
            </a:extLst>
          </p:cNvPr>
          <p:cNvSpPr txBox="1"/>
          <p:nvPr/>
        </p:nvSpPr>
        <p:spPr>
          <a:xfrm>
            <a:off x="1752600" y="3822191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4C5B6F"/>
                </a:solidFill>
                <a:latin typeface="Aptos"/>
              </a:defRPr>
            </a:pPr>
            <a:r>
              <a:t>Item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8018D7-CD53-F8A1-0EB3-690F322848BC}"/>
              </a:ext>
            </a:extLst>
          </p:cNvPr>
          <p:cNvSpPr txBox="1"/>
          <p:nvPr/>
        </p:nvSpPr>
        <p:spPr>
          <a:xfrm>
            <a:off x="3855720" y="3822191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600" b="1">
                <a:solidFill>
                  <a:srgbClr val="2D415A"/>
                </a:solidFill>
                <a:latin typeface="Consolas"/>
              </a:defRPr>
            </a:pPr>
            <a:r>
              <a:t>₹200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0B94CC-8E40-7E0C-42CE-2A6DF02E353E}"/>
              </a:ext>
            </a:extLst>
          </p:cNvPr>
          <p:cNvSpPr txBox="1"/>
          <p:nvPr/>
        </p:nvSpPr>
        <p:spPr>
          <a:xfrm>
            <a:off x="1752600" y="4334256"/>
            <a:ext cx="2011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4C5B6F"/>
                </a:solidFill>
                <a:latin typeface="Aptos"/>
              </a:defRPr>
            </a:pPr>
            <a:r>
              <a:t>Item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6B76A-4EB7-DDA1-4A1A-5CE692FE8E85}"/>
              </a:ext>
            </a:extLst>
          </p:cNvPr>
          <p:cNvSpPr txBox="1"/>
          <p:nvPr/>
        </p:nvSpPr>
        <p:spPr>
          <a:xfrm>
            <a:off x="3855720" y="4334256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 sz="1600" b="1">
                <a:solidFill>
                  <a:srgbClr val="2D415A"/>
                </a:solidFill>
                <a:latin typeface="Consolas"/>
              </a:defRPr>
            </a:pPr>
            <a:r>
              <a:t>₹300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4F32C01-2925-EE6B-E993-419743A157F8}"/>
              </a:ext>
            </a:extLst>
          </p:cNvPr>
          <p:cNvSpPr/>
          <p:nvPr/>
        </p:nvSpPr>
        <p:spPr>
          <a:xfrm>
            <a:off x="6416040" y="2514600"/>
            <a:ext cx="5166360" cy="3154680"/>
          </a:xfrm>
          <a:prstGeom prst="roundRect">
            <a:avLst/>
          </a:prstGeom>
          <a:solidFill>
            <a:srgbClr val="EBF2FA"/>
          </a:solidFill>
          <a:ln>
            <a:solidFill>
              <a:srgbClr val="D3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5EEAAD-FB2E-FF20-4BC8-0F538C100BEB}"/>
              </a:ext>
            </a:extLst>
          </p:cNvPr>
          <p:cNvSpPr txBox="1"/>
          <p:nvPr/>
        </p:nvSpPr>
        <p:spPr>
          <a:xfrm>
            <a:off x="6690360" y="2761488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44526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D3D41B-0C20-7BBE-D812-BFF52E475A5E}"/>
              </a:ext>
            </a:extLst>
          </p:cNvPr>
          <p:cNvSpPr txBox="1"/>
          <p:nvPr/>
        </p:nvSpPr>
        <p:spPr>
          <a:xfrm>
            <a:off x="6690360" y="3182112"/>
            <a:ext cx="461772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2D415A"/>
                </a:solidFill>
                <a:latin typeface="Consolas"/>
              </a:defRPr>
            </a:pPr>
            <a:r>
              <a:t>from functools import reduce</a:t>
            </a:r>
            <a:br/>
            <a:br/>
            <a:r>
              <a:t>prices = [100, 200, 300]</a:t>
            </a:r>
            <a:br/>
            <a:br/>
            <a:r>
              <a:t>total = reduce(</a:t>
            </a:r>
            <a:br/>
            <a:r>
              <a:t>    lambda x, y: x + y, prices</a:t>
            </a:r>
            <a:br/>
            <a:r>
              <a:t>)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A78ACA-B9E9-61EF-8F0D-22E32A0B3CED}"/>
              </a:ext>
            </a:extLst>
          </p:cNvPr>
          <p:cNvSpPr/>
          <p:nvPr/>
        </p:nvSpPr>
        <p:spPr>
          <a:xfrm>
            <a:off x="6781800" y="4919472"/>
            <a:ext cx="44348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AEA5F4-FA35-630F-2C81-70A921ED4F9C}"/>
              </a:ext>
            </a:extLst>
          </p:cNvPr>
          <p:cNvSpPr txBox="1"/>
          <p:nvPr/>
        </p:nvSpPr>
        <p:spPr>
          <a:xfrm>
            <a:off x="6964680" y="5020056"/>
            <a:ext cx="4069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00" b="1">
                <a:solidFill>
                  <a:srgbClr val="2D415A"/>
                </a:solidFill>
                <a:latin typeface="Consolas"/>
              </a:defRPr>
            </a:pPr>
            <a:r>
              <a:t>Output: ₹600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57AD24-2CEB-F91E-C27F-BA98BEDC0B41}"/>
              </a:ext>
            </a:extLst>
          </p:cNvPr>
          <p:cNvSpPr txBox="1"/>
          <p:nvPr/>
        </p:nvSpPr>
        <p:spPr>
          <a:xfrm>
            <a:off x="1359408" y="6053328"/>
            <a:ext cx="10222992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900" b="1">
                <a:solidFill>
                  <a:srgbClr val="3E4C5F"/>
                </a:solidFill>
                <a:latin typeface="Consolas"/>
              </a:defRPr>
            </a:pPr>
            <a:r>
              <a:t>100 + 200 + 300  →  ₹600</a:t>
            </a:r>
          </a:p>
        </p:txBody>
      </p:sp>
    </p:spTree>
    <p:extLst>
      <p:ext uri="{BB962C8B-B14F-4D97-AF65-F5344CB8AC3E}">
        <p14:creationId xmlns:p14="http://schemas.microsoft.com/office/powerpoint/2010/main" val="1638980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B07546-6E72-D5CC-D4B5-0DEF9AF25BE1}"/>
              </a:ext>
            </a:extLst>
          </p:cNvPr>
          <p:cNvSpPr/>
          <p:nvPr/>
        </p:nvSpPr>
        <p:spPr>
          <a:xfrm>
            <a:off x="760476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12288-715E-5311-4A28-C93AF880990F}"/>
              </a:ext>
            </a:extLst>
          </p:cNvPr>
          <p:cNvSpPr txBox="1"/>
          <p:nvPr/>
        </p:nvSpPr>
        <p:spPr>
          <a:xfrm>
            <a:off x="1491996" y="594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677487"/>
                </a:solidFill>
                <a:latin typeface="Aptos"/>
              </a:defRPr>
            </a:pPr>
            <a:r>
              <a:t>PYTHON • REDUCE()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E27E8-296B-808A-F43C-4DA1B8518265}"/>
              </a:ext>
            </a:extLst>
          </p:cNvPr>
          <p:cNvSpPr txBox="1"/>
          <p:nvPr/>
        </p:nvSpPr>
        <p:spPr>
          <a:xfrm>
            <a:off x="1491996" y="1097280"/>
            <a:ext cx="7132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400" b="1">
                <a:solidFill>
                  <a:srgbClr val="232D3C"/>
                </a:solidFill>
                <a:latin typeface="Aptos Display"/>
              </a:defRPr>
            </a:pPr>
            <a:r>
              <a:t>Important Rules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F63458-9795-E13A-2F9F-ACA1A7BC9312}"/>
              </a:ext>
            </a:extLst>
          </p:cNvPr>
          <p:cNvSpPr txBox="1"/>
          <p:nvPr/>
        </p:nvSpPr>
        <p:spPr>
          <a:xfrm>
            <a:off x="1510284" y="1755648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4C5B6F"/>
                </a:solidFill>
                <a:latin typeface="Aptos"/>
              </a:defRPr>
            </a:pPr>
            <a:r>
              <a:t>Remember these key points when using reduce().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1CCEC4-FE3D-B708-6DC9-7B5E4AA4C4CB}"/>
              </a:ext>
            </a:extLst>
          </p:cNvPr>
          <p:cNvSpPr/>
          <p:nvPr/>
        </p:nvSpPr>
        <p:spPr>
          <a:xfrm>
            <a:off x="1510284" y="2514600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FF8F05C-68F0-67CA-FE1D-66BCE96F5248}"/>
              </a:ext>
            </a:extLst>
          </p:cNvPr>
          <p:cNvSpPr/>
          <p:nvPr/>
        </p:nvSpPr>
        <p:spPr>
          <a:xfrm>
            <a:off x="1674876" y="2651760"/>
            <a:ext cx="420624" cy="420624"/>
          </a:xfrm>
          <a:prstGeom prst="ellipse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032570-CE83-E809-7CA7-FF1ADD5431F9}"/>
              </a:ext>
            </a:extLst>
          </p:cNvPr>
          <p:cNvSpPr txBox="1"/>
          <p:nvPr/>
        </p:nvSpPr>
        <p:spPr>
          <a:xfrm>
            <a:off x="1674876" y="2715768"/>
            <a:ext cx="42062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46678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8F114-FA5A-158B-7094-1C0E067A550A}"/>
              </a:ext>
            </a:extLst>
          </p:cNvPr>
          <p:cNvSpPr txBox="1"/>
          <p:nvPr/>
        </p:nvSpPr>
        <p:spPr>
          <a:xfrm>
            <a:off x="2260092" y="268833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t>reduce() combines values.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BE7315-9FF4-3F8C-DF0B-85F026223F9F}"/>
              </a:ext>
            </a:extLst>
          </p:cNvPr>
          <p:cNvSpPr/>
          <p:nvPr/>
        </p:nvSpPr>
        <p:spPr>
          <a:xfrm>
            <a:off x="6630924" y="2514600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0533929-5DD9-CF27-10CD-2CCCEFEC32CC}"/>
              </a:ext>
            </a:extLst>
          </p:cNvPr>
          <p:cNvSpPr/>
          <p:nvPr/>
        </p:nvSpPr>
        <p:spPr>
          <a:xfrm>
            <a:off x="6795516" y="2651760"/>
            <a:ext cx="420624" cy="420624"/>
          </a:xfrm>
          <a:prstGeom prst="ellipse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6B2A47-A98A-9E91-24A5-24DB1AC756CF}"/>
              </a:ext>
            </a:extLst>
          </p:cNvPr>
          <p:cNvSpPr txBox="1"/>
          <p:nvPr/>
        </p:nvSpPr>
        <p:spPr>
          <a:xfrm>
            <a:off x="6795516" y="2715768"/>
            <a:ext cx="42062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46678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881FCA-5332-0F66-B2EA-564F39CE7637}"/>
              </a:ext>
            </a:extLst>
          </p:cNvPr>
          <p:cNvSpPr txBox="1"/>
          <p:nvPr/>
        </p:nvSpPr>
        <p:spPr>
          <a:xfrm>
            <a:off x="7380732" y="2688336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t>It produces one final result.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583086D-4A88-58E5-89D7-2FD9E8FBDEEB}"/>
              </a:ext>
            </a:extLst>
          </p:cNvPr>
          <p:cNvSpPr/>
          <p:nvPr/>
        </p:nvSpPr>
        <p:spPr>
          <a:xfrm>
            <a:off x="1510284" y="3456432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03EAB58-4659-06DB-752F-D68F9207A1F9}"/>
              </a:ext>
            </a:extLst>
          </p:cNvPr>
          <p:cNvSpPr/>
          <p:nvPr/>
        </p:nvSpPr>
        <p:spPr>
          <a:xfrm>
            <a:off x="1674876" y="3593591"/>
            <a:ext cx="420624" cy="420624"/>
          </a:xfrm>
          <a:prstGeom prst="ellipse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436C2-916B-3397-DB15-B3E846536567}"/>
              </a:ext>
            </a:extLst>
          </p:cNvPr>
          <p:cNvSpPr txBox="1"/>
          <p:nvPr/>
        </p:nvSpPr>
        <p:spPr>
          <a:xfrm>
            <a:off x="1674876" y="3657600"/>
            <a:ext cx="42062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46678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F18BF8-5735-8A27-FC77-12482543F071}"/>
              </a:ext>
            </a:extLst>
          </p:cNvPr>
          <p:cNvSpPr txBox="1"/>
          <p:nvPr/>
        </p:nvSpPr>
        <p:spPr>
          <a:xfrm>
            <a:off x="2260092" y="3630168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t>A function is required.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9D7150-0F57-7F1C-F950-98D9B4F0611E}"/>
              </a:ext>
            </a:extLst>
          </p:cNvPr>
          <p:cNvSpPr/>
          <p:nvPr/>
        </p:nvSpPr>
        <p:spPr>
          <a:xfrm>
            <a:off x="6630924" y="3456432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013D8BC-2BDF-66AE-60A7-FAA77B77EAE7}"/>
              </a:ext>
            </a:extLst>
          </p:cNvPr>
          <p:cNvSpPr/>
          <p:nvPr/>
        </p:nvSpPr>
        <p:spPr>
          <a:xfrm>
            <a:off x="6795516" y="3593591"/>
            <a:ext cx="420624" cy="420624"/>
          </a:xfrm>
          <a:prstGeom prst="ellipse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31C1CC-301B-DBF7-0E5E-0964FFEF0EDA}"/>
              </a:ext>
            </a:extLst>
          </p:cNvPr>
          <p:cNvSpPr txBox="1"/>
          <p:nvPr/>
        </p:nvSpPr>
        <p:spPr>
          <a:xfrm>
            <a:off x="6795516" y="3657600"/>
            <a:ext cx="42062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46678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E2B269-C245-6681-2A40-2F111A5D7210}"/>
              </a:ext>
            </a:extLst>
          </p:cNvPr>
          <p:cNvSpPr txBox="1"/>
          <p:nvPr/>
        </p:nvSpPr>
        <p:spPr>
          <a:xfrm>
            <a:off x="7380732" y="3630168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t>lambda is optional.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9E51110-2F67-C8FB-2E61-9363889F5344}"/>
              </a:ext>
            </a:extLst>
          </p:cNvPr>
          <p:cNvSpPr/>
          <p:nvPr/>
        </p:nvSpPr>
        <p:spPr>
          <a:xfrm>
            <a:off x="1510284" y="4398264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F42B4C-B520-4AD1-A0AD-070AC2DCE4E6}"/>
              </a:ext>
            </a:extLst>
          </p:cNvPr>
          <p:cNvSpPr/>
          <p:nvPr/>
        </p:nvSpPr>
        <p:spPr>
          <a:xfrm>
            <a:off x="1674876" y="4535424"/>
            <a:ext cx="420624" cy="420624"/>
          </a:xfrm>
          <a:prstGeom prst="ellipse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2F4198-932D-5E4F-6296-8C9D38F92C24}"/>
              </a:ext>
            </a:extLst>
          </p:cNvPr>
          <p:cNvSpPr txBox="1"/>
          <p:nvPr/>
        </p:nvSpPr>
        <p:spPr>
          <a:xfrm>
            <a:off x="1674876" y="4599431"/>
            <a:ext cx="42062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46678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55DCC3-A066-4357-3087-EA06FC3733BF}"/>
              </a:ext>
            </a:extLst>
          </p:cNvPr>
          <p:cNvSpPr txBox="1"/>
          <p:nvPr/>
        </p:nvSpPr>
        <p:spPr>
          <a:xfrm>
            <a:off x="2260092" y="4572000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t>Import reduce() from functools.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A075E96-302D-C8AB-1D42-474D7875CACB}"/>
              </a:ext>
            </a:extLst>
          </p:cNvPr>
          <p:cNvSpPr/>
          <p:nvPr/>
        </p:nvSpPr>
        <p:spPr>
          <a:xfrm>
            <a:off x="6630924" y="4398264"/>
            <a:ext cx="480060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FA5174-A171-91EB-8C46-31D4BDC557A3}"/>
              </a:ext>
            </a:extLst>
          </p:cNvPr>
          <p:cNvSpPr/>
          <p:nvPr/>
        </p:nvSpPr>
        <p:spPr>
          <a:xfrm>
            <a:off x="6795516" y="4535424"/>
            <a:ext cx="420624" cy="420624"/>
          </a:xfrm>
          <a:prstGeom prst="ellipse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6A01F0-C7B5-C915-6ECC-4E6A2FD3DC64}"/>
              </a:ext>
            </a:extLst>
          </p:cNvPr>
          <p:cNvSpPr txBox="1"/>
          <p:nvPr/>
        </p:nvSpPr>
        <p:spPr>
          <a:xfrm>
            <a:off x="6795516" y="4599431"/>
            <a:ext cx="42062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100" b="1">
                <a:solidFill>
                  <a:srgbClr val="46678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72F7CE-E993-643B-91C7-61031248792C}"/>
              </a:ext>
            </a:extLst>
          </p:cNvPr>
          <p:cNvSpPr txBox="1"/>
          <p:nvPr/>
        </p:nvSpPr>
        <p:spPr>
          <a:xfrm>
            <a:off x="7380732" y="4572000"/>
            <a:ext cx="3794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3E4C5F"/>
                </a:solidFill>
                <a:latin typeface="Aptos"/>
              </a:defRPr>
            </a:pPr>
            <a:r>
              <a:t>Best suited for aggregation / combination.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59F48A1-4BD9-FC4C-03B0-63EE81C93022}"/>
              </a:ext>
            </a:extLst>
          </p:cNvPr>
          <p:cNvSpPr/>
          <p:nvPr/>
        </p:nvSpPr>
        <p:spPr>
          <a:xfrm>
            <a:off x="1510284" y="5623560"/>
            <a:ext cx="9921240" cy="59436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0727E7-DB6E-200B-F693-6E01CC0AD2A7}"/>
              </a:ext>
            </a:extLst>
          </p:cNvPr>
          <p:cNvSpPr txBox="1"/>
          <p:nvPr/>
        </p:nvSpPr>
        <p:spPr>
          <a:xfrm>
            <a:off x="1720596" y="5769864"/>
            <a:ext cx="9464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3E4C5F"/>
                </a:solidFill>
                <a:latin typeface="Aptos"/>
              </a:defRPr>
            </a:pPr>
            <a:r>
              <a:t>Best use: when you need to combine many values into ONE result.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739EA3-E850-ADEA-7709-3499C282ADC5}"/>
              </a:ext>
            </a:extLst>
          </p:cNvPr>
          <p:cNvSpPr txBox="1"/>
          <p:nvPr/>
        </p:nvSpPr>
        <p:spPr>
          <a:xfrm>
            <a:off x="1510284" y="635508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828D9C"/>
                </a:solidFill>
                <a:latin typeface="Aptos"/>
              </a:defRPr>
            </a:pPr>
            <a:r>
              <a:t>Key idea: Many → One</a:t>
            </a:r>
          </a:p>
        </p:txBody>
      </p:sp>
    </p:spTree>
    <p:extLst>
      <p:ext uri="{BB962C8B-B14F-4D97-AF65-F5344CB8AC3E}">
        <p14:creationId xmlns:p14="http://schemas.microsoft.com/office/powerpoint/2010/main" val="4000616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644B78-56F6-A203-A4D5-59F9E98673A9}"/>
              </a:ext>
            </a:extLst>
          </p:cNvPr>
          <p:cNvSpPr/>
          <p:nvPr/>
        </p:nvSpPr>
        <p:spPr>
          <a:xfrm>
            <a:off x="609600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ACF1E-BDDE-9512-07C3-42ACAACDAB4D}"/>
              </a:ext>
            </a:extLst>
          </p:cNvPr>
          <p:cNvSpPr txBox="1"/>
          <p:nvPr/>
        </p:nvSpPr>
        <p:spPr>
          <a:xfrm>
            <a:off x="1341120" y="5943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400" b="1">
                <a:solidFill>
                  <a:srgbClr val="677487"/>
                </a:solidFill>
                <a:latin typeface="Aptos"/>
              </a:defRPr>
            </a:pPr>
            <a:r>
              <a:t>PYTHON • REDUCE()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D376E3-7053-465C-3765-DE5794A4DBCF}"/>
              </a:ext>
            </a:extLst>
          </p:cNvPr>
          <p:cNvSpPr txBox="1"/>
          <p:nvPr/>
        </p:nvSpPr>
        <p:spPr>
          <a:xfrm>
            <a:off x="1341120" y="1097280"/>
            <a:ext cx="8046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400" b="1">
                <a:solidFill>
                  <a:srgbClr val="232D3C"/>
                </a:solidFill>
                <a:latin typeface="Aptos Display"/>
              </a:defRPr>
            </a:pPr>
            <a:r>
              <a:t>map() vs filter() vs reduce()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62E80F-43FA-4600-1271-3CD1700D0D27}"/>
              </a:ext>
            </a:extLst>
          </p:cNvPr>
          <p:cNvSpPr txBox="1"/>
          <p:nvPr/>
        </p:nvSpPr>
        <p:spPr>
          <a:xfrm>
            <a:off x="1359408" y="17556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800" b="0">
                <a:solidFill>
                  <a:srgbClr val="4C5B6F"/>
                </a:solidFill>
                <a:latin typeface="Aptos"/>
              </a:defRPr>
            </a:pPr>
            <a:r>
              <a:t>Choose the function based on what you want to do with the data.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85D6348-9BDC-807A-80DF-1D5D654FE74D}"/>
              </a:ext>
            </a:extLst>
          </p:cNvPr>
          <p:cNvSpPr/>
          <p:nvPr/>
        </p:nvSpPr>
        <p:spPr>
          <a:xfrm>
            <a:off x="1359408" y="2606040"/>
            <a:ext cx="3154680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344F7-D8E9-00BB-1248-BC03AB61682A}"/>
              </a:ext>
            </a:extLst>
          </p:cNvPr>
          <p:cNvSpPr txBox="1"/>
          <p:nvPr/>
        </p:nvSpPr>
        <p:spPr>
          <a:xfrm>
            <a:off x="1560576" y="2880360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2D415A"/>
                </a:solidFill>
                <a:latin typeface="Consolas"/>
              </a:defRPr>
            </a:pPr>
            <a:r>
              <a:t>map()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CDAA2E-2794-798D-2FD2-D480125E6005}"/>
              </a:ext>
            </a:extLst>
          </p:cNvPr>
          <p:cNvSpPr txBox="1"/>
          <p:nvPr/>
        </p:nvSpPr>
        <p:spPr>
          <a:xfrm>
            <a:off x="1560576" y="34015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Aptos"/>
              </a:defRPr>
            </a:pPr>
            <a:r>
              <a:t>Transform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71F06-6D4D-A3F9-3D4E-C3D7E63C782C}"/>
              </a:ext>
            </a:extLst>
          </p:cNvPr>
          <p:cNvSpPr txBox="1"/>
          <p:nvPr/>
        </p:nvSpPr>
        <p:spPr>
          <a:xfrm>
            <a:off x="1560576" y="3886200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3E4C5F"/>
                </a:solidFill>
                <a:latin typeface="Consolas"/>
              </a:defRPr>
            </a:pPr>
            <a:r>
              <a:t>Many → Many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EB0C3E-AEB3-5186-EB1D-71B07E35B4D3}"/>
              </a:ext>
            </a:extLst>
          </p:cNvPr>
          <p:cNvSpPr txBox="1"/>
          <p:nvPr/>
        </p:nvSpPr>
        <p:spPr>
          <a:xfrm>
            <a:off x="1679448" y="4462272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6E7A8B"/>
                </a:solidFill>
                <a:latin typeface="Aptos"/>
              </a:defRPr>
            </a:pPr>
            <a:r>
              <a:t>Changes every item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2921603-30C0-E59B-A1F3-A2BC214BBD52}"/>
              </a:ext>
            </a:extLst>
          </p:cNvPr>
          <p:cNvSpPr/>
          <p:nvPr/>
        </p:nvSpPr>
        <p:spPr>
          <a:xfrm>
            <a:off x="4888992" y="2606040"/>
            <a:ext cx="3154680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358F1D-BAFE-5F3B-9EDF-F8F2E31D6B3E}"/>
              </a:ext>
            </a:extLst>
          </p:cNvPr>
          <p:cNvSpPr txBox="1"/>
          <p:nvPr/>
        </p:nvSpPr>
        <p:spPr>
          <a:xfrm>
            <a:off x="5090159" y="2880360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2D415A"/>
                </a:solidFill>
                <a:latin typeface="Consolas"/>
              </a:defRPr>
            </a:pPr>
            <a:r>
              <a:t>filter()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098A43-FEEA-CFD9-4C14-9B51B65FDBD1}"/>
              </a:ext>
            </a:extLst>
          </p:cNvPr>
          <p:cNvSpPr txBox="1"/>
          <p:nvPr/>
        </p:nvSpPr>
        <p:spPr>
          <a:xfrm>
            <a:off x="5090159" y="34015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CB61CB-E8F3-A93A-5758-E2398B1E7AAE}"/>
              </a:ext>
            </a:extLst>
          </p:cNvPr>
          <p:cNvSpPr txBox="1"/>
          <p:nvPr/>
        </p:nvSpPr>
        <p:spPr>
          <a:xfrm>
            <a:off x="5090159" y="3886200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3E4C5F"/>
                </a:solidFill>
                <a:latin typeface="Consolas"/>
              </a:defRPr>
            </a:pPr>
            <a:r>
              <a:t>Many → Some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63C349-62E6-5681-E9A0-123DCF75C62C}"/>
              </a:ext>
            </a:extLst>
          </p:cNvPr>
          <p:cNvSpPr txBox="1"/>
          <p:nvPr/>
        </p:nvSpPr>
        <p:spPr>
          <a:xfrm>
            <a:off x="5209031" y="4462272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6E7A8B"/>
                </a:solidFill>
                <a:latin typeface="Aptos"/>
              </a:defRPr>
            </a:pPr>
            <a:r>
              <a:t>Keeps matching items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740A17E-8EC2-FDA7-08C1-C0EA8BDA416F}"/>
              </a:ext>
            </a:extLst>
          </p:cNvPr>
          <p:cNvSpPr/>
          <p:nvPr/>
        </p:nvSpPr>
        <p:spPr>
          <a:xfrm>
            <a:off x="8418575" y="2606040"/>
            <a:ext cx="3154680" cy="2514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2CF3A6-968B-1907-C6BA-6388362D1C8E}"/>
              </a:ext>
            </a:extLst>
          </p:cNvPr>
          <p:cNvSpPr txBox="1"/>
          <p:nvPr/>
        </p:nvSpPr>
        <p:spPr>
          <a:xfrm>
            <a:off x="8619744" y="2880360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 b="1">
                <a:solidFill>
                  <a:srgbClr val="2D415A"/>
                </a:solidFill>
                <a:latin typeface="Consolas"/>
              </a:defRPr>
            </a:pPr>
            <a:r>
              <a:t>reduce()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681D5B-B9BD-42F1-7D88-763823CF7C6D}"/>
              </a:ext>
            </a:extLst>
          </p:cNvPr>
          <p:cNvSpPr txBox="1"/>
          <p:nvPr/>
        </p:nvSpPr>
        <p:spPr>
          <a:xfrm>
            <a:off x="8619744" y="34015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500" b="1">
                <a:solidFill>
                  <a:srgbClr val="46678C"/>
                </a:solidFill>
                <a:latin typeface="Aptos"/>
              </a:defRPr>
            </a:pPr>
            <a:r>
              <a:t>Combine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8F765-8DAB-68A6-5255-6BAF3CAA6288}"/>
              </a:ext>
            </a:extLst>
          </p:cNvPr>
          <p:cNvSpPr txBox="1"/>
          <p:nvPr/>
        </p:nvSpPr>
        <p:spPr>
          <a:xfrm>
            <a:off x="8619744" y="3886200"/>
            <a:ext cx="2743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800" b="1">
                <a:solidFill>
                  <a:srgbClr val="3E4C5F"/>
                </a:solidFill>
                <a:latin typeface="Consolas"/>
              </a:defRPr>
            </a:pPr>
            <a:r>
              <a:t>Many → One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CAE4A9-AA38-38B8-96A8-766750FFF770}"/>
              </a:ext>
            </a:extLst>
          </p:cNvPr>
          <p:cNvSpPr txBox="1"/>
          <p:nvPr/>
        </p:nvSpPr>
        <p:spPr>
          <a:xfrm>
            <a:off x="8738615" y="4462272"/>
            <a:ext cx="2514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300" b="0">
                <a:solidFill>
                  <a:srgbClr val="6E7A8B"/>
                </a:solidFill>
                <a:latin typeface="Aptos"/>
              </a:defRPr>
            </a:pPr>
            <a:r>
              <a:t>Creates one result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2D561F2-EF90-040B-24A6-1D3FE1F8ECA5}"/>
              </a:ext>
            </a:extLst>
          </p:cNvPr>
          <p:cNvSpPr/>
          <p:nvPr/>
        </p:nvSpPr>
        <p:spPr>
          <a:xfrm>
            <a:off x="1359408" y="5440680"/>
            <a:ext cx="10222992" cy="685800"/>
          </a:xfrm>
          <a:prstGeom prst="round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8C1F88-FCDE-BC62-3104-468C1D390526}"/>
              </a:ext>
            </a:extLst>
          </p:cNvPr>
          <p:cNvSpPr txBox="1"/>
          <p:nvPr/>
        </p:nvSpPr>
        <p:spPr>
          <a:xfrm>
            <a:off x="1569720" y="5614416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400" b="1">
                <a:solidFill>
                  <a:srgbClr val="2D415A"/>
                </a:solidFill>
                <a:latin typeface="Consolas"/>
              </a:defRPr>
            </a:pPr>
            <a:r>
              <a:t>Many → Many  =  map()     |     Many → Some  =  filter()     |     Many → One  =  reduce()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43E5B5-9C14-5722-BF9F-2EB7DB415C22}"/>
              </a:ext>
            </a:extLst>
          </p:cNvPr>
          <p:cNvSpPr txBox="1"/>
          <p:nvPr/>
        </p:nvSpPr>
        <p:spPr>
          <a:xfrm>
            <a:off x="1359408" y="635508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00" b="0">
                <a:solidFill>
                  <a:srgbClr val="828D9C"/>
                </a:solidFill>
                <a:latin typeface="Aptos"/>
              </a:defRPr>
            </a:pPr>
            <a:r>
              <a:t>Transform • Select • Combine</a:t>
            </a:r>
          </a:p>
        </p:txBody>
      </p:sp>
    </p:spTree>
    <p:extLst>
      <p:ext uri="{BB962C8B-B14F-4D97-AF65-F5344CB8AC3E}">
        <p14:creationId xmlns:p14="http://schemas.microsoft.com/office/powerpoint/2010/main" val="731516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D45682-E1A3-B542-A8CA-DE6552FB2E39}"/>
              </a:ext>
            </a:extLst>
          </p:cNvPr>
          <p:cNvSpPr/>
          <p:nvPr/>
        </p:nvSpPr>
        <p:spPr>
          <a:xfrm>
            <a:off x="472440" y="0"/>
            <a:ext cx="128016" cy="6858000"/>
          </a:xfrm>
          <a:prstGeom prst="rect">
            <a:avLst/>
          </a:prstGeom>
          <a:solidFill>
            <a:srgbClr val="709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431CF-7548-D375-060D-05273A607873}"/>
              </a:ext>
            </a:extLst>
          </p:cNvPr>
          <p:cNvSpPr txBox="1"/>
          <p:nvPr/>
        </p:nvSpPr>
        <p:spPr>
          <a:xfrm>
            <a:off x="1386840" y="1965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600" b="1">
                <a:solidFill>
                  <a:srgbClr val="232D3C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9C0D7-4448-4447-B6F7-CCB005CF43D7}"/>
              </a:ext>
            </a:extLst>
          </p:cNvPr>
          <p:cNvSpPr txBox="1"/>
          <p:nvPr/>
        </p:nvSpPr>
        <p:spPr>
          <a:xfrm>
            <a:off x="2573395" y="4416852"/>
            <a:ext cx="7539885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200" b="0">
                <a:solidFill>
                  <a:srgbClr val="828D9C"/>
                </a:solidFill>
                <a:latin typeface="Aptos"/>
              </a:defRPr>
            </a:pPr>
            <a:r>
              <a:rPr sz="4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Python • map() • filter() • reduce()</a:t>
            </a:r>
          </a:p>
        </p:txBody>
      </p:sp>
    </p:spTree>
    <p:extLst>
      <p:ext uri="{BB962C8B-B14F-4D97-AF65-F5344CB8AC3E}">
        <p14:creationId xmlns:p14="http://schemas.microsoft.com/office/powerpoint/2010/main" val="409808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919</TotalTime>
  <Words>1844</Words>
  <Application>Microsoft Office PowerPoint</Application>
  <PresentationFormat>Widescreen</PresentationFormat>
  <Paragraphs>356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 KARTHICK</dc:creator>
  <cp:keywords/>
  <dc:description>generated using python-pptx</dc:description>
  <cp:lastModifiedBy>S0040569</cp:lastModifiedBy>
  <cp:revision>9</cp:revision>
  <dcterms:created xsi:type="dcterms:W3CDTF">2013-01-27T09:14:16Z</dcterms:created>
  <dcterms:modified xsi:type="dcterms:W3CDTF">2026-09-18T07:27:28Z</dcterms:modified>
  <cp:category/>
</cp:coreProperties>
</file>