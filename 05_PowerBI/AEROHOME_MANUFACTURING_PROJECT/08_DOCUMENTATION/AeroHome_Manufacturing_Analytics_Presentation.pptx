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035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375B"/>
                </a:solidFill>
                <a:latin typeface="Aptos"/>
              </a:rPr>
              <a:t>AEROHOME
MANUFACTURING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34640"/>
            <a:ext cx="5577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32B34"/>
                </a:solidFill>
                <a:latin typeface="Aptos"/>
              </a:rPr>
              <a:t>Manufacturing Performance, Quality, Procurement &amp; Operational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69080"/>
            <a:ext cx="1325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4069080"/>
            <a:ext cx="64008" cy="86868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420624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PLATFORM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4069080"/>
            <a:ext cx="1325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12848" y="4069080"/>
            <a:ext cx="64008" cy="86868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14016" y="4206240"/>
            <a:ext cx="866006" cy="5924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DATA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Excel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4069080"/>
            <a:ext cx="1325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75887" y="4069080"/>
            <a:ext cx="64008" cy="86868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77055" y="420624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MODEL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DAX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4069080"/>
            <a:ext cx="1325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38928" y="4069080"/>
            <a:ext cx="64008" cy="868680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0096" y="420624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OUTPUT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BI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89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97684"/>
                </a:solidFill>
                <a:latin typeface="Aptos"/>
              </a:rPr>
              <a:t>Manufacturing Data Analytics &amp; Business Intelligence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4434840"/>
            <a:ext cx="502920" cy="91440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58200" y="3794760"/>
            <a:ext cx="502920" cy="1554480"/>
          </a:xfrm>
          <a:prstGeom prst="rect">
            <a:avLst/>
          </a:prstGeom>
          <a:solidFill>
            <a:srgbClr val="3A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3154680"/>
            <a:ext cx="502920" cy="2194560"/>
          </a:xfrm>
          <a:prstGeom prst="rect">
            <a:avLst/>
          </a:prstGeom>
          <a:solidFill>
            <a:srgbClr val="57A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38360" y="2468880"/>
            <a:ext cx="502920" cy="2880360"/>
          </a:xfrm>
          <a:prstGeom prst="rect">
            <a:avLst/>
          </a:prstGeom>
          <a:solidFill>
            <a:srgbClr val="74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5486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AeroHome Manufacturing is analyzed using an integrated data analytics approach.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The project covers production, plants, products, machines, quality, downtime, energy, procurement, suppliers, materials, operators, and shifts.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Power BI converts operational data into interactive business intelligence dashboards for management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86200"/>
            <a:ext cx="1457814" cy="658368"/>
          </a:xfrm>
          <a:prstGeom prst="roundRect">
            <a:avLst/>
          </a:prstGeom>
          <a:solidFill>
            <a:srgbClr val="E1EF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Raw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2079606" y="4050791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80190" y="3886200"/>
            <a:ext cx="1457814" cy="658368"/>
          </a:xfrm>
          <a:prstGeom prst="roundRect">
            <a:avLst/>
          </a:prstGeom>
          <a:solidFill>
            <a:srgbClr val="F6F9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Data Cleaning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3665437" y="4050791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66021" y="3886200"/>
            <a:ext cx="1457814" cy="658368"/>
          </a:xfrm>
          <a:prstGeom prst="roundRect">
            <a:avLst/>
          </a:prstGeom>
          <a:solidFill>
            <a:srgbClr val="E1EF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Data Modeling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5251268" y="4050791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51852" y="3886200"/>
            <a:ext cx="1457814" cy="658368"/>
          </a:xfrm>
          <a:prstGeom prst="roundRect">
            <a:avLst/>
          </a:prstGeom>
          <a:solidFill>
            <a:srgbClr val="F6F9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DAX Measures</a:t>
            </a:r>
          </a:p>
        </p:txBody>
      </p:sp>
      <p:sp>
        <p:nvSpPr>
          <p:cNvPr id="17" name="Chevron 16"/>
          <p:cNvSpPr/>
          <p:nvPr/>
        </p:nvSpPr>
        <p:spPr>
          <a:xfrm>
            <a:off x="6837099" y="4050791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37683" y="3886200"/>
            <a:ext cx="1457814" cy="658368"/>
          </a:xfrm>
          <a:prstGeom prst="roundRect">
            <a:avLst/>
          </a:prstGeom>
          <a:solidFill>
            <a:srgbClr val="E1EF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Power BI Dashboard</a:t>
            </a:r>
          </a:p>
        </p:txBody>
      </p:sp>
      <p:sp>
        <p:nvSpPr>
          <p:cNvPr id="19" name="Chevron 18"/>
          <p:cNvSpPr/>
          <p:nvPr/>
        </p:nvSpPr>
        <p:spPr>
          <a:xfrm>
            <a:off x="8422930" y="4050791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23514" y="3886200"/>
            <a:ext cx="1457814" cy="658368"/>
          </a:xfrm>
          <a:prstGeom prst="roundRect">
            <a:avLst/>
          </a:prstGeom>
          <a:solidFill>
            <a:srgbClr val="F6F9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Business Insights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08761" y="4050791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109345" y="3886200"/>
            <a:ext cx="1457814" cy="658368"/>
          </a:xfrm>
          <a:prstGeom prst="roundRect">
            <a:avLst/>
          </a:prstGeom>
          <a:solidFill>
            <a:srgbClr val="E1EF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280160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01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Production performance across plants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280160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02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Production shortfall vs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75688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075688"/>
            <a:ext cx="64008" cy="74980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21284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03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Quality defects &amp; rework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75688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075688"/>
            <a:ext cx="64008" cy="74980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21284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04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Machine downtime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08376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008376"/>
            <a:ext cx="64008" cy="74980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145536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05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Energy consumption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08376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008376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145536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06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Procurement spending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41064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3941064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4078224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07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Supplier delivery delays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941064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941064"/>
            <a:ext cx="64008" cy="74980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078224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08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Material cost &amp; dependency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73752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4873752"/>
            <a:ext cx="64008" cy="74980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5010912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09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Operator &amp; shift performance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73752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4873752"/>
            <a:ext cx="64008" cy="74980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9088" y="5010912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10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Centralized management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1155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Measure production performance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11430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1155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Monitor plant-level productivity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0574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29967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Analyze defects and quality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0574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7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Monitor machine downtime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29718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443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Track energy consumption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9718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9443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Analyze procurement spending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8862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587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Evaluate supplier performance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8862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587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Identify material &amp; supply-chain risks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7731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Analyze operator &amp; shift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800600"/>
            <a:ext cx="411480" cy="411480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731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Aptos"/>
              </a:rPr>
              <a:t>Provide actionable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Data &amp; Analytics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64008" cy="105156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371600"/>
            <a:ext cx="10850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64008" cy="10515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1371600"/>
            <a:ext cx="7069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Plants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64008" cy="105156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371600"/>
            <a:ext cx="9228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39" y="1234440"/>
            <a:ext cx="64008" cy="1051560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7" y="1371600"/>
            <a:ext cx="9781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Machines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51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2651760"/>
            <a:ext cx="64008" cy="105156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2788920"/>
            <a:ext cx="10245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Downtime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651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9000" y="2651760"/>
            <a:ext cx="64008" cy="10515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0168" y="2788920"/>
            <a:ext cx="7745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651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2651760"/>
            <a:ext cx="64008" cy="105156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2788920"/>
            <a:ext cx="12513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Procurement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39" y="2651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06839" y="2651760"/>
            <a:ext cx="64008" cy="1051560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08007" y="2788920"/>
            <a:ext cx="9652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Suppliers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690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Rectangle 33"/>
          <p:cNvSpPr/>
          <p:nvPr/>
        </p:nvSpPr>
        <p:spPr>
          <a:xfrm>
            <a:off x="640080" y="4069080"/>
            <a:ext cx="64008" cy="105156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4206240"/>
            <a:ext cx="13392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Raw Materials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40690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4069080"/>
            <a:ext cx="64008" cy="10515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0168" y="4206240"/>
            <a:ext cx="10043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Operators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690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4069080"/>
            <a:ext cx="64008" cy="105156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19088" y="4206240"/>
            <a:ext cx="6635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7684"/>
                </a:solidFill>
                <a:latin typeface="Aptos"/>
              </a:rPr>
              <a:t>Shifts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42316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2423160"/>
            <a:ext cx="64008" cy="114300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2560320"/>
            <a:ext cx="1085041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FACT LAYER</a:t>
            </a:r>
          </a:p>
          <a:p>
            <a:pPr>
              <a:spcBef>
                <a:spcPts val="300"/>
              </a:spcBef>
            </a:pPr>
            <a:r>
              <a:rPr sz="1400" b="1" dirty="0">
                <a:solidFill>
                  <a:srgbClr val="16375B"/>
                </a:solidFill>
                <a:latin typeface="Aptos"/>
              </a:rPr>
              <a:t>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188720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1325880"/>
            <a:ext cx="9666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dim_plants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4320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880360"/>
            <a:ext cx="11540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434840"/>
            <a:ext cx="12153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dim_machines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18872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41080" y="1188720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8" y="1325880"/>
            <a:ext cx="11786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dim_suppliers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274320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41080" y="2743200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42248" y="2880360"/>
            <a:ext cx="11896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dim_materials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429768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41080" y="4297680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42248" y="4434840"/>
            <a:ext cx="11980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dim_operators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1138428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01456" y="1182874"/>
            <a:ext cx="64008" cy="82296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73168" y="1051560"/>
            <a:ext cx="8353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7684"/>
                </a:solidFill>
                <a:latin typeface="Aptos"/>
              </a:rPr>
              <a:t>dim_date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572000"/>
            <a:ext cx="2926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17720" y="4572000"/>
            <a:ext cx="64008" cy="822960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18888" y="4709160"/>
            <a:ext cx="2152128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BRIDGE</a:t>
            </a:r>
          </a:p>
          <a:p>
            <a:pPr>
              <a:spcBef>
                <a:spcPts val="300"/>
              </a:spcBef>
            </a:pPr>
            <a:r>
              <a:rPr sz="1400" b="1" dirty="0" err="1">
                <a:solidFill>
                  <a:srgbClr val="16375B"/>
                </a:solidFill>
                <a:latin typeface="Aptos"/>
              </a:rPr>
              <a:t>bridge_bill_of_materials</a:t>
            </a:r>
            <a:endParaRPr sz="1400" b="1" dirty="0">
              <a:solidFill>
                <a:srgbClr val="16375B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46120" y="1600200"/>
            <a:ext cx="13716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46120" y="3154680"/>
            <a:ext cx="13716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46120" y="4709160"/>
            <a:ext cx="13716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 flipV="1">
            <a:off x="7285745" y="1618486"/>
            <a:ext cx="1355336" cy="4571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98079" y="3154679"/>
            <a:ext cx="1143002" cy="4571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98079" y="4709159"/>
            <a:ext cx="1078993" cy="4571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0" y="5532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684"/>
                </a:solidFill>
                <a:latin typeface="Aptos"/>
              </a:rPr>
              <a:t>Single-direction filtering helps avoid ambiguous relationship paths.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Data Preparation &amp;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280160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01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Remove duplicates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280160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02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Handle blanks / nulls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75688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075688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21284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03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Standardize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75688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075688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21284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04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Trim spaces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08376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008376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145536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05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Validate 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08376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008376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145536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06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Validate numeric fields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41064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3941064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4078224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07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Validate IDs &amp; keys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941064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941064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078224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08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Standardize categories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73752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4873752"/>
            <a:ext cx="64008" cy="74980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5010912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09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Validate supplier/product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73752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4873752"/>
            <a:ext cx="64008" cy="74980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9088" y="5010912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STEP 10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Create analytical columns</a:t>
            </a:r>
          </a:p>
        </p:txBody>
      </p:sp>
      <p:sp>
        <p:nvSpPr>
          <p:cNvPr id="40" name="Chevron 39"/>
          <p:cNvSpPr/>
          <p:nvPr/>
        </p:nvSpPr>
        <p:spPr>
          <a:xfrm>
            <a:off x="3268979" y="5650992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hevron 41"/>
          <p:cNvSpPr/>
          <p:nvPr/>
        </p:nvSpPr>
        <p:spPr>
          <a:xfrm>
            <a:off x="6044184" y="5650992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hevron 43"/>
          <p:cNvSpPr/>
          <p:nvPr/>
        </p:nvSpPr>
        <p:spPr>
          <a:xfrm>
            <a:off x="8819388" y="5650992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6B8B1C-CD0D-8FDE-EBF7-FDF968D81220}"/>
              </a:ext>
            </a:extLst>
          </p:cNvPr>
          <p:cNvGrpSpPr/>
          <p:nvPr/>
        </p:nvGrpSpPr>
        <p:grpSpPr>
          <a:xfrm>
            <a:off x="564380" y="6041032"/>
            <a:ext cx="10972800" cy="658368"/>
            <a:chOff x="594360" y="5486400"/>
            <a:chExt cx="10972800" cy="65836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E5BB66E-DDAE-B38C-8DC9-5581A1AFBC7F}"/>
                </a:ext>
              </a:extLst>
            </p:cNvPr>
            <p:cNvGrpSpPr/>
            <p:nvPr/>
          </p:nvGrpSpPr>
          <p:grpSpPr>
            <a:xfrm>
              <a:off x="594360" y="5486400"/>
              <a:ext cx="8197596" cy="658368"/>
              <a:chOff x="594360" y="5486400"/>
              <a:chExt cx="8197596" cy="658368"/>
            </a:xfrm>
          </p:grpSpPr>
          <p:sp>
            <p:nvSpPr>
              <p:cNvPr id="39" name="Rounded Rectangle 38"/>
              <p:cNvSpPr/>
              <p:nvPr/>
            </p:nvSpPr>
            <p:spPr>
              <a:xfrm>
                <a:off x="594360" y="5486400"/>
                <a:ext cx="2647188" cy="658368"/>
              </a:xfrm>
              <a:prstGeom prst="roundRect">
                <a:avLst/>
              </a:prstGeom>
              <a:solidFill>
                <a:srgbClr val="E1EFFC"/>
              </a:solidFill>
              <a:ln>
                <a:solidFill>
                  <a:srgbClr val="BED7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100" b="1">
                    <a:solidFill>
                      <a:srgbClr val="16375B"/>
                    </a:solidFill>
                    <a:latin typeface="Aptos"/>
                  </a:rPr>
                  <a:t>Raw Data</a:t>
                </a:r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3369564" y="5486400"/>
                <a:ext cx="2647188" cy="658368"/>
              </a:xfrm>
              <a:prstGeom prst="roundRect">
                <a:avLst/>
              </a:prstGeom>
              <a:solidFill>
                <a:srgbClr val="F6F9FC"/>
              </a:solidFill>
              <a:ln>
                <a:solidFill>
                  <a:srgbClr val="BED7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100" b="1">
                    <a:solidFill>
                      <a:srgbClr val="16375B"/>
                    </a:solidFill>
                    <a:latin typeface="Aptos"/>
                  </a:rPr>
                  <a:t>Power Query</a:t>
                </a:r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6144768" y="5486400"/>
                <a:ext cx="2647188" cy="658368"/>
              </a:xfrm>
              <a:prstGeom prst="roundRect">
                <a:avLst/>
              </a:prstGeom>
              <a:solidFill>
                <a:srgbClr val="E1EFFC"/>
              </a:solidFill>
              <a:ln>
                <a:solidFill>
                  <a:srgbClr val="BED7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100" b="1">
                    <a:solidFill>
                      <a:srgbClr val="16375B"/>
                    </a:solidFill>
                    <a:latin typeface="Aptos"/>
                  </a:rPr>
                  <a:t>Clean Data</a:t>
                </a:r>
              </a:p>
            </p:txBody>
          </p:sp>
        </p:grpSp>
        <p:sp>
          <p:nvSpPr>
            <p:cNvPr id="45" name="Rounded Rectangle 44"/>
            <p:cNvSpPr/>
            <p:nvPr/>
          </p:nvSpPr>
          <p:spPr>
            <a:xfrm>
              <a:off x="8919972" y="5486400"/>
              <a:ext cx="2647188" cy="658368"/>
            </a:xfrm>
            <a:prstGeom prst="roundRect">
              <a:avLst/>
            </a:prstGeom>
            <a:solidFill>
              <a:srgbClr val="F6F9FC"/>
            </a:solidFill>
            <a:ln>
              <a:solidFill>
                <a:srgbClr val="BED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 dirty="0">
                  <a:solidFill>
                    <a:srgbClr val="16375B"/>
                  </a:solidFill>
                  <a:latin typeface="Aptos"/>
                </a:rPr>
                <a:t>Data Model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Key Performance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39"/>
            <a:ext cx="5394960" cy="1520001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344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78CD"/>
                </a:solidFill>
                <a:latin typeface="Aptos"/>
              </a:rPr>
              <a:t>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64207"/>
            <a:ext cx="5065776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Total Planned Units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Total Produced Units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Production Achievement %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Production Shortfall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930" y="1207008"/>
            <a:ext cx="5394960" cy="1547432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24B4B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64207"/>
            <a:ext cx="5065776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Total Defects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Defect Rate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Rework Rate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Units Inspected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91600"/>
            <a:ext cx="5394960" cy="1527048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986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912A"/>
                </a:solidFill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328416"/>
            <a:ext cx="5065776" cy="11464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Total Downtime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Total Downtime Hours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Average Downtime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Energy Consumed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98648"/>
            <a:ext cx="5394960" cy="150501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8986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15CB4"/>
                </a:solidFill>
                <a:latin typeface="Aptos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328416"/>
            <a:ext cx="5065776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Total Procurement Spend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Product Unit Cost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Potential Unit Margin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Estimated Defect Cost 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70798"/>
            <a:ext cx="5394960" cy="1527048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6285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5B"/>
                </a:solidFill>
                <a:latin typeface="Aptos"/>
              </a:rPr>
              <a:t>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992624"/>
            <a:ext cx="5065776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Purchase Order Volume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On-Time Delivery Rate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Average Lead Time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Supplier Rating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2930" y="4590586"/>
            <a:ext cx="5394960" cy="1547432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56285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78CD"/>
                </a:solidFill>
                <a:latin typeface="Aptos"/>
              </a:rPr>
              <a:t>Materials &amp; Workforce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992624"/>
            <a:ext cx="5065776" cy="11464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Materials Used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Materials per Product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High-Cost Materials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dirty="0"/>
              <a:t>• Active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9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DAX Measures &amp; Business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2999"/>
            <a:ext cx="5440680" cy="1490567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777240" y="1252728"/>
            <a:ext cx="13278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78CD"/>
                </a:solidFill>
                <a:latin typeface="Aptos"/>
              </a:rPr>
              <a:t>Total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18488"/>
            <a:ext cx="50749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232B34"/>
                </a:solidFill>
                <a:latin typeface="Consolas"/>
              </a:rPr>
              <a:t>SUM(
    </a:t>
            </a:r>
            <a:r>
              <a:rPr sz="1000" dirty="0" err="1">
                <a:solidFill>
                  <a:srgbClr val="232B34"/>
                </a:solidFill>
                <a:latin typeface="Consolas"/>
              </a:rPr>
              <a:t>fact_production</a:t>
            </a:r>
            <a:r>
              <a:rPr sz="1000" dirty="0">
                <a:solidFill>
                  <a:srgbClr val="232B34"/>
                </a:solidFill>
                <a:latin typeface="Consolas"/>
              </a:rPr>
              <a:t>[</a:t>
            </a:r>
            <a:r>
              <a:rPr sz="1400" dirty="0" err="1">
                <a:solidFill>
                  <a:srgbClr val="232B34"/>
                </a:solidFill>
                <a:latin typeface="Consolas"/>
              </a:rPr>
              <a:t>quantity</a:t>
            </a:r>
            <a:r>
              <a:rPr sz="1000" dirty="0" err="1">
                <a:solidFill>
                  <a:srgbClr val="232B34"/>
                </a:solidFill>
                <a:latin typeface="Consolas"/>
              </a:rPr>
              <a:t>_produced</a:t>
            </a:r>
            <a:r>
              <a:rPr sz="1000" dirty="0">
                <a:solidFill>
                  <a:srgbClr val="232B34"/>
                </a:solidFill>
                <a:latin typeface="Consolas"/>
              </a:rPr>
              <a:t>]
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544068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52728"/>
            <a:ext cx="100694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E78CD"/>
                </a:solidFill>
                <a:latin typeface="Aptos"/>
              </a:rPr>
              <a:t>Defect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18488"/>
            <a:ext cx="5074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B34"/>
                </a:solidFill>
                <a:latin typeface="Consolas"/>
              </a:rPr>
              <a:t>DIVIDE(
    [Total Defects],
    [Total Produced Units],
    0
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97480"/>
            <a:ext cx="5440680" cy="1586484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07208"/>
            <a:ext cx="19107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E78CD"/>
                </a:solidFill>
                <a:latin typeface="Aptos"/>
              </a:rPr>
              <a:t>Production Achievement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72968"/>
            <a:ext cx="5074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B34"/>
                </a:solidFill>
                <a:latin typeface="Consolas"/>
              </a:rPr>
              <a:t>DIVIDE(
    [Total Produced Units],
    [Total Planned Units],
    0
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97480"/>
            <a:ext cx="5440680" cy="1586484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807208"/>
            <a:ext cx="12454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78CD"/>
                </a:solidFill>
                <a:latin typeface="Aptos"/>
              </a:rPr>
              <a:t>Energy per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72968"/>
            <a:ext cx="5074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Consolas"/>
              </a:rPr>
              <a:t>DIVIDE(
    [Total Energy Consumed],
    [Total Produced Units],
    0
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01860"/>
            <a:ext cx="11018520" cy="16687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61688"/>
            <a:ext cx="24440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78CD"/>
                </a:solidFill>
                <a:latin typeface="Aptos"/>
              </a:rPr>
              <a:t>Estimated Defect Cost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27448"/>
            <a:ext cx="106527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4"/>
                </a:solidFill>
                <a:latin typeface="Consolas"/>
              </a:rPr>
              <a:t>SUMX(
    fact_production,
    fact_production[quantity_defective]
        * RELATED(dim_products[unit_cost])
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Power BI Dashboard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64008" cy="114300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280160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PAGE 01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Executive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64008" cy="114300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280160"/>
            <a:ext cx="275084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PAGE 02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Production &amp; </a:t>
            </a:r>
            <a:br>
              <a:rPr lang="en-IN" sz="2000" b="1" dirty="0">
                <a:solidFill>
                  <a:srgbClr val="16375B"/>
                </a:solidFill>
                <a:latin typeface="Aptos"/>
              </a:rPr>
            </a:br>
            <a:r>
              <a:rPr sz="2000" b="1" dirty="0">
                <a:solidFill>
                  <a:srgbClr val="16375B"/>
                </a:solidFill>
                <a:latin typeface="Aptos"/>
              </a:rPr>
              <a:t>Plant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1430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143000"/>
            <a:ext cx="64008" cy="114300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280160"/>
            <a:ext cx="2666820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PAGE 03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Machine &amp; Downtime</a:t>
            </a:r>
            <a:br>
              <a:rPr lang="en-IN" sz="2000" b="1" dirty="0">
                <a:solidFill>
                  <a:srgbClr val="16375B"/>
                </a:solidFill>
                <a:latin typeface="Aptos"/>
              </a:rPr>
            </a:br>
            <a:r>
              <a:rPr sz="2000" b="1" dirty="0">
                <a:solidFill>
                  <a:srgbClr val="16375B"/>
                </a:solidFill>
                <a:latin typeface="Aptos"/>
              </a:rPr>
              <a:t>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64008" cy="114300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2834640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PAGE 04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Quality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6974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697480"/>
            <a:ext cx="64008" cy="114300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2834640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PAGE 05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Operational Efficiency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26974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59" y="2697480"/>
            <a:ext cx="64008" cy="114300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7" y="2834640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PAGE 06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Finance &amp; Cost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51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4251960"/>
            <a:ext cx="64008" cy="1143000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4389120"/>
            <a:ext cx="3029740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PAGE 07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Procurement &amp; Supplier </a:t>
            </a:r>
            <a:br>
              <a:rPr lang="en-IN" sz="2000" b="1" dirty="0">
                <a:solidFill>
                  <a:srgbClr val="16375B"/>
                </a:solidFill>
                <a:latin typeface="Aptos"/>
              </a:rPr>
            </a:br>
            <a:r>
              <a:rPr sz="2000" b="1" dirty="0">
                <a:solidFill>
                  <a:srgbClr val="16375B"/>
                </a:solidFill>
                <a:latin typeface="Aptos"/>
              </a:rPr>
              <a:t>Performance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251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4251960"/>
            <a:ext cx="64008" cy="1143000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0288" y="4389120"/>
            <a:ext cx="2417970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PAGE 08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Materials &amp; Supply </a:t>
            </a:r>
            <a:br>
              <a:rPr lang="en-IN" sz="2000" b="1" dirty="0">
                <a:solidFill>
                  <a:srgbClr val="16375B"/>
                </a:solidFill>
                <a:latin typeface="Aptos"/>
              </a:rPr>
            </a:br>
            <a:r>
              <a:rPr sz="2000" b="1" dirty="0">
                <a:solidFill>
                  <a:srgbClr val="16375B"/>
                </a:solidFill>
                <a:latin typeface="Aptos"/>
              </a:rPr>
              <a:t>Chain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9" y="4251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59" y="4251960"/>
            <a:ext cx="64008" cy="1143000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39327" y="4389120"/>
            <a:ext cx="2109488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PAGE 09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Operator &amp; Shift </a:t>
            </a:r>
            <a:br>
              <a:rPr lang="en-IN" sz="2000" b="1" dirty="0">
                <a:solidFill>
                  <a:srgbClr val="16375B"/>
                </a:solidFill>
                <a:latin typeface="Aptos"/>
              </a:rPr>
            </a:br>
            <a:r>
              <a:rPr sz="2000" b="1" dirty="0">
                <a:solidFill>
                  <a:srgbClr val="16375B"/>
                </a:solidFill>
                <a:latin typeface="Aptos"/>
              </a:rPr>
              <a:t>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Planned Units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Produced Units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Achievement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96.26%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~18K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 Rate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1.71%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Downtime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~2.69K 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754880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475488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489204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Energy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~1.34M kWh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5376672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26679" y="537667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27848" y="551383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Procurement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~1.16bn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Production &amp; Plant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68122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Achievement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96.26%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Shortfall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~41K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P003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96.73%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P002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96.64%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P004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96.25%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P001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95.40%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Machine &amp; Downtime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Downtime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~2.04K 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Avg Downtime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1.57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Events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Dec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218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Mar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152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Oct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Quality &amp; Defect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649224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Inspected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Defective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~18K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 Rate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1.71%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Rework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55.97%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Rework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~599K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740664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Pass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~378K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754880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475488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489204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Fail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~93K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Operational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68122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Achievement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96.26%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 Rate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1.71%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Downtime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~2.69K 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Energy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~1.34M kWh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740664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Energy / Unit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1.25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Finance &amp;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Procurement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~1.16bn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Unit Cost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29.73K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Potential Margin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13.03K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 Exposure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~544M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Procurement &amp; Supplier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PO Volume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Procurement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~1.16bn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Actual Lead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11.93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On-Time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83.45%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On-Time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~918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Delayed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~182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754880"/>
            <a:ext cx="3794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475488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489204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697684"/>
                </a:solidFill>
                <a:latin typeface="Aptos"/>
              </a:rPr>
              <a:t>Top Supplier</a:t>
            </a: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16375B"/>
                </a:solidFill>
                <a:latin typeface="Aptos"/>
              </a:rPr>
              <a:t>Bright Components 4.6/5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Materials &amp; Supply Chain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Materials Used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Materials / Product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12.00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High-Cost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649224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Std. Cost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~1.52K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Compressor Unit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~5.2K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Motor Assembly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~4.2K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754880"/>
            <a:ext cx="3794760" cy="74523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475488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489204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Control Board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~3.1K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Operator &amp; Shift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pic>
        <p:nvPicPr>
          <p:cNvPr id="9" name="Picture 8" descr="PAGE - 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90372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24128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02412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161288"/>
            <a:ext cx="34747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Production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794760" cy="68122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4592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78308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Defects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~18K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67712"/>
            <a:ext cx="379476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267712"/>
            <a:ext cx="64008" cy="56692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240487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Operators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89504"/>
            <a:ext cx="3794760" cy="7269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889504"/>
            <a:ext cx="64008" cy="56692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302666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Avg Experience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7.77 years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511296"/>
            <a:ext cx="3794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3511296"/>
            <a:ext cx="64008" cy="56692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64845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Morning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~0.51M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133088"/>
            <a:ext cx="3794760" cy="7086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79" y="4133088"/>
            <a:ext cx="64008" cy="56692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42702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Night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~0.36M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754880"/>
            <a:ext cx="37947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4754880"/>
            <a:ext cx="64008" cy="56692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489204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97684"/>
                </a:solidFill>
                <a:latin typeface="Aptos"/>
              </a:rPr>
              <a:t>Evening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6375B"/>
                </a:solidFill>
                <a:latin typeface="Aptos"/>
              </a:rPr>
              <a:t>~0.20M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Cross-Dashboard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78992"/>
            <a:ext cx="5394960" cy="946404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078992"/>
            <a:ext cx="64008" cy="84124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216151"/>
            <a:ext cx="4684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01</a:t>
            </a:r>
            <a:br>
              <a:rPr lang="en-IN" sz="1400" dirty="0"/>
            </a:br>
            <a:r>
              <a:rPr lang="en-IN" sz="1400" b="1" dirty="0"/>
              <a:t>Production achievement is 96.26%, with a 41K-unit shortfall.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1078992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078992"/>
            <a:ext cx="64008" cy="84124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216151"/>
            <a:ext cx="37460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02</a:t>
            </a:r>
            <a:br>
              <a:rPr lang="en-IN" sz="1400" dirty="0"/>
            </a:br>
            <a:r>
              <a:rPr lang="en-IN" sz="1400" b="1" dirty="0"/>
              <a:t>Defect rate is 1.71%, with a 55.97% rework rate.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594360" y="2103120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103120"/>
            <a:ext cx="64008" cy="84124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2240279"/>
            <a:ext cx="4677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03 </a:t>
            </a:r>
          </a:p>
          <a:p>
            <a:r>
              <a:rPr lang="en-IN" sz="1400" b="1" dirty="0"/>
              <a:t>Total downtime is 2.69K hours, requiring operational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64008" cy="84124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240279"/>
            <a:ext cx="44320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04</a:t>
            </a:r>
            <a:br>
              <a:rPr lang="en-IN" sz="1400" dirty="0"/>
            </a:br>
            <a:r>
              <a:rPr lang="en-IN" sz="1400" b="1" dirty="0"/>
              <a:t>Energy consumption is 1.34M kWh, at 1.25 kWh per unit.</a:t>
            </a:r>
            <a:endParaRPr lang="en-IN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594360" y="3127248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127248"/>
            <a:ext cx="64008" cy="84124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264408"/>
            <a:ext cx="499906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05</a:t>
            </a:r>
            <a:br>
              <a:rPr lang="en-IN" sz="1400" dirty="0"/>
            </a:br>
            <a:r>
              <a:rPr lang="en-IN" sz="1400" b="1" dirty="0"/>
              <a:t>Procurement spend is 1.16bn, concentrated in key materials and </a:t>
            </a:r>
          </a:p>
          <a:p>
            <a:r>
              <a:rPr lang="en-IN" sz="1400" b="1" dirty="0"/>
              <a:t>suppliers.</a:t>
            </a:r>
            <a:endParaRPr lang="en-IN"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6217920" y="3127248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127248"/>
            <a:ext cx="64008" cy="841248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264408"/>
            <a:ext cx="47734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06</a:t>
            </a:r>
            <a:br>
              <a:rPr lang="en-IN" sz="1400" b="1" dirty="0"/>
            </a:br>
            <a:r>
              <a:rPr lang="en-IN" sz="1400" b="1" dirty="0"/>
              <a:t>Estimated defect cost exposure is 544M, not a confirmed loss.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151376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4151376"/>
            <a:ext cx="64008" cy="841248"/>
          </a:xfrm>
          <a:prstGeom prst="rect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4288536"/>
            <a:ext cx="54232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07</a:t>
            </a:r>
            <a:br>
              <a:rPr lang="en-IN" sz="1400" b="1" dirty="0"/>
            </a:br>
            <a:r>
              <a:rPr lang="en-IN" sz="1400" b="1" dirty="0"/>
              <a:t>Supplier on-time delivery is 83.45%, indicating room for improvement.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51376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151376"/>
            <a:ext cx="64008" cy="841248"/>
          </a:xfrm>
          <a:prstGeom prst="rect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288536"/>
            <a:ext cx="57597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08</a:t>
            </a:r>
            <a:br>
              <a:rPr lang="en-IN" sz="1400" b="1" dirty="0"/>
            </a:br>
            <a:r>
              <a:rPr lang="en-IN" sz="1400" b="1" dirty="0"/>
              <a:t>Morning shift leads in production and has the highest displayed downtime.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75504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5175504"/>
            <a:ext cx="64008" cy="841248"/>
          </a:xfrm>
          <a:prstGeom prst="rect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8" y="5312664"/>
            <a:ext cx="50878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09</a:t>
            </a:r>
            <a:br>
              <a:rPr lang="en-IN" sz="1400" b="1" dirty="0"/>
            </a:br>
            <a:r>
              <a:rPr lang="en-IN" sz="1400" b="1" dirty="0"/>
              <a:t>High-cost materials increase both cost and supply-chain exposure.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75504"/>
            <a:ext cx="53949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175504"/>
            <a:ext cx="64008" cy="841248"/>
          </a:xfrm>
          <a:prstGeom prst="rect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9088" y="5312664"/>
            <a:ext cx="520501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 dirty="0"/>
              <a:t>INSIGHT 10</a:t>
            </a:r>
            <a:br>
              <a:rPr lang="en-IN" sz="1400" b="1" dirty="0"/>
            </a:br>
            <a:r>
              <a:rPr lang="en-IN" sz="1400" b="1" dirty="0"/>
              <a:t>Quality, downtime, energy, procurement, and production should be</a:t>
            </a:r>
          </a:p>
          <a:p>
            <a:r>
              <a:rPr lang="en-IN" sz="1400" b="1" dirty="0"/>
              <a:t> evaluated together.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Key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1887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78CD"/>
                </a:solidFill>
                <a:latin typeface="Aptos"/>
              </a:rPr>
              <a:t>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1848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Investigate the ~41K-unit shortfall; review P001 and monthly production fluctuations.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5156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15CB4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1848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Investigate Electrical, Packaging, and Assembly defects; review the 55.97% displayed rework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46888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5B"/>
                </a:solidFill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03580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Analyze downtime by machine, plant, shift, and reason; monitor energy per unit with output.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6888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912A"/>
                </a:solidFill>
                <a:latin typeface="Aptos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03580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Review high-spend materials and the ~544M estimated defect cost exposure.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23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24B4B"/>
                </a:solidFill>
                <a:latin typeface="Aptos"/>
              </a:rPr>
              <a:t>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45312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Improve the 83.45% on-time delivery rate and investigate delayed purchase orders.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8620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78CD"/>
                </a:solidFill>
                <a:latin typeface="Aptos"/>
              </a:rPr>
              <a:t>Materials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45312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Monitor high-cost materials and supply-chain downtime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303520"/>
            <a:ext cx="53949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15CB4"/>
                </a:solidFill>
                <a:latin typeface="Aptos"/>
              </a:rPr>
              <a:t>Workforce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870448"/>
            <a:ext cx="5065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• Investigate Morning-shift downtime and operator-level defect patterns.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Priority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4290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" y="1581912"/>
            <a:ext cx="658368" cy="658368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18488"/>
            <a:ext cx="18776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6375B"/>
                </a:solidFill>
                <a:latin typeface="Aptos"/>
              </a:rPr>
              <a:t>Production shortfall &amp; </a:t>
            </a:r>
            <a:endParaRPr lang="en-IN" sz="1300" b="1" dirty="0">
              <a:solidFill>
                <a:srgbClr val="16375B"/>
              </a:solidFill>
              <a:latin typeface="Aptos"/>
            </a:endParaRPr>
          </a:p>
          <a:p>
            <a:r>
              <a:rPr sz="1300" b="1" dirty="0">
                <a:solidFill>
                  <a:srgbClr val="16375B"/>
                </a:solidFill>
                <a:latin typeface="Aptos"/>
              </a:rPr>
              <a:t>plant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325880"/>
            <a:ext cx="34290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45152" y="1581912"/>
            <a:ext cx="658368" cy="658368"/>
          </a:xfrm>
          <a:prstGeom prst="ellipse">
            <a:avLst/>
          </a:prstGeom>
          <a:solidFill>
            <a:srgbClr val="D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618488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75B"/>
                </a:solidFill>
                <a:latin typeface="Aptos"/>
              </a:rPr>
              <a:t>Defect rate &amp; rework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25880"/>
            <a:ext cx="34290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9912" y="1581912"/>
            <a:ext cx="658368" cy="658368"/>
          </a:xfrm>
          <a:prstGeom prst="ellipse">
            <a:avLst/>
          </a:prstGeom>
          <a:solidFill>
            <a:srgbClr val="EB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618488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75B"/>
                </a:solidFill>
                <a:latin typeface="Aptos"/>
              </a:rPr>
              <a:t>Estimated defect cost exposure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34290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0392" y="3593592"/>
            <a:ext cx="658368" cy="658368"/>
          </a:xfrm>
          <a:prstGeom prst="ellipse">
            <a:avLst/>
          </a:prstGeom>
          <a:solidFill>
            <a:srgbClr val="71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30168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75B"/>
                </a:solidFill>
                <a:latin typeface="Aptos"/>
              </a:rPr>
              <a:t>Supplier delivery &amp; procurement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37560"/>
            <a:ext cx="34290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45152" y="3593592"/>
            <a:ext cx="658368" cy="658368"/>
          </a:xfrm>
          <a:prstGeom prst="ellipse">
            <a:avLst/>
          </a:prstGeom>
          <a:solidFill>
            <a:srgbClr val="2A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630168"/>
            <a:ext cx="148630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6375B"/>
                </a:solidFill>
                <a:latin typeface="Aptos"/>
              </a:rPr>
              <a:t>Material cost &amp; </a:t>
            </a:r>
            <a:endParaRPr lang="en-IN" sz="1300" b="1" dirty="0">
              <a:solidFill>
                <a:srgbClr val="16375B"/>
              </a:solidFill>
              <a:latin typeface="Aptos"/>
            </a:endParaRPr>
          </a:p>
          <a:p>
            <a:r>
              <a:rPr sz="1300" b="1" dirty="0">
                <a:solidFill>
                  <a:srgbClr val="16375B"/>
                </a:solidFill>
                <a:latin typeface="Aptos"/>
              </a:rPr>
              <a:t>supply-chain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337560"/>
            <a:ext cx="34290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39912" y="3593592"/>
            <a:ext cx="658368" cy="658368"/>
          </a:xfrm>
          <a:prstGeom prst="ellipse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30168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75B"/>
                </a:solidFill>
                <a:latin typeface="Aptos"/>
              </a:rPr>
              <a:t>Operator &amp; shift efficiency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486400"/>
            <a:ext cx="2647188" cy="658368"/>
          </a:xfrm>
          <a:prstGeom prst="roundRect">
            <a:avLst/>
          </a:prstGeom>
          <a:solidFill>
            <a:srgbClr val="E1EF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Problem</a:t>
            </a:r>
          </a:p>
        </p:txBody>
      </p:sp>
      <p:sp>
        <p:nvSpPr>
          <p:cNvPr id="28" name="Chevron 27"/>
          <p:cNvSpPr/>
          <p:nvPr/>
        </p:nvSpPr>
        <p:spPr>
          <a:xfrm>
            <a:off x="3268979" y="5650992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69564" y="5486400"/>
            <a:ext cx="2647188" cy="658368"/>
          </a:xfrm>
          <a:prstGeom prst="roundRect">
            <a:avLst/>
          </a:prstGeom>
          <a:solidFill>
            <a:srgbClr val="F6F9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Analysis</a:t>
            </a:r>
          </a:p>
        </p:txBody>
      </p:sp>
      <p:sp>
        <p:nvSpPr>
          <p:cNvPr id="30" name="Chevron 29"/>
          <p:cNvSpPr/>
          <p:nvPr/>
        </p:nvSpPr>
        <p:spPr>
          <a:xfrm>
            <a:off x="6044184" y="5650992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44768" y="5486400"/>
            <a:ext cx="2647188" cy="658368"/>
          </a:xfrm>
          <a:prstGeom prst="roundRect">
            <a:avLst/>
          </a:prstGeom>
          <a:solidFill>
            <a:srgbClr val="E1EF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Action</a:t>
            </a:r>
          </a:p>
        </p:txBody>
      </p:sp>
      <p:sp>
        <p:nvSpPr>
          <p:cNvPr id="32" name="Chevron 31"/>
          <p:cNvSpPr/>
          <p:nvPr/>
        </p:nvSpPr>
        <p:spPr>
          <a:xfrm>
            <a:off x="8819388" y="5650992"/>
            <a:ext cx="73152" cy="329184"/>
          </a:xfrm>
          <a:prstGeom prst="chevron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19972" y="5486400"/>
            <a:ext cx="2647188" cy="658368"/>
          </a:xfrm>
          <a:prstGeom prst="roundRect">
            <a:avLst/>
          </a:prstGeom>
          <a:solidFill>
            <a:srgbClr val="F6F9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Business Benefit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75B"/>
                </a:solidFill>
                <a:latin typeface="Aptos"/>
              </a:rPr>
              <a:t>Expected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E78CD"/>
                </a:solidFill>
                <a:latin typeface="Aptos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4"/>
                </a:solidFill>
                <a:latin typeface="Aptos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4"/>
                </a:solidFill>
                <a:latin typeface="Aptos"/>
              </a:rPr>
              <a:t>AeroHome Manufacturing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349240" cy="47548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80160"/>
            <a:ext cx="30697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A915B"/>
                </a:solidFill>
                <a:latin typeface="Aptos"/>
              </a:rPr>
              <a:t>Operational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09928"/>
            <a:ext cx="5020055" cy="251607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Improved production achievement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Reduced production shortfall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Lower defect rate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Reduced rework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Lower downtime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Better energy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349240" cy="4754880"/>
          </a:xfrm>
          <a:prstGeom prst="roundRect">
            <a:avLst/>
          </a:prstGeom>
          <a:solidFill>
            <a:srgbClr val="F6F9FC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26881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78CD"/>
                </a:solidFill>
                <a:latin typeface="Aptos"/>
              </a:rPr>
              <a:t>Business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5020055" cy="20928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Improved supplier delivery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Better procurement visibility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Reduced material risk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Improved operator utilization</a:t>
            </a:r>
          </a:p>
          <a:p>
            <a:pPr>
              <a:spcAft>
                <a:spcPts val="9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2000" dirty="0"/>
              <a:t>• Faster management decisions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1005840"/>
            <a:ext cx="10652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6375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9326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232B34"/>
                </a:solidFill>
                <a:latin typeface="Aptos"/>
              </a:rPr>
              <a:t>AeroHome Manufacturing Analytics provides a centralized Power BI-based view of production, quality, operations, finance, procurement, supply chain, and workforce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337560"/>
            <a:ext cx="932688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B34"/>
                </a:solidFill>
                <a:latin typeface="Aptos"/>
              </a:defRPr>
            </a:pPr>
            <a:r>
              <a:t>• The dashboard converts operational data into actionable business intelligence.</a:t>
            </a:r>
          </a:p>
          <a:p>
            <a:pPr>
              <a:spcAft>
                <a:spcPts val="900"/>
              </a:spcAft>
              <a:defRPr sz="1300">
                <a:solidFill>
                  <a:srgbClr val="232B34"/>
                </a:solidFill>
                <a:latin typeface="Aptos"/>
              </a:defRPr>
            </a:pPr>
            <a:r>
              <a:t>• The analysis identifies performance gaps and cost exposures.</a:t>
            </a:r>
          </a:p>
          <a:p>
            <a:pPr>
              <a:spcAft>
                <a:spcPts val="900"/>
              </a:spcAft>
              <a:defRPr sz="1300">
                <a:solidFill>
                  <a:srgbClr val="232B34"/>
                </a:solidFill>
                <a:latin typeface="Aptos"/>
              </a:defRPr>
            </a:pPr>
            <a:r>
              <a:t>• Cross-functional KPI analysis supports better decision-making.</a:t>
            </a:r>
          </a:p>
          <a:p>
            <a:pPr>
              <a:spcAft>
                <a:spcPts val="900"/>
              </a:spcAft>
              <a:defRPr sz="1300">
                <a:solidFill>
                  <a:srgbClr val="232B34"/>
                </a:solidFill>
                <a:latin typeface="Aptos"/>
              </a:defRPr>
            </a:pPr>
            <a:r>
              <a:t>• Continuous monitoring can help improve productivity, quality, cost control, and operational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78CD"/>
                </a:solidFill>
                <a:latin typeface="Aptos"/>
              </a:rPr>
              <a:t>THANK YOU</a:t>
            </a:r>
          </a:p>
          <a:p>
            <a:pPr algn="ctr"/>
            <a:r>
              <a:rPr sz="1100" b="1">
                <a:solidFill>
                  <a:srgbClr val="16375B"/>
                </a:solidFill>
                <a:latin typeface="Aptos"/>
              </a:rPr>
              <a:t>AEROHOME MANUFACTURING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1351</Words>
  <Application>Microsoft Office PowerPoint</Application>
  <PresentationFormat>Widescreen</PresentationFormat>
  <Paragraphs>434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KARTHICK</dc:creator>
  <cp:keywords/>
  <dc:description>generated using python-pptx</dc:description>
  <cp:lastModifiedBy>S0040569</cp:lastModifiedBy>
  <cp:revision>8</cp:revision>
  <dcterms:created xsi:type="dcterms:W3CDTF">2013-01-27T09:14:16Z</dcterms:created>
  <dcterms:modified xsi:type="dcterms:W3CDTF">2026-10-04T05:34:37Z</dcterms:modified>
  <cp:category/>
</cp:coreProperties>
</file>