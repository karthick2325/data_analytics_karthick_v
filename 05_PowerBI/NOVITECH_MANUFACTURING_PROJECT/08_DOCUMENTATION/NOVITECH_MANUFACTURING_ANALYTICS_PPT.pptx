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4" d="100"/>
          <a:sy n="74" d="100"/>
        </p:scale>
        <p:origin x="552" y="-1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182880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2F80ED"/>
                </a:solidFill>
                <a:latin typeface="Aptos"/>
              </a:defRPr>
            </a:pPr>
            <a:r>
              <a:t>NOVITECH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08760"/>
            <a:ext cx="7680960" cy="1325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3700" b="1">
                <a:solidFill>
                  <a:srgbClr val="1F4E79"/>
                </a:solidFill>
                <a:latin typeface="Aptos"/>
              </a:defRPr>
            </a:pPr>
            <a:r>
              <a:t>MANUFACTURING</a:t>
            </a:r>
            <a:br/>
            <a:r>
              <a:t>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063240"/>
            <a:ext cx="6583680" cy="7315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Aptos"/>
              </a:defRPr>
            </a:pPr>
            <a:r>
              <a:t>Production, Quality, Finance, Operational Efficiency &amp; Supply Chain Analytics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160520"/>
            <a:ext cx="2148840" cy="329184"/>
          </a:xfrm>
          <a:prstGeom prst="round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4215383"/>
            <a:ext cx="2002536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950" b="1">
                <a:solidFill>
                  <a:srgbClr val="1F4E79"/>
                </a:solidFill>
                <a:latin typeface="Aptos"/>
              </a:defRPr>
            </a:pPr>
            <a:r>
              <a:t>MICROSOFT POWER BI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4160520"/>
            <a:ext cx="2423160" cy="329184"/>
          </a:xfrm>
          <a:prstGeom prst="roundRect">
            <a:avLst/>
          </a:prstGeom>
          <a:solidFill>
            <a:srgbClr val="F1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44952" y="4215383"/>
            <a:ext cx="2276856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950" b="1">
                <a:solidFill>
                  <a:srgbClr val="1F4E79"/>
                </a:solidFill>
                <a:latin typeface="Aptos"/>
              </a:defRPr>
            </a:pPr>
            <a:r>
              <a:t>BUSINESS INTELLIGENCE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32120" y="4160520"/>
            <a:ext cx="1691640" cy="329184"/>
          </a:xfrm>
          <a:prstGeom prst="round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05272" y="4215383"/>
            <a:ext cx="1545336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950" b="1">
                <a:solidFill>
                  <a:srgbClr val="1F4E79"/>
                </a:solidFill>
                <a:latin typeface="Aptos"/>
              </a:defRPr>
            </a:pPr>
            <a:r>
              <a:t>MANUFACTURING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1143000"/>
            <a:ext cx="2926080" cy="384048"/>
          </a:xfrm>
          <a:prstGeom prst="roundRect">
            <a:avLst/>
          </a:prstGeom>
          <a:solidFill>
            <a:srgbClr val="EAF3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498124" y="1783080"/>
            <a:ext cx="3657600" cy="384048"/>
          </a:xfrm>
          <a:prstGeom prst="roundRect">
            <a:avLst/>
          </a:prstGeom>
          <a:solidFill>
            <a:srgbClr val="F5F7F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549640" y="2423160"/>
            <a:ext cx="2286000" cy="384048"/>
          </a:xfrm>
          <a:prstGeom prst="roundRect">
            <a:avLst/>
          </a:prstGeom>
          <a:solidFill>
            <a:srgbClr val="EAF3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549640" y="3063240"/>
            <a:ext cx="3606084" cy="384048"/>
          </a:xfrm>
          <a:prstGeom prst="roundRect">
            <a:avLst/>
          </a:prstGeom>
          <a:solidFill>
            <a:srgbClr val="F5F7F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549640" y="3703320"/>
            <a:ext cx="2743200" cy="384048"/>
          </a:xfrm>
          <a:prstGeom prst="roundRect">
            <a:avLst/>
          </a:prstGeom>
          <a:solidFill>
            <a:srgbClr val="EAF3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732520" y="4480560"/>
            <a:ext cx="2743200" cy="7315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800" b="1">
                <a:solidFill>
                  <a:srgbClr val="1F4E79"/>
                </a:solidFill>
                <a:latin typeface="Aptos"/>
              </a:defRPr>
            </a:pPr>
            <a:r>
              <a:t>End-to-End</a:t>
            </a:r>
            <a:br/>
            <a:r>
              <a:t>Data Analytics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1052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D"/>
                </a:solidFill>
                <a:latin typeface="Aptos"/>
              </a:defRPr>
            </a:pPr>
            <a:r>
              <a:t>NOVITECH MANUFACTURING  |  POWER BI ANALYTICS                                    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4E79"/>
                </a:solidFill>
                <a:latin typeface="Aptos Display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789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D"/>
                </a:solidFill>
                <a:latin typeface="Aptos"/>
              </a:defRPr>
            </a:pPr>
            <a:r>
              <a:t>Centralized Power BI analytics for manufacturing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7772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10972800" cy="6400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Aptos"/>
              </a:defRPr>
            </a:pPr>
            <a:r>
              <a:t>Novitech Manufacturing operates multiple plants and produces different products using raw materials purchased from external suppliers.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57400"/>
            <a:ext cx="10972800" cy="5943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646E7D"/>
                </a:solidFill>
                <a:latin typeface="Aptos"/>
              </a:defRPr>
            </a:pPr>
            <a:r>
              <a:t>The solution integrates manufacturing and procurement data into a centralized analytical environment for management visibility.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041991"/>
            <a:ext cx="32461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3016233"/>
            <a:ext cx="54864" cy="9601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3063240"/>
            <a:ext cx="29718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646E7D"/>
                </a:solidFill>
                <a:latin typeface="Aptos"/>
              </a:defRPr>
            </a:pPr>
            <a:r>
              <a:t>Production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794760"/>
            <a:ext cx="2971800" cy="274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50" b="0">
                <a:solidFill>
                  <a:srgbClr val="333333"/>
                </a:solidFill>
                <a:latin typeface="Aptos"/>
              </a:defRPr>
            </a:pPr>
            <a:r>
              <a:t>Output and production activity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3029112"/>
            <a:ext cx="32461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97680" y="3016233"/>
            <a:ext cx="54864" cy="960120"/>
          </a:xfrm>
          <a:prstGeom prst="rect">
            <a:avLst/>
          </a:prstGeom>
          <a:solidFill>
            <a:srgbClr val="CD4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62272" y="3063240"/>
            <a:ext cx="29718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646E7D"/>
                </a:solidFill>
                <a:latin typeface="Aptos"/>
              </a:defRPr>
            </a:pPr>
            <a:r>
              <a:t>Quality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3794760"/>
            <a:ext cx="2971800" cy="274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50" b="0">
                <a:solidFill>
                  <a:srgbClr val="333333"/>
                </a:solidFill>
                <a:latin typeface="Aptos"/>
              </a:defRPr>
            </a:pPr>
            <a:r>
              <a:rPr dirty="0"/>
              <a:t>Defective production and quality loss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3041991"/>
            <a:ext cx="32461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01000" y="3016233"/>
            <a:ext cx="54864" cy="960120"/>
          </a:xfrm>
          <a:prstGeom prst="rect">
            <a:avLst/>
          </a:prstGeom>
          <a:solidFill>
            <a:srgbClr val="2D8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65592" y="3063240"/>
            <a:ext cx="29718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646E7D"/>
                </a:solidFill>
                <a:latin typeface="Aptos"/>
              </a:defRPr>
            </a:pPr>
            <a:r>
              <a:t>Operations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5592" y="3794760"/>
            <a:ext cx="2971800" cy="274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50" b="0">
                <a:solidFill>
                  <a:srgbClr val="333333"/>
                </a:solidFill>
                <a:latin typeface="Aptos"/>
              </a:defRPr>
            </a:pPr>
            <a:r>
              <a:t>Downtime, energy, operators and shifts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263552"/>
            <a:ext cx="32461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94360" y="4250673"/>
            <a:ext cx="54864" cy="9601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8952" y="4297680"/>
            <a:ext cx="29718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646E7D"/>
                </a:solidFill>
                <a:latin typeface="Aptos"/>
              </a:defRPr>
            </a:pPr>
            <a:r>
              <a:t>Finance &amp; Cost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5029200"/>
            <a:ext cx="2971800" cy="274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50" b="0">
                <a:solidFill>
                  <a:srgbClr val="333333"/>
                </a:solidFill>
                <a:latin typeface="Aptos"/>
              </a:defRPr>
            </a:pPr>
            <a:r>
              <a:t>Cost exposure and procurement spend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4263552"/>
            <a:ext cx="32461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297680" y="4212680"/>
            <a:ext cx="54864" cy="960120"/>
          </a:xfrm>
          <a:prstGeom prst="rect">
            <a:avLst/>
          </a:prstGeom>
          <a:solidFill>
            <a:srgbClr val="E6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62272" y="4297680"/>
            <a:ext cx="29718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646E7D"/>
                </a:solidFill>
                <a:latin typeface="Aptos"/>
              </a:defRPr>
            </a:pPr>
            <a:r>
              <a:t>Procurement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62272" y="5029200"/>
            <a:ext cx="2971800" cy="274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50" b="0">
                <a:solidFill>
                  <a:srgbClr val="333333"/>
                </a:solidFill>
                <a:latin typeface="Aptos"/>
              </a:defRPr>
            </a:pPr>
            <a:r>
              <a:t>Purchase orders, delays and lead time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01000" y="4276431"/>
            <a:ext cx="32461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001000" y="4250673"/>
            <a:ext cx="54864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165592" y="4297680"/>
            <a:ext cx="29718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646E7D"/>
                </a:solidFill>
                <a:latin typeface="Aptos"/>
              </a:defRPr>
            </a:pPr>
            <a:r>
              <a:t>Supply Chain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65592" y="5029200"/>
            <a:ext cx="2971800" cy="274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50" b="0">
                <a:solidFill>
                  <a:srgbClr val="333333"/>
                </a:solidFill>
                <a:latin typeface="Aptos"/>
              </a:defRPr>
            </a:pPr>
            <a:r>
              <a:t>Material dependencies and supplier risk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51052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D"/>
                </a:solidFill>
                <a:latin typeface="Aptos"/>
              </a:defRPr>
            </a:pPr>
            <a:r>
              <a:t>NOVITECH MANUFACTURING  |  POWER BI ANALYTICS                                    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4E79"/>
                </a:solidFill>
                <a:latin typeface="Aptos Display"/>
              </a:defRPr>
            </a:pPr>
            <a:r>
              <a:t>Business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789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D"/>
                </a:solidFill>
                <a:latin typeface="Aptos"/>
              </a:defRPr>
            </a:pPr>
            <a:r>
              <a:t>Why a centralized analytical solution is required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7772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6400800" cy="5943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800" b="1">
                <a:solidFill>
                  <a:srgbClr val="1F4E79"/>
                </a:solidFill>
                <a:latin typeface="Aptos"/>
              </a:defRPr>
            </a:pPr>
            <a:r>
              <a:t>Novitech Manufacturing lacks a centralized view of operational and financial performance.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40280"/>
            <a:ext cx="512064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2240280"/>
            <a:ext cx="54864" cy="329184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2377440"/>
            <a:ext cx="484632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646E7D"/>
                </a:solidFill>
                <a:latin typeface="Aptos"/>
              </a:defRPr>
            </a:pPr>
            <a:r>
              <a:t>MANAGEMENT VISIBILITY GAPS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97480"/>
            <a:ext cx="4617720" cy="2423160"/>
          </a:xfrm>
          <a:prstGeom prst="rect">
            <a:avLst/>
          </a:prstGeom>
          <a:noFill/>
        </p:spPr>
        <p:txBody>
          <a:bodyPr wrap="square" lIns="36576" rIns="27432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Aptos"/>
              </a:defRPr>
            </a:pPr>
            <a:r>
              <a:t>• Production output is distributed across datasets.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Aptos"/>
              </a:defRPr>
            </a:pPr>
            <a:r>
              <a:t>• Defective production and quality-loss areas are not easily visible.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Aptos"/>
              </a:defRPr>
            </a:pPr>
            <a:r>
              <a:t>• Downtime and energy efficiency require consolidated analysis.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Aptos"/>
              </a:defRPr>
            </a:pPr>
            <a:r>
              <a:t>• Procurement spending and supplier performance need comparison.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Aptos"/>
              </a:defRPr>
            </a:pPr>
            <a:r>
              <a:t>• Raw-material dependency creates potential supply-chain exposure.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240280"/>
            <a:ext cx="512064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0" y="2240280"/>
            <a:ext cx="54864" cy="329184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65392" y="2377440"/>
            <a:ext cx="484632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646E7D"/>
                </a:solidFill>
                <a:latin typeface="Aptos"/>
              </a:defRPr>
            </a:pPr>
            <a:r>
              <a:t>BUSINESS 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697480"/>
            <a:ext cx="4617720" cy="2423160"/>
          </a:xfrm>
          <a:prstGeom prst="rect">
            <a:avLst/>
          </a:prstGeom>
          <a:noFill/>
        </p:spPr>
        <p:txBody>
          <a:bodyPr wrap="square" lIns="36576" rIns="27432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Aptos"/>
              </a:defRPr>
            </a:pPr>
            <a:r>
              <a:t>• Limited understanding of operational efficiency.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Aptos"/>
              </a:defRPr>
            </a:pPr>
            <a:r>
              <a:t>• Difficulty identifying cost exposure.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Aptos"/>
              </a:defRPr>
            </a:pPr>
            <a:r>
              <a:t>• Delayed visibility into procurement issues.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Aptos"/>
              </a:defRPr>
            </a:pPr>
            <a:r>
              <a:t>• Difficulty identifying shared critical materials.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Aptos"/>
              </a:defRPr>
            </a:pPr>
            <a:r>
              <a:t>• Need for a single management dashboard.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51052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D"/>
                </a:solidFill>
                <a:latin typeface="Aptos"/>
              </a:defRPr>
            </a:pPr>
            <a:r>
              <a:t>NOVITECH MANUFACTURING  |  POWER BI ANALYTICS                                    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4E79"/>
                </a:solidFill>
                <a:latin typeface="Aptos Display"/>
              </a:defRPr>
            </a:pPr>
            <a:r>
              <a:t>Core Business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789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D"/>
                </a:solidFill>
                <a:latin typeface="Aptos"/>
              </a:defRPr>
            </a:pPr>
            <a:r>
              <a:t>The central analytical question driving the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7772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4400" y="1508760"/>
            <a:ext cx="10332720" cy="1874519"/>
          </a:xfrm>
          <a:prstGeom prst="roundRect">
            <a:avLst/>
          </a:prstGeom>
          <a:solidFill>
            <a:srgbClr val="EAF3FF"/>
          </a:solidFill>
          <a:ln>
            <a:solidFill>
              <a:srgbClr val="BE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1874519"/>
            <a:ext cx="9692640" cy="10972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100" b="1">
                <a:solidFill>
                  <a:srgbClr val="1F4E79"/>
                </a:solidFill>
                <a:latin typeface="Aptos"/>
              </a:defRPr>
            </a:pPr>
            <a:r>
              <a:t>“Where is Novitech Manufacturing losing operational efficiency and carrying financial exposure, and what production or supply-chain factors are contributing to those risks?”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977639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3977639"/>
            <a:ext cx="54864" cy="14173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4114800"/>
            <a:ext cx="310896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646E7D"/>
                </a:solidFill>
                <a:latin typeface="Aptos"/>
              </a:defRPr>
            </a:pPr>
            <a:r>
              <a:t>Operational Efficiency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4846320"/>
            <a:ext cx="3108960" cy="4846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50" b="0">
                <a:solidFill>
                  <a:srgbClr val="333333"/>
                </a:solidFill>
                <a:latin typeface="Aptos"/>
              </a:defRPr>
            </a:pPr>
            <a:r>
              <a:t>Production • defects • downtime • energy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3977639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617720" y="3977639"/>
            <a:ext cx="54864" cy="14173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82312" y="4114800"/>
            <a:ext cx="310896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646E7D"/>
                </a:solidFill>
                <a:latin typeface="Aptos"/>
              </a:defRPr>
            </a:pPr>
            <a:r>
              <a:t>Financial Exposure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82312" y="4846320"/>
            <a:ext cx="3108960" cy="4846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50" b="0">
                <a:solidFill>
                  <a:srgbClr val="333333"/>
                </a:solidFill>
                <a:latin typeface="Aptos"/>
              </a:defRPr>
            </a:pPr>
            <a:r>
              <a:t>Procurement • cost • potential margin context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58200" y="3977639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458200" y="3977639"/>
            <a:ext cx="54864" cy="1417320"/>
          </a:xfrm>
          <a:prstGeom prst="rect">
            <a:avLst/>
          </a:prstGeom>
          <a:solidFill>
            <a:srgbClr val="E6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22792" y="4114800"/>
            <a:ext cx="310896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646E7D"/>
                </a:solidFill>
                <a:latin typeface="Aptos"/>
              </a:defRPr>
            </a:pPr>
            <a:r>
              <a:t>Supply Chain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22792" y="4846320"/>
            <a:ext cx="3108960" cy="4846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50" b="0">
                <a:solidFill>
                  <a:srgbClr val="333333"/>
                </a:solidFill>
                <a:latin typeface="Aptos"/>
              </a:defRPr>
            </a:pPr>
            <a:r>
              <a:t>Dependencies • suppliers • delays • lead 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51052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D"/>
                </a:solidFill>
                <a:latin typeface="Aptos"/>
              </a:defRPr>
            </a:pPr>
            <a:r>
              <a:t>NOVITECH MANUFACTURING  |  POWER BI ANALYTICS                                    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4E79"/>
                </a:solidFill>
                <a:latin typeface="Aptos Display"/>
              </a:defRPr>
            </a:pPr>
            <a: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789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D"/>
                </a:solidFill>
                <a:latin typeface="Aptos"/>
              </a:defRPr>
            </a:pPr>
            <a:r>
              <a:t>Business questions translated into measurable analytical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7772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0080" y="1417320"/>
            <a:ext cx="384048" cy="384048"/>
          </a:xfrm>
          <a:prstGeom prst="ellipse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472184"/>
            <a:ext cx="384048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1" y="1435608"/>
            <a:ext cx="480060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ptos"/>
              </a:defRPr>
            </a:pPr>
            <a:r>
              <a:t>Analyze production performance</a:t>
            </a:r>
          </a:p>
        </p:txBody>
      </p:sp>
      <p:sp>
        <p:nvSpPr>
          <p:cNvPr id="9" name="Oval 8"/>
          <p:cNvSpPr/>
          <p:nvPr/>
        </p:nvSpPr>
        <p:spPr>
          <a:xfrm>
            <a:off x="6263640" y="1417320"/>
            <a:ext cx="384048" cy="384048"/>
          </a:xfrm>
          <a:prstGeom prst="ellipse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63640" y="1472184"/>
            <a:ext cx="384048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3992" y="1435608"/>
            <a:ext cx="480060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ptos"/>
              </a:defRPr>
            </a:pPr>
            <a:r>
              <a:t>Identify quality issues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2258568"/>
            <a:ext cx="384048" cy="384048"/>
          </a:xfrm>
          <a:prstGeom prst="ellipse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384048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1" y="2276856"/>
            <a:ext cx="480060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ptos"/>
              </a:defRPr>
            </a:pPr>
            <a:r>
              <a:t>Analyze downtime</a:t>
            </a:r>
          </a:p>
        </p:txBody>
      </p:sp>
      <p:sp>
        <p:nvSpPr>
          <p:cNvPr id="15" name="Oval 14"/>
          <p:cNvSpPr/>
          <p:nvPr/>
        </p:nvSpPr>
        <p:spPr>
          <a:xfrm>
            <a:off x="6263640" y="2258568"/>
            <a:ext cx="384048" cy="384048"/>
          </a:xfrm>
          <a:prstGeom prst="ellipse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63640" y="2313432"/>
            <a:ext cx="384048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93992" y="2276856"/>
            <a:ext cx="480060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ptos"/>
              </a:defRPr>
            </a:pPr>
            <a:r>
              <a:t>Measure energy efficiency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3099816"/>
            <a:ext cx="384048" cy="384048"/>
          </a:xfrm>
          <a:prstGeom prst="ellipse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3154680"/>
            <a:ext cx="384048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1" y="3118104"/>
            <a:ext cx="480060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ptos"/>
              </a:defRPr>
            </a:pPr>
            <a:r>
              <a:t>Compare operator and shift performance</a:t>
            </a:r>
          </a:p>
        </p:txBody>
      </p:sp>
      <p:sp>
        <p:nvSpPr>
          <p:cNvPr id="21" name="Oval 20"/>
          <p:cNvSpPr/>
          <p:nvPr/>
        </p:nvSpPr>
        <p:spPr>
          <a:xfrm>
            <a:off x="6263640" y="3099816"/>
            <a:ext cx="384048" cy="384048"/>
          </a:xfrm>
          <a:prstGeom prst="ellipse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63640" y="3154680"/>
            <a:ext cx="384048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93992" y="3118104"/>
            <a:ext cx="480060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ptos"/>
              </a:defRPr>
            </a:pPr>
            <a:r>
              <a:t>Analyze procurement spending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" y="3941064"/>
            <a:ext cx="384048" cy="384048"/>
          </a:xfrm>
          <a:prstGeom prst="ellipse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3995928"/>
            <a:ext cx="384048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1" y="3959352"/>
            <a:ext cx="480060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ptos"/>
              </a:defRPr>
            </a:pPr>
            <a:r>
              <a:t>Analyze product cost exposure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941064"/>
            <a:ext cx="384048" cy="384048"/>
          </a:xfrm>
          <a:prstGeom prst="ellipse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63640" y="3995928"/>
            <a:ext cx="384048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93992" y="3959352"/>
            <a:ext cx="480060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ptos"/>
              </a:defRPr>
            </a:pPr>
            <a:r>
              <a:t>Analyze supplier performance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" y="4782312"/>
            <a:ext cx="384048" cy="384048"/>
          </a:xfrm>
          <a:prstGeom prst="ellipse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" y="4837176"/>
            <a:ext cx="384048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70431" y="4800600"/>
            <a:ext cx="480060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ptos"/>
              </a:defRPr>
            </a:pPr>
            <a:r>
              <a:t>Identify raw-material dependencies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4782312"/>
            <a:ext cx="384048" cy="384048"/>
          </a:xfrm>
          <a:prstGeom prst="ellipse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63640" y="4837176"/>
            <a:ext cx="384048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93992" y="4800600"/>
            <a:ext cx="480060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ptos"/>
              </a:defRPr>
            </a:pPr>
            <a:r>
              <a:t>Identify supply-chain risks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651052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D"/>
                </a:solidFill>
                <a:latin typeface="Aptos"/>
              </a:defRPr>
            </a:pPr>
            <a:r>
              <a:t>NOVITECH MANUFACTURING  |  POWER BI ANALYTICS                                    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92" y="151778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4E79"/>
                </a:solidFill>
                <a:latin typeface="Aptos Display"/>
              </a:defRPr>
            </a:pPr>
            <a:r>
              <a:t>Dataset &amp; Data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789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D"/>
                </a:solidFill>
                <a:latin typeface="Aptos"/>
              </a:defRPr>
            </a:pPr>
            <a:r>
              <a:t>Fact, dimension and bridge tables supporting end-to-end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7772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160520" y="2133387"/>
            <a:ext cx="3840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35407" y="2120508"/>
            <a:ext cx="54864" cy="105156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25112" y="2190632"/>
            <a:ext cx="356616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646E7D"/>
                </a:solidFill>
                <a:latin typeface="Aptos"/>
              </a:defRPr>
            </a:pPr>
            <a:r>
              <a:rPr dirty="0"/>
              <a:t>FACT TABLES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5112" y="2834639"/>
            <a:ext cx="3566160" cy="11887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50" b="0">
                <a:solidFill>
                  <a:srgbClr val="333333"/>
                </a:solidFill>
                <a:latin typeface="Aptos"/>
              </a:defRPr>
            </a:pPr>
            <a:r>
              <a:t>fact_production_runs</a:t>
            </a:r>
            <a:br/>
            <a:r>
              <a:t>fact_purchase_orders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63308"/>
            <a:ext cx="2788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1651588"/>
            <a:ext cx="54864" cy="9144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1" y="1645919"/>
            <a:ext cx="25146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646E7D"/>
                </a:solidFill>
                <a:latin typeface="Aptos"/>
              </a:defRPr>
            </a:pPr>
            <a:r>
              <a:t>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2377439"/>
            <a:ext cx="2514600" cy="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50" b="0">
                <a:solidFill>
                  <a:srgbClr val="333333"/>
                </a:solidFill>
                <a:latin typeface="Aptos"/>
              </a:defRPr>
            </a:pPr>
            <a:r>
              <a:t>dim_plants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009150"/>
            <a:ext cx="2788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3038773"/>
            <a:ext cx="54864" cy="9144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1" y="3017520"/>
            <a:ext cx="25146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646E7D"/>
                </a:solidFill>
                <a:latin typeface="Aptos"/>
              </a:defRPr>
            </a:pPr>
            <a:r>
              <a:t>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" y="3749039"/>
            <a:ext cx="2514600" cy="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50" b="0">
                <a:solidFill>
                  <a:srgbClr val="333333"/>
                </a:solidFill>
                <a:latin typeface="Aptos"/>
              </a:defRPr>
            </a:pPr>
            <a:r>
              <a:t>dim_products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393629"/>
            <a:ext cx="2788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50769" y="4354992"/>
            <a:ext cx="54864" cy="9144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1" y="4389120"/>
            <a:ext cx="25146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646E7D"/>
                </a:solidFill>
                <a:latin typeface="Aptos"/>
              </a:defRPr>
            </a:pPr>
            <a:r>
              <a:t>TABLE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" y="5120640"/>
            <a:ext cx="2514600" cy="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50" b="0">
                <a:solidFill>
                  <a:srgbClr val="333333"/>
                </a:solidFill>
                <a:latin typeface="Aptos"/>
              </a:defRPr>
            </a:pPr>
            <a:r>
              <a:t>dim_operators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32520" y="1637550"/>
            <a:ext cx="2788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759952" y="1690865"/>
            <a:ext cx="54864" cy="9144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897112" y="1658798"/>
            <a:ext cx="25146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646E7D"/>
                </a:solidFill>
                <a:latin typeface="Aptos"/>
              </a:defRPr>
            </a:pPr>
            <a:r>
              <a:t>TABLE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7112" y="2377439"/>
            <a:ext cx="2514600" cy="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50" b="0">
                <a:solidFill>
                  <a:srgbClr val="333333"/>
                </a:solidFill>
                <a:latin typeface="Aptos"/>
              </a:defRPr>
            </a:pPr>
            <a:r>
              <a:t>dim_raw_materials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32520" y="3022029"/>
            <a:ext cx="2788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732520" y="3022029"/>
            <a:ext cx="54864" cy="9144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897112" y="3030399"/>
            <a:ext cx="25146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646E7D"/>
                </a:solidFill>
                <a:latin typeface="Aptos"/>
              </a:defRPr>
            </a:pPr>
            <a:r>
              <a:t>TABLE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7112" y="3749039"/>
            <a:ext cx="2514600" cy="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50" b="0">
                <a:solidFill>
                  <a:srgbClr val="333333"/>
                </a:solidFill>
                <a:latin typeface="Aptos"/>
              </a:defRPr>
            </a:pPr>
            <a:r>
              <a:t>dim_suppliers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01000" y="4393629"/>
            <a:ext cx="2788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001000" y="4354992"/>
            <a:ext cx="54864" cy="914400"/>
          </a:xfrm>
          <a:prstGeom prst="rect">
            <a:avLst/>
          </a:prstGeom>
          <a:solidFill>
            <a:srgbClr val="E6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165592" y="4389120"/>
            <a:ext cx="25146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646E7D"/>
                </a:solidFill>
                <a:latin typeface="Aptos"/>
              </a:defRPr>
            </a:pPr>
            <a:r>
              <a:t>TABLE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65592" y="5120640"/>
            <a:ext cx="2514600" cy="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50" b="0">
                <a:solidFill>
                  <a:srgbClr val="333333"/>
                </a:solidFill>
                <a:latin typeface="Aptos"/>
              </a:defRPr>
            </a:pPr>
            <a:r>
              <a:t>bridge_bill_of_materials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429000" y="1965960"/>
            <a:ext cx="731520" cy="365760"/>
          </a:xfrm>
          <a:prstGeom prst="line">
            <a:avLst/>
          </a:prstGeom>
          <a:ln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3429000" y="2514600"/>
            <a:ext cx="731520" cy="822960"/>
          </a:xfrm>
          <a:prstGeom prst="line">
            <a:avLst/>
          </a:prstGeom>
          <a:ln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3429000" y="2743200"/>
            <a:ext cx="731520" cy="1965960"/>
          </a:xfrm>
          <a:prstGeom prst="line">
            <a:avLst/>
          </a:prstGeom>
          <a:ln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>
            <a:cxnSpLocks/>
          </p:cNvCxnSpPr>
          <p:nvPr/>
        </p:nvCxnSpPr>
        <p:spPr>
          <a:xfrm flipH="1">
            <a:off x="8028432" y="1965960"/>
            <a:ext cx="674337" cy="365760"/>
          </a:xfrm>
          <a:prstGeom prst="line">
            <a:avLst/>
          </a:prstGeom>
          <a:ln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>
            <a:cxnSpLocks/>
            <a:stCxn id="27" idx="1"/>
          </p:cNvCxnSpPr>
          <p:nvPr/>
        </p:nvCxnSpPr>
        <p:spPr>
          <a:xfrm flipH="1" flipV="1">
            <a:off x="8001000" y="3145536"/>
            <a:ext cx="731520" cy="333693"/>
          </a:xfrm>
          <a:prstGeom prst="line">
            <a:avLst/>
          </a:prstGeom>
          <a:ln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>
            <a:cxnSpLocks/>
          </p:cNvCxnSpPr>
          <p:nvPr/>
        </p:nvCxnSpPr>
        <p:spPr>
          <a:xfrm flipH="1" flipV="1">
            <a:off x="7456932" y="3236463"/>
            <a:ext cx="544068" cy="1485576"/>
          </a:xfrm>
          <a:prstGeom prst="line">
            <a:avLst/>
          </a:prstGeom>
          <a:ln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2103120" y="5486400"/>
            <a:ext cx="804672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200" b="0">
                <a:solidFill>
                  <a:srgbClr val="646E7D"/>
                </a:solidFill>
                <a:latin typeface="Aptos"/>
              </a:defRPr>
            </a:pPr>
            <a:r>
              <a:t>Supports production, quality, cost, procurement, supplier and product-material dependency analysis.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651052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D"/>
                </a:solidFill>
                <a:latin typeface="Aptos"/>
              </a:defRPr>
            </a:pPr>
            <a:r>
              <a:t>NOVITECH MANUFACTURING  |  POWER BI ANALYTICS                                    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4E79"/>
                </a:solidFill>
                <a:latin typeface="Aptos Display"/>
              </a:defRPr>
            </a:pPr>
            <a:r>
              <a:t>Data Cleaning &amp; Power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789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D"/>
                </a:solidFill>
                <a:latin typeface="Aptos"/>
              </a:defRPr>
            </a:pPr>
            <a:r>
              <a:t>Data preparation workflow before analytical modeling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7772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11480" y="1828800"/>
            <a:ext cx="1627632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411480" y="1828800"/>
            <a:ext cx="54864" cy="82296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6072" y="1965960"/>
            <a:ext cx="1353312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646E7D"/>
                </a:solidFill>
                <a:latin typeface="Aptos"/>
              </a:defRPr>
            </a:pPr>
            <a:r>
              <a:t>RAW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84832" y="2075688"/>
            <a:ext cx="27432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800" b="1">
                <a:solidFill>
                  <a:srgbClr val="646E7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50008" y="1828800"/>
            <a:ext cx="1627632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350008" y="1828800"/>
            <a:ext cx="54864" cy="8229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14600" y="1965960"/>
            <a:ext cx="1353312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646E7D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2075688"/>
            <a:ext cx="27432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800" b="1">
                <a:solidFill>
                  <a:srgbClr val="646E7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8536" y="1828800"/>
            <a:ext cx="1627632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88536" y="1828800"/>
            <a:ext cx="54864" cy="82296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53128" y="1965960"/>
            <a:ext cx="1353312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646E7D"/>
                </a:solidFill>
                <a:latin typeface="Aptos"/>
              </a:defRPr>
            </a:pPr>
            <a:r>
              <a:t>CLEANING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61888" y="2075688"/>
            <a:ext cx="27432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800" b="1">
                <a:solidFill>
                  <a:srgbClr val="646E7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7064" y="1828800"/>
            <a:ext cx="1627632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27064" y="1828800"/>
            <a:ext cx="54864" cy="8229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91656" y="1965960"/>
            <a:ext cx="1353312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646E7D"/>
                </a:solidFill>
                <a:latin typeface="Aptos"/>
              </a:defRPr>
            </a:pPr>
            <a:r>
              <a:t>STANDARDIZATION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0416" y="2075688"/>
            <a:ext cx="27432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800" b="1">
                <a:solidFill>
                  <a:srgbClr val="646E7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65592" y="1828800"/>
            <a:ext cx="1627632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165592" y="1828800"/>
            <a:ext cx="54864" cy="82296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30183" y="1965960"/>
            <a:ext cx="1353312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646E7D"/>
                </a:solidFill>
                <a:latin typeface="Aptos"/>
              </a:defRPr>
            </a:pPr>
            <a:r>
              <a:t>TRANSFORMATION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38944" y="2075688"/>
            <a:ext cx="27432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800" b="1">
                <a:solidFill>
                  <a:srgbClr val="646E7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04120" y="1828800"/>
            <a:ext cx="1627632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0104120" y="1828800"/>
            <a:ext cx="54864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268712" y="1965960"/>
            <a:ext cx="1353312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646E7D"/>
                </a:solidFill>
                <a:latin typeface="Aptos"/>
              </a:defRPr>
            </a:pPr>
            <a:r>
              <a:t>POWER BI 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3154680"/>
            <a:ext cx="310896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F4E79"/>
                </a:solidFill>
                <a:latin typeface="Aptos"/>
              </a:defRPr>
            </a:pPr>
            <a:r>
              <a:t>Validation &amp; cleaning checks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3566160"/>
            <a:ext cx="5120640" cy="2103120"/>
          </a:xfrm>
          <a:prstGeom prst="rect">
            <a:avLst/>
          </a:prstGeom>
          <a:noFill/>
        </p:spPr>
        <p:txBody>
          <a:bodyPr wrap="square" lIns="36576" rIns="27432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Aptos"/>
              </a:defRPr>
            </a:pPr>
            <a:r>
              <a:t>• Data type validation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Aptos"/>
              </a:defRPr>
            </a:pPr>
            <a:r>
              <a:t>• Null and blank investigation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Aptos"/>
              </a:defRPr>
            </a:pPr>
            <a:r>
              <a:t>• Duplicate checking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Aptos"/>
              </a:defRPr>
            </a:pPr>
            <a:r>
              <a:t>• Categorical value standardization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Aptos"/>
              </a:defRPr>
            </a:pPr>
            <a:r>
              <a:t>• Quantity, cost and price validation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3154680"/>
            <a:ext cx="310896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F4E79"/>
                </a:solidFill>
                <a:latin typeface="Aptos"/>
              </a:defRPr>
            </a:pPr>
            <a:r>
              <a:t>Operational field checks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3566160"/>
            <a:ext cx="5120640" cy="2103120"/>
          </a:xfrm>
          <a:prstGeom prst="rect">
            <a:avLst/>
          </a:prstGeom>
          <a:noFill/>
        </p:spPr>
        <p:txBody>
          <a:bodyPr wrap="square" lIns="36576" rIns="27432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Aptos"/>
              </a:defRPr>
            </a:pPr>
            <a:r>
              <a:t>• Downtime validation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Aptos"/>
              </a:defRPr>
            </a:pPr>
            <a:r>
              <a:t>• Energy validation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Aptos"/>
              </a:defRPr>
            </a:pPr>
            <a:r>
              <a:t>• Lead-time validation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Aptos"/>
              </a:defRPr>
            </a:pPr>
            <a:r>
              <a:t>• Rating validation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Aptos"/>
              </a:defRPr>
            </a:pPr>
            <a:r>
              <a:t>• Date validation and cleaning documentation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651052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D"/>
                </a:solidFill>
                <a:latin typeface="Aptos"/>
              </a:defRPr>
            </a:pPr>
            <a:r>
              <a:t>NOVITECH MANUFACTURING  |  POWER BI ANALYTICS                                    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4E79"/>
                </a:solidFill>
                <a:latin typeface="Aptos Display"/>
              </a:defRPr>
            </a:pPr>
            <a:r>
              <a:t>DAX Measures &amp; KPI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789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D"/>
                </a:solidFill>
                <a:latin typeface="Aptos"/>
              </a:defRPr>
            </a:pPr>
            <a:r>
              <a:t>Core measures used across the seven dashboard pages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7772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3337560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54864" cy="60350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554480"/>
            <a:ext cx="306324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646E7D"/>
                </a:solidFill>
                <a:latin typeface="Aptos"/>
              </a:defRPr>
            </a:pPr>
            <a:r>
              <a:t>Total Production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337560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417320"/>
            <a:ext cx="54864" cy="60350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53712" y="1554480"/>
            <a:ext cx="306324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646E7D"/>
                </a:solidFill>
                <a:latin typeface="Aptos"/>
              </a:defRPr>
            </a:pPr>
            <a:r>
              <a:t>Total Defects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1417320"/>
            <a:ext cx="3337560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83880" y="1417320"/>
            <a:ext cx="54864" cy="60350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48472" y="1554480"/>
            <a:ext cx="306324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646E7D"/>
                </a:solidFill>
                <a:latin typeface="Aptos"/>
              </a:defRPr>
            </a:pPr>
            <a:r>
              <a:t>Defect Rate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176272"/>
            <a:ext cx="3337560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94360" y="2176272"/>
            <a:ext cx="54864" cy="60350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8952" y="2313432"/>
            <a:ext cx="306324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646E7D"/>
                </a:solidFill>
                <a:latin typeface="Aptos"/>
              </a:defRPr>
            </a:pPr>
            <a:r>
              <a:t>Total Production Runs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2176272"/>
            <a:ext cx="3337560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389120" y="2176272"/>
            <a:ext cx="54864" cy="60350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53712" y="2313432"/>
            <a:ext cx="306324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646E7D"/>
                </a:solidFill>
                <a:latin typeface="Aptos"/>
              </a:defRPr>
            </a:pPr>
            <a:r>
              <a:t>Total Downtime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80" y="2176272"/>
            <a:ext cx="3337560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183880" y="2176272"/>
            <a:ext cx="54864" cy="60350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48472" y="2313432"/>
            <a:ext cx="306324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646E7D"/>
                </a:solidFill>
                <a:latin typeface="Aptos"/>
              </a:defRPr>
            </a:pPr>
            <a:r>
              <a:t>Average Downtime per Run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2935224"/>
            <a:ext cx="3337560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94360" y="2935224"/>
            <a:ext cx="54864" cy="60350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58952" y="3072384"/>
            <a:ext cx="306324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646E7D"/>
                </a:solidFill>
                <a:latin typeface="Aptos"/>
              </a:defRPr>
            </a:pPr>
            <a:r>
              <a:t>Total Energy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2935224"/>
            <a:ext cx="3337560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389120" y="2935224"/>
            <a:ext cx="54864" cy="60350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53712" y="3072384"/>
            <a:ext cx="306324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646E7D"/>
                </a:solidFill>
                <a:latin typeface="Aptos"/>
              </a:defRPr>
            </a:pPr>
            <a:r>
              <a:t>Energy per Unit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80" y="2935224"/>
            <a:ext cx="3337560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183880" y="2935224"/>
            <a:ext cx="54864" cy="60350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48472" y="3072384"/>
            <a:ext cx="306324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646E7D"/>
                </a:solidFill>
                <a:latin typeface="Aptos"/>
              </a:defRPr>
            </a:pPr>
            <a:r>
              <a:t>Total Procurement Spend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3694176"/>
            <a:ext cx="3337560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94360" y="3694176"/>
            <a:ext cx="54864" cy="60350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58952" y="3831336"/>
            <a:ext cx="306324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646E7D"/>
                </a:solidFill>
                <a:latin typeface="Aptos"/>
              </a:defRPr>
            </a:pPr>
            <a:r>
              <a:t>Total Purchase Orders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89120" y="3694176"/>
            <a:ext cx="3337560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389120" y="3694176"/>
            <a:ext cx="54864" cy="60350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53712" y="3831336"/>
            <a:ext cx="306324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646E7D"/>
                </a:solidFill>
                <a:latin typeface="Aptos"/>
              </a:defRPr>
            </a:pPr>
            <a:r>
              <a:t>Delayed Orders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83880" y="3694176"/>
            <a:ext cx="3337560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183880" y="3694176"/>
            <a:ext cx="54864" cy="60350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348472" y="3831336"/>
            <a:ext cx="306324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646E7D"/>
                </a:solidFill>
                <a:latin typeface="Aptos"/>
              </a:defRPr>
            </a:pPr>
            <a:r>
              <a:t>Delay Rate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4360" y="4453128"/>
            <a:ext cx="3337560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94360" y="4453128"/>
            <a:ext cx="54864" cy="60350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58952" y="4590288"/>
            <a:ext cx="306324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646E7D"/>
                </a:solidFill>
                <a:latin typeface="Aptos"/>
              </a:defRPr>
            </a:pPr>
            <a:r>
              <a:t>Average Lead Time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389120" y="4453128"/>
            <a:ext cx="3337560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389120" y="4453128"/>
            <a:ext cx="54864" cy="60350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553712" y="4590288"/>
            <a:ext cx="306324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646E7D"/>
                </a:solidFill>
                <a:latin typeface="Aptos"/>
              </a:defRPr>
            </a:pPr>
            <a:r>
              <a:t>Potential Unit Margin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83880" y="4453128"/>
            <a:ext cx="3337560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183880" y="4453128"/>
            <a:ext cx="54864" cy="60350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48472" y="4590288"/>
            <a:ext cx="306324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646E7D"/>
                </a:solidFill>
                <a:latin typeface="Aptos"/>
              </a:defRPr>
            </a:pPr>
            <a:r>
              <a:t>Estimated Defect Cost Exposure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94360" y="5212079"/>
            <a:ext cx="3337560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594360" y="5212079"/>
            <a:ext cx="54864" cy="60350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58952" y="5349240"/>
            <a:ext cx="306324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646E7D"/>
                </a:solidFill>
                <a:latin typeface="Aptos"/>
              </a:defRPr>
            </a:pPr>
            <a:r>
              <a:t>Estimated Production Cost Context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389120" y="5212079"/>
            <a:ext cx="3337560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4389120" y="5212079"/>
            <a:ext cx="54864" cy="60350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553712" y="5349240"/>
            <a:ext cx="306324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646E7D"/>
                </a:solidFill>
                <a:latin typeface="Aptos"/>
              </a:defRPr>
            </a:pPr>
            <a:r>
              <a:t>Potential Production Value Context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" y="651052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D"/>
                </a:solidFill>
                <a:latin typeface="Aptos"/>
              </a:defRPr>
            </a:pPr>
            <a:r>
              <a:t>NOVITECH MANUFACTURING  |  POWER BI ANALYTICS                                    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4E79"/>
                </a:solidFill>
                <a:latin typeface="Aptos Display"/>
              </a:defRPr>
            </a:pPr>
            <a:r>
              <a:t>Key Business Calculations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789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D"/>
                </a:solidFill>
                <a:latin typeface="Aptos"/>
              </a:defRPr>
            </a:pPr>
            <a:r>
              <a:t>Transparent KPI logic for management interpretation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7772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166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54864" cy="1143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1554480"/>
            <a:ext cx="489204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646E7D"/>
                </a:solidFill>
                <a:latin typeface="Aptos"/>
              </a:defRPr>
            </a:pPr>
            <a:r>
              <a:t>Procurement Spend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286000"/>
            <a:ext cx="4892040" cy="21031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50" b="0">
                <a:solidFill>
                  <a:srgbClr val="333333"/>
                </a:solidFill>
                <a:latin typeface="Aptos"/>
              </a:defRPr>
            </a:pPr>
            <a:r>
              <a:t>Quantity Ordered × Unit Price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166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417320"/>
            <a:ext cx="54864" cy="1143000"/>
          </a:xfrm>
          <a:prstGeom prst="rect">
            <a:avLst/>
          </a:prstGeom>
          <a:solidFill>
            <a:srgbClr val="CD4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8232" y="1554480"/>
            <a:ext cx="489204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646E7D"/>
                </a:solidFill>
                <a:latin typeface="Aptos"/>
              </a:defRPr>
            </a:pPr>
            <a:r>
              <a:t>Defect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2286000"/>
            <a:ext cx="4892040" cy="21031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50" b="0">
                <a:solidFill>
                  <a:srgbClr val="333333"/>
                </a:solidFill>
                <a:latin typeface="Aptos"/>
              </a:defRPr>
            </a:pPr>
            <a:r>
              <a:t>Total Defects ÷ Total Production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26080"/>
            <a:ext cx="5166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2926080"/>
            <a:ext cx="54864" cy="1143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1" y="3063240"/>
            <a:ext cx="489204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646E7D"/>
                </a:solidFill>
                <a:latin typeface="Aptos"/>
              </a:defRPr>
            </a:pPr>
            <a:r>
              <a:t>Potential Unit Margin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" y="3794760"/>
            <a:ext cx="4892040" cy="21031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50" b="0">
                <a:solidFill>
                  <a:srgbClr val="333333"/>
                </a:solidFill>
                <a:latin typeface="Aptos"/>
              </a:defRPr>
            </a:pPr>
            <a:r>
              <a:t>Target Price − Unit Cost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926080"/>
            <a:ext cx="5166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63640" y="2926080"/>
            <a:ext cx="54864" cy="1143000"/>
          </a:xfrm>
          <a:prstGeom prst="rect">
            <a:avLst/>
          </a:prstGeom>
          <a:solidFill>
            <a:srgbClr val="E6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28232" y="3063240"/>
            <a:ext cx="489204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646E7D"/>
                </a:solidFill>
                <a:latin typeface="Aptos"/>
              </a:defRPr>
            </a:pPr>
            <a:r>
              <a:t>Estimated Defect Cost Exposure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3794760"/>
            <a:ext cx="4892040" cy="21031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50" b="0">
                <a:solidFill>
                  <a:srgbClr val="333333"/>
                </a:solidFill>
                <a:latin typeface="Aptos"/>
              </a:defRPr>
            </a:pPr>
            <a:r>
              <a:t>Defective Quantity × Product Unit Cost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34840"/>
            <a:ext cx="5166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0" y="4434840"/>
            <a:ext cx="54864" cy="1143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4671" y="4572000"/>
            <a:ext cx="489204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646E7D"/>
                </a:solidFill>
                <a:latin typeface="Aptos"/>
              </a:defRPr>
            </a:pPr>
            <a:r>
              <a:t>Estimated Production Cost Context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1" y="5303520"/>
            <a:ext cx="4892040" cy="21031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50" b="0">
                <a:solidFill>
                  <a:srgbClr val="333333"/>
                </a:solidFill>
                <a:latin typeface="Aptos"/>
              </a:defRPr>
            </a:pPr>
            <a:r>
              <a:t>Quantity Produced × Product Unit Cost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434840"/>
            <a:ext cx="5166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63640" y="4434840"/>
            <a:ext cx="54864" cy="1143000"/>
          </a:xfrm>
          <a:prstGeom prst="rect">
            <a:avLst/>
          </a:prstGeom>
          <a:solidFill>
            <a:srgbClr val="2D8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28232" y="4572000"/>
            <a:ext cx="489204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646E7D"/>
                </a:solidFill>
                <a:latin typeface="Aptos"/>
              </a:defRPr>
            </a:pPr>
            <a:r>
              <a:t>Potential Production Value Context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8232" y="5303520"/>
            <a:ext cx="4892040" cy="21031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50" b="0">
                <a:solidFill>
                  <a:srgbClr val="333333"/>
                </a:solidFill>
                <a:latin typeface="Aptos"/>
              </a:defRPr>
            </a:pPr>
            <a:r>
              <a:t>Quantity Produced × Target Price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897880"/>
            <a:ext cx="996696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150" b="0">
                <a:solidFill>
                  <a:srgbClr val="646E7D"/>
                </a:solidFill>
                <a:latin typeface="Aptos"/>
              </a:defRPr>
            </a:pPr>
            <a:r>
              <a:t>These calculations provide analytical context and must be interpreted within the dataset limitations.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51052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D"/>
                </a:solidFill>
                <a:latin typeface="Aptos"/>
              </a:defRPr>
            </a:pPr>
            <a:r>
              <a:t>NOVITECH MANUFACTURING  |  POWER BI ANALYTICS                                    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4E79"/>
                </a:solidFill>
                <a:latin typeface="Aptos Display"/>
              </a:defRPr>
            </a:pPr>
            <a:r>
              <a:t>Power BI Dashboard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789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D"/>
                </a:solidFill>
                <a:latin typeface="Aptos"/>
              </a:defRPr>
            </a:pPr>
            <a:r>
              <a:t>Seven interactive pages covering the full analytical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7772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2514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1783080"/>
            <a:ext cx="50292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2F80ED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121408"/>
            <a:ext cx="2148840" cy="4389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Aptos"/>
              </a:defRPr>
            </a:pPr>
            <a:r>
              <a:t>Executive Overview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600200"/>
            <a:ext cx="2514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21024" y="1783080"/>
            <a:ext cx="50292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2F80E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21024" y="2121408"/>
            <a:ext cx="2148840" cy="4389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Aptos"/>
              </a:defRPr>
            </a:pPr>
            <a:r>
              <a:t>Production &amp; Plant Performance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2784" y="1600200"/>
            <a:ext cx="2514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37376" y="1783080"/>
            <a:ext cx="50292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2F80E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7376" y="2121408"/>
            <a:ext cx="2148840" cy="4389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Aptos"/>
              </a:defRPr>
            </a:pPr>
            <a:r>
              <a:t>Quality &amp; Operational Efficiency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89136" y="1600200"/>
            <a:ext cx="2514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53728" y="1783080"/>
            <a:ext cx="50292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2F80ED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3728" y="2121408"/>
            <a:ext cx="2148840" cy="4389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Aptos"/>
              </a:defRPr>
            </a:pPr>
            <a:r>
              <a:t>Finance &amp; Cost Analysis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200400"/>
            <a:ext cx="2514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1" y="3383280"/>
            <a:ext cx="50292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2F80ED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" y="3721608"/>
            <a:ext cx="2148840" cy="4389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Aptos"/>
              </a:defRPr>
            </a:pPr>
            <a:r>
              <a:t>Procurement &amp; Supplier Performance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56432" y="3200400"/>
            <a:ext cx="2514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21024" y="3383280"/>
            <a:ext cx="50292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2F80ED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21024" y="3721608"/>
            <a:ext cx="2148840" cy="4389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Aptos"/>
              </a:defRPr>
            </a:pPr>
            <a:r>
              <a:t>Raw Materials &amp; Supply Chain Risk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72784" y="3200400"/>
            <a:ext cx="2514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37376" y="3383280"/>
            <a:ext cx="50292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2F80ED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7376" y="3721608"/>
            <a:ext cx="2148840" cy="4389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Aptos"/>
              </a:defRPr>
            </a:pPr>
            <a:r>
              <a:t>Operator &amp; Shift Performance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51052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D"/>
                </a:solidFill>
                <a:latin typeface="Aptos"/>
              </a:defRPr>
            </a:pPr>
            <a:r>
              <a:t>NOVITECH MANUFACTURING  |  POWER BI ANALYTICS                                 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4E79"/>
                </a:solidFill>
                <a:latin typeface="Aptos Display"/>
              </a:defRPr>
            </a:pPr>
            <a:r>
              <a:t>Dashboard Page 1 — Executive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789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D"/>
                </a:solidFill>
                <a:latin typeface="Aptos"/>
              </a:defRPr>
            </a:pPr>
            <a:r>
              <a:t>Power BI dashboard view and key observations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7772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1298448"/>
            <a:ext cx="745236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PAGE-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1353312"/>
            <a:ext cx="7342632" cy="478231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75320" y="1417320"/>
            <a:ext cx="2331720" cy="329184"/>
          </a:xfrm>
          <a:prstGeom prst="round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48472" y="1472184"/>
            <a:ext cx="2185415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950" b="1">
                <a:solidFill>
                  <a:srgbClr val="1F4E79"/>
                </a:solidFill>
                <a:latin typeface="Aptos"/>
              </a:defRPr>
            </a:pPr>
            <a:r>
              <a:t>KEY OBSERVATIONS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74519"/>
            <a:ext cx="3429000" cy="3383280"/>
          </a:xfrm>
          <a:prstGeom prst="rect">
            <a:avLst/>
          </a:prstGeom>
          <a:noFill/>
        </p:spPr>
        <p:txBody>
          <a:bodyPr wrap="square" lIns="36576" rIns="27432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Aptos"/>
              </a:defRPr>
            </a:pPr>
            <a:r>
              <a:t>• Total production: 1,027,696 units across 5 plants and 10 products.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Aptos"/>
              </a:defRPr>
            </a:pPr>
            <a:r>
              <a:t>• Total defects: 17,609 units; overall defect rate: 1.71%.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Aptos"/>
              </a:defRPr>
            </a:pPr>
            <a:r>
              <a:t>• Total procurement spend: 21.54M with 171 delayed orders.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Aptos"/>
              </a:defRPr>
            </a:pPr>
            <a:r>
              <a:t>• Estimated defect cost exposure: 20.96M.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51052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D"/>
                </a:solidFill>
                <a:latin typeface="Aptos"/>
              </a:defRPr>
            </a:pPr>
            <a:r>
              <a:t>NOVITECH MANUFACTURING  |  POWER BI ANALYTICS                                 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4E79"/>
                </a:solidFill>
                <a:latin typeface="Aptos Display"/>
              </a:defRPr>
            </a:pPr>
            <a:r>
              <a:t>Dashboard Page 2 — Production &amp; Plant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789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D"/>
                </a:solidFill>
                <a:latin typeface="Aptos"/>
              </a:defRPr>
            </a:pPr>
            <a:r>
              <a:t>Power BI dashboard view and key observations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7772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1298448"/>
            <a:ext cx="745236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PAGE-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1353312"/>
            <a:ext cx="7342632" cy="478231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75320" y="1417320"/>
            <a:ext cx="2331720" cy="329184"/>
          </a:xfrm>
          <a:prstGeom prst="round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48472" y="1472184"/>
            <a:ext cx="2185415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950" b="1">
                <a:solidFill>
                  <a:srgbClr val="1F4E79"/>
                </a:solidFill>
                <a:latin typeface="Aptos"/>
              </a:defRPr>
            </a:pPr>
            <a:r>
              <a:t>KEY OBSERVATIONS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74519"/>
            <a:ext cx="3429000" cy="3383280"/>
          </a:xfrm>
          <a:prstGeom prst="rect">
            <a:avLst/>
          </a:prstGeom>
          <a:noFill/>
        </p:spPr>
        <p:txBody>
          <a:bodyPr wrap="square" lIns="36576" rIns="27432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Aptos"/>
              </a:defRPr>
            </a:pPr>
            <a:r>
              <a:t>• Munich Electronics: approximately 323K production.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Aptos"/>
              </a:defRPr>
            </a:pPr>
            <a:r>
              <a:t>• Tokyo Assembly: approximately 307K.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Aptos"/>
              </a:defRPr>
            </a:pPr>
            <a:r>
              <a:t>• Monterrey Stamping: approximately 153K.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Aptos"/>
              </a:defRPr>
            </a:pPr>
            <a:r>
              <a:t>• Production varies across months and plants.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51052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D"/>
                </a:solidFill>
                <a:latin typeface="Aptos"/>
              </a:defRPr>
            </a:pPr>
            <a:r>
              <a:t>NOVITECH MANUFACTURING  |  POWER BI ANALYTICS                                  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4E79"/>
                </a:solidFill>
                <a:latin typeface="Aptos Display"/>
              </a:defRPr>
            </a:pPr>
            <a:r>
              <a:t>Dashboard Page 3 — Quality &amp; Operational Efficiency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789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D"/>
                </a:solidFill>
                <a:latin typeface="Aptos"/>
              </a:defRPr>
            </a:pPr>
            <a:r>
              <a:t>Power BI dashboard view and key observations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7772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1298448"/>
            <a:ext cx="745236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PAGE-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1353312"/>
            <a:ext cx="7342632" cy="478231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75320" y="1417320"/>
            <a:ext cx="2331720" cy="329184"/>
          </a:xfrm>
          <a:prstGeom prst="round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48472" y="1472184"/>
            <a:ext cx="2185415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950" b="1">
                <a:solidFill>
                  <a:srgbClr val="1F4E79"/>
                </a:solidFill>
                <a:latin typeface="Aptos"/>
              </a:defRPr>
            </a:pPr>
            <a:r>
              <a:t>KEY OBSERVATIONS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74519"/>
            <a:ext cx="3429000" cy="3383280"/>
          </a:xfrm>
          <a:prstGeom prst="rect">
            <a:avLst/>
          </a:prstGeom>
          <a:noFill/>
        </p:spPr>
        <p:txBody>
          <a:bodyPr wrap="square" lIns="36576" rIns="27432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Aptos"/>
              </a:defRPr>
            </a:pPr>
            <a:r>
              <a:t>• Total defects: 17,609; defect rate: 1.71%.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Aptos"/>
              </a:defRPr>
            </a:pPr>
            <a:r>
              <a:t>• Total downtime: 86,025 minutes.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Aptos"/>
              </a:defRPr>
            </a:pPr>
            <a:r>
              <a:t>• Total energy: 3,204,470 kWh; energy per unit: 3.12.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Aptos"/>
              </a:defRPr>
            </a:pPr>
            <a:r>
              <a:t>• Shanghai Battery Gigafactory shows the highest displayed energy-per-unit value.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51052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D"/>
                </a:solidFill>
                <a:latin typeface="Aptos"/>
              </a:defRPr>
            </a:pPr>
            <a:r>
              <a:t>NOVITECH MANUFACTURING  |  POWER BI ANALYTICS                                  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4E79"/>
                </a:solidFill>
                <a:latin typeface="Aptos Display"/>
              </a:defRPr>
            </a:pPr>
            <a:r>
              <a:t>Dashboard Page 4 — Finance &amp; Cost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789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D"/>
                </a:solidFill>
                <a:latin typeface="Aptos"/>
              </a:defRPr>
            </a:pPr>
            <a:r>
              <a:t>Power BI dashboard view and key observations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7772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1298448"/>
            <a:ext cx="745236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PAGE-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1353312"/>
            <a:ext cx="7342632" cy="478231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75320" y="1417320"/>
            <a:ext cx="2331720" cy="329184"/>
          </a:xfrm>
          <a:prstGeom prst="round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48472" y="1472184"/>
            <a:ext cx="2185415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950" b="1">
                <a:solidFill>
                  <a:srgbClr val="1F4E79"/>
                </a:solidFill>
                <a:latin typeface="Aptos"/>
              </a:defRPr>
            </a:pPr>
            <a:r>
              <a:t>KEY OBSERVATIONS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74519"/>
            <a:ext cx="3429000" cy="3383280"/>
          </a:xfrm>
          <a:prstGeom prst="rect">
            <a:avLst/>
          </a:prstGeom>
          <a:noFill/>
        </p:spPr>
        <p:txBody>
          <a:bodyPr wrap="square" lIns="36576" rIns="27432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Aptos"/>
              </a:defRPr>
            </a:pPr>
            <a:r>
              <a:t>• Procurement spend: 21.54M; average unit cost: 4.47K.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Aptos"/>
              </a:defRPr>
            </a:pPr>
            <a:r>
              <a:t>• Potential unit margin: 2.04K; estimated defect cost exposure: 20.96M.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Aptos"/>
              </a:defRPr>
            </a:pPr>
            <a:r>
              <a:t>• Apex Lithium Corp: approximately 9.4M procurement spend.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Aptos"/>
              </a:defRPr>
            </a:pPr>
            <a:r>
              <a:t>• Lithium-Ion Cells: approximately 9.4M procurement spend.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5440680"/>
            <a:ext cx="333756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50" b="1">
                <a:solidFill>
                  <a:srgbClr val="CD4B50"/>
                </a:solidFill>
                <a:latin typeface="Aptos"/>
              </a:defRPr>
            </a:pPr>
            <a:r>
              <a:t>Note: Potential Unit Margin is not actual profit.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1052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D"/>
                </a:solidFill>
                <a:latin typeface="Aptos"/>
              </a:defRPr>
            </a:pPr>
            <a:r>
              <a:t>NOVITECH MANUFACTURING  |  POWER BI ANALYTICS                                   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4E79"/>
                </a:solidFill>
                <a:latin typeface="Aptos Display"/>
              </a:defRPr>
            </a:pPr>
            <a:r>
              <a:t>Dashboard Page 5 — Procurement &amp; Supplier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789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D"/>
                </a:solidFill>
                <a:latin typeface="Aptos"/>
              </a:defRPr>
            </a:pPr>
            <a:r>
              <a:t>Power BI dashboard view and key observations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7772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1298448"/>
            <a:ext cx="745236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PAGE-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1353312"/>
            <a:ext cx="7342632" cy="478231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75320" y="1417320"/>
            <a:ext cx="2331720" cy="329184"/>
          </a:xfrm>
          <a:prstGeom prst="round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48472" y="1472184"/>
            <a:ext cx="2185415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950" b="1">
                <a:solidFill>
                  <a:srgbClr val="1F4E79"/>
                </a:solidFill>
                <a:latin typeface="Aptos"/>
              </a:defRPr>
            </a:pPr>
            <a:r>
              <a:t>KEY OBSERVATIONS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74519"/>
            <a:ext cx="3429000" cy="3383280"/>
          </a:xfrm>
          <a:prstGeom prst="rect">
            <a:avLst/>
          </a:prstGeom>
          <a:noFill/>
        </p:spPr>
        <p:txBody>
          <a:bodyPr wrap="square" lIns="36576" rIns="27432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Aptos"/>
              </a:defRPr>
            </a:pPr>
            <a:r>
              <a:t>• Approximately 2K purchase orders are displayed.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Aptos"/>
              </a:defRPr>
            </a:pPr>
            <a:r>
              <a:t>• Delay rate: 10.69%; average lead time: 9.84.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Aptos"/>
              </a:defRPr>
            </a:pPr>
            <a:r>
              <a:t>• Average supplier rating: 3.67.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Aptos"/>
              </a:defRPr>
            </a:pPr>
            <a:r>
              <a:t>• Global Packaging Logistics: 18.63% displayed delay rate.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51052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D"/>
                </a:solidFill>
                <a:latin typeface="Aptos"/>
              </a:defRPr>
            </a:pPr>
            <a:r>
              <a:t>NOVITECH MANUFACTURING  |  POWER BI ANALYTICS                                   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4E79"/>
                </a:solidFill>
                <a:latin typeface="Aptos Display"/>
              </a:defRPr>
            </a:pPr>
            <a:r>
              <a:t>Dashboard Page 6 — Raw Materials &amp; Supply Chain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789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D"/>
                </a:solidFill>
                <a:latin typeface="Aptos"/>
              </a:defRPr>
            </a:pPr>
            <a:r>
              <a:t>Power BI dashboard view and key observations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7772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1298448"/>
            <a:ext cx="745236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PAGE-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1353312"/>
            <a:ext cx="7342632" cy="478231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75320" y="1417320"/>
            <a:ext cx="2331720" cy="329184"/>
          </a:xfrm>
          <a:prstGeom prst="round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48472" y="1472184"/>
            <a:ext cx="2185415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950" b="1">
                <a:solidFill>
                  <a:srgbClr val="1F4E79"/>
                </a:solidFill>
                <a:latin typeface="Aptos"/>
              </a:defRPr>
            </a:pPr>
            <a:r>
              <a:t>KEY OBSERVATIONS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74519"/>
            <a:ext cx="3429000" cy="3383280"/>
          </a:xfrm>
          <a:prstGeom prst="rect">
            <a:avLst/>
          </a:prstGeom>
          <a:noFill/>
        </p:spPr>
        <p:txBody>
          <a:bodyPr wrap="square" lIns="36576" rIns="27432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Aptos"/>
              </a:defRPr>
            </a:pPr>
            <a:r>
              <a:t>• 12 raw materials and 41 product-material dependency records.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Aptos"/>
              </a:defRPr>
            </a:pPr>
            <a:r>
              <a:t>• 10 materials identified as critical by the project measure.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Aptos"/>
              </a:defRPr>
            </a:pPr>
            <a:r>
              <a:t>• Copper Wire Spool has the highest displayed dependency count: 6.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Aptos"/>
              </a:defRPr>
            </a:pPr>
            <a:r>
              <a:t>• Electrical Connectors, High-Strength Steel Sheets and Microcontrollers each show 5.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5212080"/>
            <a:ext cx="3337560" cy="7315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50" b="0">
                <a:solidFill>
                  <a:srgbClr val="646E7D"/>
                </a:solidFill>
                <a:latin typeface="Aptos"/>
              </a:defRPr>
            </a:pPr>
            <a:r>
              <a:t>Shared materials can create supply-chain exposure when dependency is high.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1052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D"/>
                </a:solidFill>
                <a:latin typeface="Aptos"/>
              </a:defRPr>
            </a:pPr>
            <a:r>
              <a:t>NOVITECH MANUFACTURING  |  POWER BI ANALYTICS                                    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4E79"/>
                </a:solidFill>
                <a:latin typeface="Aptos Display"/>
              </a:defRPr>
            </a:pPr>
            <a:r>
              <a:t>Dashboard Page 7 — Operator &amp; Shift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789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D"/>
                </a:solidFill>
                <a:latin typeface="Aptos"/>
              </a:defRPr>
            </a:pPr>
            <a:r>
              <a:t>Power BI dashboard view and key observations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7772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1298448"/>
            <a:ext cx="745236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PAGE-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1353312"/>
            <a:ext cx="7342632" cy="478231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75320" y="1417320"/>
            <a:ext cx="2331720" cy="329184"/>
          </a:xfrm>
          <a:prstGeom prst="round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48472" y="1472184"/>
            <a:ext cx="2185415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950" b="1">
                <a:solidFill>
                  <a:srgbClr val="1F4E79"/>
                </a:solidFill>
                <a:latin typeface="Aptos"/>
              </a:defRPr>
            </a:pPr>
            <a:r>
              <a:t>KEY OBSERVATIONS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74519"/>
            <a:ext cx="3429000" cy="3383280"/>
          </a:xfrm>
          <a:prstGeom prst="rect">
            <a:avLst/>
          </a:prstGeom>
          <a:noFill/>
        </p:spPr>
        <p:txBody>
          <a:bodyPr wrap="square" lIns="36576" rIns="27432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Aptos"/>
              </a:defRPr>
            </a:pPr>
            <a:r>
              <a:t>• 20 operators are covered.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Aptos"/>
              </a:defRPr>
            </a:pPr>
            <a:r>
              <a:t>• Night shift: approximately 0.56M production.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Aptos"/>
              </a:defRPr>
            </a:pPr>
            <a:r>
              <a:t>• David Miller: approximately 62K visible production.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Aptos"/>
              </a:defRPr>
            </a:pPr>
            <a:r>
              <a:t>• Michael Moore: approximately 1,576 visible defects; John Jackson: approximately 93 visible downtime hours.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51052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D"/>
                </a:solidFill>
                <a:latin typeface="Aptos"/>
              </a:defRPr>
            </a:pPr>
            <a:r>
              <a:t>NOVITECH MANUFACTURING  |  POWER BI ANALYTICS                                    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4E79"/>
                </a:solidFill>
                <a:latin typeface="Aptos Display"/>
              </a:defRPr>
            </a:pPr>
            <a:r>
              <a:t>Key Business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789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D"/>
                </a:solidFill>
                <a:latin typeface="Aptos"/>
              </a:defRPr>
            </a:pPr>
            <a:r>
              <a:t>Cross-dashboard observations supported by the project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7772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1663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54864" cy="1078992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1554480"/>
            <a:ext cx="489204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646E7D"/>
                </a:solidFill>
                <a:latin typeface="Aptos"/>
              </a:defRPr>
            </a:pPr>
            <a:r>
              <a:t>INSIGHT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286000"/>
            <a:ext cx="4892040" cy="14630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50" b="0">
                <a:solidFill>
                  <a:srgbClr val="333333"/>
                </a:solidFill>
                <a:latin typeface="Aptos"/>
              </a:defRPr>
            </a:pPr>
            <a:r>
              <a:t>Production is concentrated in Munich Electronics and Tokyo Assembly.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1663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417320"/>
            <a:ext cx="54864" cy="107899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8232" y="1554480"/>
            <a:ext cx="489204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646E7D"/>
                </a:solidFill>
                <a:latin typeface="Aptos"/>
              </a:defRPr>
            </a:pPr>
            <a:r>
              <a:t>INSIGHT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2286000"/>
            <a:ext cx="4892040" cy="14630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50" b="0">
                <a:solidFill>
                  <a:srgbClr val="333333"/>
                </a:solidFill>
                <a:latin typeface="Aptos"/>
              </a:defRPr>
            </a:pPr>
            <a:r>
              <a:t>Energy-per-unit performance differs substantially across plants.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834640"/>
            <a:ext cx="51663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2834640"/>
            <a:ext cx="54864" cy="1078992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1" y="2971800"/>
            <a:ext cx="489204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646E7D"/>
                </a:solidFill>
                <a:latin typeface="Aptos"/>
              </a:defRPr>
            </a:pPr>
            <a:r>
              <a:t>INSIGHT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" y="3703320"/>
            <a:ext cx="4892040" cy="14630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50" b="0">
                <a:solidFill>
                  <a:srgbClr val="333333"/>
                </a:solidFill>
                <a:latin typeface="Aptos"/>
              </a:defRPr>
            </a:pPr>
            <a:r>
              <a:t>Procurement spending is concentrated among major suppliers and materials.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834640"/>
            <a:ext cx="51663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63640" y="2834640"/>
            <a:ext cx="54864" cy="107899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28232" y="2971800"/>
            <a:ext cx="489204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646E7D"/>
                </a:solidFill>
                <a:latin typeface="Aptos"/>
              </a:defRPr>
            </a:pPr>
            <a:r>
              <a:t>INSIGHT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3703320"/>
            <a:ext cx="4892040" cy="14630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50" b="0">
                <a:solidFill>
                  <a:srgbClr val="333333"/>
                </a:solidFill>
                <a:latin typeface="Aptos"/>
              </a:defRPr>
            </a:pPr>
            <a:r>
              <a:t>Some suppliers show comparatively high delay rates.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329234"/>
            <a:ext cx="51663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0" y="4350741"/>
            <a:ext cx="54864" cy="1078992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4671" y="4401999"/>
            <a:ext cx="489204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646E7D"/>
                </a:solidFill>
                <a:latin typeface="Aptos"/>
              </a:defRPr>
            </a:pPr>
            <a:r>
              <a:t>INSIGHT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1" y="5120640"/>
            <a:ext cx="4892040" cy="14630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50" b="0">
                <a:solidFill>
                  <a:srgbClr val="333333"/>
                </a:solidFill>
                <a:latin typeface="Aptos"/>
              </a:defRPr>
            </a:pPr>
            <a:r>
              <a:t>Material dependency is concentrated in several shared materials.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380750"/>
            <a:ext cx="51663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56943" y="4380750"/>
            <a:ext cx="54864" cy="107899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28232" y="4414878"/>
            <a:ext cx="489204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646E7D"/>
                </a:solidFill>
                <a:latin typeface="Aptos"/>
              </a:defRPr>
            </a:pPr>
            <a:r>
              <a:t>INSIGHT 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8232" y="5120640"/>
            <a:ext cx="4892040" cy="14630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50" b="0">
                <a:solidFill>
                  <a:srgbClr val="333333"/>
                </a:solidFill>
                <a:latin typeface="Aptos"/>
              </a:defRPr>
            </a:pPr>
            <a:r>
              <a:t>Defects, downtime and energy should be analyzed together for operational efficiency.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51052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D"/>
                </a:solidFill>
                <a:latin typeface="Aptos"/>
              </a:defRPr>
            </a:pPr>
            <a:r>
              <a:t>NOVITECH MANUFACTURING  |  POWER BI ANALYTICS                                    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4E79"/>
                </a:solidFill>
                <a:latin typeface="Aptos Display"/>
              </a:defRPr>
            </a:pPr>
            <a:r>
              <a:t>Business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789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D"/>
                </a:solidFill>
                <a:latin typeface="Aptos"/>
              </a:defRPr>
            </a:pPr>
            <a:r>
              <a:t>Actions for management review based on observed patterns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7772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1663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54864" cy="1078992"/>
          </a:xfrm>
          <a:prstGeom prst="rect">
            <a:avLst/>
          </a:prstGeom>
          <a:solidFill>
            <a:srgbClr val="E6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1554480"/>
            <a:ext cx="489204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646E7D"/>
                </a:solidFill>
                <a:latin typeface="Aptos"/>
              </a:defRPr>
            </a:pPr>
            <a:r>
              <a:t>Supplier delays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286000"/>
            <a:ext cx="4892040" cy="14630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50" b="0">
                <a:solidFill>
                  <a:srgbClr val="333333"/>
                </a:solidFill>
                <a:latin typeface="Aptos"/>
              </a:defRPr>
            </a:pPr>
            <a:r>
              <a:t>Review suppliers with comparatively high displayed delay rates.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1663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417320"/>
            <a:ext cx="54864" cy="1078992"/>
          </a:xfrm>
          <a:prstGeom prst="rect">
            <a:avLst/>
          </a:prstGeom>
          <a:solidFill>
            <a:srgbClr val="2D8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8232" y="1554480"/>
            <a:ext cx="489204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646E7D"/>
                </a:solidFill>
                <a:latin typeface="Aptos"/>
              </a:defRPr>
            </a:pPr>
            <a:r>
              <a:t>Energy efficiency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2286000"/>
            <a:ext cx="4892040" cy="14630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50" b="0">
                <a:solidFill>
                  <a:srgbClr val="333333"/>
                </a:solidFill>
                <a:latin typeface="Aptos"/>
              </a:defRPr>
            </a:pPr>
            <a:r>
              <a:t>Investigate plants with higher displayed energy-per-unit values.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834640"/>
            <a:ext cx="51663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2834640"/>
            <a:ext cx="54864" cy="1078992"/>
          </a:xfrm>
          <a:prstGeom prst="rect">
            <a:avLst/>
          </a:prstGeom>
          <a:solidFill>
            <a:srgbClr val="CD4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1" y="2971800"/>
            <a:ext cx="489204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646E7D"/>
                </a:solidFill>
                <a:latin typeface="Aptos"/>
              </a:defRPr>
            </a:pPr>
            <a:r>
              <a:t>Quality &amp; cost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" y="3703320"/>
            <a:ext cx="4892040" cy="14630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50" b="0">
                <a:solidFill>
                  <a:srgbClr val="333333"/>
                </a:solidFill>
                <a:latin typeface="Aptos"/>
              </a:defRPr>
            </a:pPr>
            <a:r>
              <a:t>Analyze defects alongside estimated defect-cost exposure.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834640"/>
            <a:ext cx="51663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63640" y="2834640"/>
            <a:ext cx="54864" cy="107899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28232" y="2971800"/>
            <a:ext cx="489204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646E7D"/>
                </a:solidFill>
                <a:latin typeface="Aptos"/>
              </a:defRPr>
            </a:pPr>
            <a:r>
              <a:t>Material 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3703320"/>
            <a:ext cx="4892040" cy="14630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50" b="0">
                <a:solidFill>
                  <a:srgbClr val="333333"/>
                </a:solidFill>
                <a:latin typeface="Aptos"/>
              </a:defRPr>
            </a:pPr>
            <a:r>
              <a:t>Monitor high-dependency raw materials and shared materials.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251960"/>
            <a:ext cx="51663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0" y="4251960"/>
            <a:ext cx="54864" cy="1078992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4671" y="4389120"/>
            <a:ext cx="489204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646E7D"/>
                </a:solidFill>
                <a:latin typeface="Aptos"/>
              </a:defRPr>
            </a:pPr>
            <a:r>
              <a:t>Operator &amp; shift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1" y="5120640"/>
            <a:ext cx="4892040" cy="14630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50" b="0">
                <a:solidFill>
                  <a:srgbClr val="333333"/>
                </a:solidFill>
                <a:latin typeface="Aptos"/>
              </a:defRPr>
            </a:pPr>
            <a:r>
              <a:t>Review defect and downtime patterns by operator and shift.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251960"/>
            <a:ext cx="51663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63640" y="4251960"/>
            <a:ext cx="54864" cy="10789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28232" y="4389120"/>
            <a:ext cx="489204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646E7D"/>
                </a:solidFill>
                <a:latin typeface="Aptos"/>
              </a:defRPr>
            </a:pPr>
            <a:r>
              <a:t>Procurement concentration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8232" y="5120640"/>
            <a:ext cx="4892040" cy="14630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50" b="0">
                <a:solidFill>
                  <a:srgbClr val="333333"/>
                </a:solidFill>
                <a:latin typeface="Aptos"/>
              </a:defRPr>
            </a:pPr>
            <a:r>
              <a:t>Monitor high-spend suppliers and materials.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5897880"/>
            <a:ext cx="1024128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50" b="0">
                <a:solidFill>
                  <a:srgbClr val="646E7D"/>
                </a:solidFill>
                <a:latin typeface="Aptos"/>
              </a:defRPr>
            </a:pPr>
            <a:r>
              <a:t>These are management review priorities; the dashboard alone does not establish root causes.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51052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D"/>
                </a:solidFill>
                <a:latin typeface="Aptos"/>
              </a:defRPr>
            </a:pPr>
            <a:r>
              <a:t>NOVITECH MANUFACTURING  |  POWER BI ANALYTICS                                    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4E79"/>
                </a:solidFill>
                <a:latin typeface="Aptos Display"/>
              </a:defRPr>
            </a:pPr>
            <a:r>
              <a:t>KPI Definitions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789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D"/>
                </a:solidFill>
                <a:latin typeface="Aptos"/>
              </a:defRPr>
            </a:pPr>
            <a:r>
              <a:t>Standard definitions used in the analytical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7772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417320"/>
          <a:ext cx="1078992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2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78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KPI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Definition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Total Production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Total quantity produced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Total Defects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Total defective units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Defect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Total Defects ÷ Total Production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Procurement Spend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Quantity Ordered × Unit Price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Delay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Delayed Orders ÷ Total Orders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Potential Unit Margin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Target Price − Unit Cost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Estimated Defect Cost Exposure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Defective Quantity × Unit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Energy per Unit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Total Energy ÷ Production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651052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D"/>
                </a:solidFill>
                <a:latin typeface="Aptos"/>
              </a:defRPr>
            </a:pPr>
            <a:r>
              <a:t>NOVITECH MANUFACTURING  |  POWER BI ANALYTICS                                    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4E79"/>
                </a:solidFill>
                <a:latin typeface="Aptos Display"/>
              </a:defRPr>
            </a:pPr>
            <a:r>
              <a:t>Analytical Assumptions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789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D"/>
                </a:solidFill>
                <a:latin typeface="Aptos"/>
              </a:defRPr>
            </a:pPr>
            <a:r>
              <a:t>Rules used to interpret the supplied data and KPI calculations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7772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533231"/>
            <a:ext cx="51206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507473"/>
            <a:ext cx="54864" cy="9601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554480"/>
            <a:ext cx="484632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646E7D"/>
                </a:solidFill>
                <a:latin typeface="Aptos"/>
              </a:defRPr>
            </a:pPr>
            <a:r>
              <a:t>ASSUMPTION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286000"/>
            <a:ext cx="4846320" cy="274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50" b="0">
                <a:solidFill>
                  <a:srgbClr val="333333"/>
                </a:solidFill>
                <a:latin typeface="Aptos"/>
              </a:defRPr>
            </a:pPr>
            <a:r>
              <a:t>Calculations are based on the supplied datasets.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46110"/>
            <a:ext cx="51206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82701" y="1546110"/>
            <a:ext cx="54864" cy="9601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8231" y="1567359"/>
            <a:ext cx="484632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646E7D"/>
                </a:solidFill>
                <a:latin typeface="Aptos"/>
              </a:defRPr>
            </a:pPr>
            <a:r>
              <a:t>ASSUMPTION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1" y="2286000"/>
            <a:ext cx="4846320" cy="274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50" b="0">
                <a:solidFill>
                  <a:srgbClr val="333333"/>
                </a:solidFill>
                <a:latin typeface="Aptos"/>
              </a:defRPr>
            </a:pPr>
            <a:r>
              <a:t>Procurement spend follows Quantity Ordered × Unit Price.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46232"/>
            <a:ext cx="51206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03573" y="2819574"/>
            <a:ext cx="54864" cy="9601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392" y="2880360"/>
            <a:ext cx="484632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646E7D"/>
                </a:solidFill>
                <a:latin typeface="Aptos"/>
              </a:defRPr>
            </a:pPr>
            <a:r>
              <a:t>ASSUMPTION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3611880"/>
            <a:ext cx="4846320" cy="274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50" b="0">
                <a:solidFill>
                  <a:srgbClr val="333333"/>
                </a:solidFill>
                <a:latin typeface="Aptos"/>
              </a:defRPr>
            </a:pPr>
            <a:r>
              <a:t>Potential Unit Margin follows Target Price − Unit Cost.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859111"/>
            <a:ext cx="51206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48572" y="2846232"/>
            <a:ext cx="54864" cy="9601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28231" y="2880360"/>
            <a:ext cx="484632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646E7D"/>
                </a:solidFill>
                <a:latin typeface="Aptos"/>
              </a:defRPr>
            </a:pPr>
            <a:r>
              <a:t>ASSUMPTION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1" y="3611880"/>
            <a:ext cx="4846320" cy="274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50" b="0">
                <a:solidFill>
                  <a:srgbClr val="333333"/>
                </a:solidFill>
                <a:latin typeface="Aptos"/>
              </a:defRPr>
            </a:pPr>
            <a:r>
              <a:t>Estimated defect cost follows Defective Quantity × Product Unit Cost.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84991"/>
            <a:ext cx="51206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85800" y="4146804"/>
            <a:ext cx="54864" cy="9601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0392" y="4206240"/>
            <a:ext cx="484632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646E7D"/>
                </a:solidFill>
                <a:latin typeface="Aptos"/>
              </a:defRPr>
            </a:pPr>
            <a:r>
              <a:t>ASSUMPTION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" y="4937760"/>
            <a:ext cx="4846320" cy="274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50" b="0">
                <a:solidFill>
                  <a:srgbClr val="333333"/>
                </a:solidFill>
                <a:latin typeface="Aptos"/>
              </a:defRPr>
            </a:pPr>
            <a:r>
              <a:t>Product-material dependency follows the supplied BOM relationship.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184991"/>
            <a:ext cx="51206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63640" y="4146354"/>
            <a:ext cx="54864" cy="9601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28231" y="4206240"/>
            <a:ext cx="484632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646E7D"/>
                </a:solidFill>
                <a:latin typeface="Aptos"/>
              </a:defRPr>
            </a:pPr>
            <a:r>
              <a:t>ASSUMPTION 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8231" y="4937760"/>
            <a:ext cx="4846320" cy="274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50" b="0">
                <a:solidFill>
                  <a:srgbClr val="333333"/>
                </a:solidFill>
                <a:latin typeface="Aptos"/>
              </a:defRPr>
            </a:pPr>
            <a:r>
              <a:t>KPI results depend on the quality and completeness of source data.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51052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D"/>
                </a:solidFill>
                <a:latin typeface="Aptos"/>
              </a:defRPr>
            </a:pPr>
            <a:r>
              <a:t>NOVITECH MANUFACTURING  |  POWER BI ANALYTICS                                    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4E79"/>
                </a:solidFill>
                <a:latin typeface="Aptos Display"/>
              </a:defRPr>
            </a:pPr>
            <a:r>
              <a:t>Financial Limitations &amp;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789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D"/>
                </a:solidFill>
                <a:latin typeface="Aptos"/>
              </a:defRPr>
            </a:pPr>
            <a:r>
              <a:t>Important boundaries for management and project presentation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7772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2578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4864" cy="4297680"/>
          </a:xfrm>
          <a:prstGeom prst="rect">
            <a:avLst/>
          </a:prstGeom>
          <a:solidFill>
            <a:srgbClr val="E6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1554480"/>
            <a:ext cx="4517136" cy="19082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646E7D"/>
                </a:solidFill>
                <a:latin typeface="Aptos"/>
              </a:defRPr>
            </a:pPr>
            <a:r>
              <a:rPr dirty="0"/>
              <a:t>DATASET LIMITATION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74519"/>
            <a:ext cx="4754880" cy="7315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800" b="1">
                <a:solidFill>
                  <a:srgbClr val="1F4E79"/>
                </a:solidFill>
                <a:latin typeface="Aptos"/>
              </a:defRPr>
            </a:pPr>
            <a:r>
              <a:t>The dataset does NOT contain actual sales transactions.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43200"/>
            <a:ext cx="4663440" cy="2103120"/>
          </a:xfrm>
          <a:prstGeom prst="rect">
            <a:avLst/>
          </a:prstGeom>
          <a:noFill/>
        </p:spPr>
        <p:txBody>
          <a:bodyPr wrap="square" lIns="36576" rIns="27432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Aptos"/>
              </a:defRPr>
            </a:pPr>
            <a:r>
              <a:t>• Actual revenue cannot be calculated.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Aptos"/>
              </a:defRPr>
            </a:pPr>
            <a:r>
              <a:t>• Actual profit cannot be calculated.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Aptos"/>
              </a:defRPr>
            </a:pPr>
            <a:r>
              <a:t>• Actual discounts and returns are unavailable.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Aptos"/>
              </a:defRPr>
            </a:pPr>
            <a:r>
              <a:t>• Tax information is unavailable.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Aptos"/>
              </a:defRPr>
            </a:pPr>
            <a:r>
              <a:t>• Customer-level sales data is unavailable.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417320"/>
            <a:ext cx="516636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55080" y="1417320"/>
            <a:ext cx="54864" cy="4297680"/>
          </a:xfrm>
          <a:prstGeom prst="rect">
            <a:avLst/>
          </a:prstGeom>
          <a:solidFill>
            <a:srgbClr val="CD4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75704" y="1554480"/>
            <a:ext cx="4636008" cy="19082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646E7D"/>
                </a:solidFill>
                <a:latin typeface="Aptos"/>
              </a:defRPr>
            </a:pPr>
            <a:r>
              <a:rPr dirty="0"/>
              <a:t>TERMINOLOGY TO PRESERVE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1920240"/>
            <a:ext cx="438912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300" b="1">
                <a:solidFill>
                  <a:srgbClr val="1F4E79"/>
                </a:solidFill>
                <a:latin typeface="Aptos"/>
              </a:defRPr>
            </a:pPr>
            <a:r>
              <a:t>Potential Margin ≠ Actual Profit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651760"/>
            <a:ext cx="438912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300" b="1">
                <a:solidFill>
                  <a:srgbClr val="1F4E79"/>
                </a:solidFill>
                <a:latin typeface="Aptos"/>
              </a:defRPr>
            </a:pPr>
            <a:r>
              <a:t>Potential Production Value ≠ Actual Revenue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3383280"/>
            <a:ext cx="438912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300" b="1">
                <a:solidFill>
                  <a:srgbClr val="1F4E79"/>
                </a:solidFill>
                <a:latin typeface="Aptos"/>
              </a:defRPr>
            </a:pPr>
            <a:r>
              <a:t>Estimated Defect Cost ≠ Confirmed Scrap/Rework Cost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4114800"/>
            <a:ext cx="438912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300" b="1">
                <a:solidFill>
                  <a:srgbClr val="1F4E79"/>
                </a:solidFill>
                <a:latin typeface="Aptos"/>
              </a:defRPr>
            </a:pPr>
            <a:r>
              <a:t>Estimated Production Cost ≠ Accounting COGS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51052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D"/>
                </a:solidFill>
                <a:latin typeface="Aptos"/>
              </a:defRPr>
            </a:pPr>
            <a:r>
              <a:t>NOVITECH MANUFACTURING  |  POWER BI ANALYTICS                                    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524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4E79"/>
                </a:solidFill>
                <a:latin typeface="Aptos Display"/>
              </a:defRPr>
            </a:pPr>
            <a:r>
              <a:t>Project Success Criteria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789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D"/>
                </a:solidFill>
                <a:latin typeface="Aptos"/>
              </a:defRPr>
            </a:pPr>
            <a:r>
              <a:t>Completion criteria aligned with the project requirements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7772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636263"/>
            <a:ext cx="33832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644827"/>
            <a:ext cx="54864" cy="822960"/>
          </a:xfrm>
          <a:prstGeom prst="rect">
            <a:avLst/>
          </a:prstGeom>
          <a:solidFill>
            <a:srgbClr val="2D8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773936"/>
            <a:ext cx="310896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646E7D"/>
                </a:solidFill>
                <a:latin typeface="Aptos"/>
              </a:defRPr>
            </a:pPr>
            <a:r>
              <a:rPr dirty="0"/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286000"/>
            <a:ext cx="3108960" cy="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50" b="0">
                <a:solidFill>
                  <a:srgbClr val="333333"/>
                </a:solidFill>
                <a:latin typeface="Aptos"/>
              </a:defRPr>
            </a:pPr>
            <a:r>
              <a:rPr dirty="0"/>
              <a:t>Data cleaned and transformed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636263"/>
            <a:ext cx="33832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80560" y="1636263"/>
            <a:ext cx="54864" cy="822960"/>
          </a:xfrm>
          <a:prstGeom prst="rect">
            <a:avLst/>
          </a:prstGeom>
          <a:solidFill>
            <a:srgbClr val="2D8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45152" y="1738503"/>
            <a:ext cx="310896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646E7D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2286000"/>
            <a:ext cx="3108960" cy="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50" b="0">
                <a:solidFill>
                  <a:srgbClr val="333333"/>
                </a:solidFill>
                <a:latin typeface="Aptos"/>
              </a:defRPr>
            </a:pPr>
            <a:r>
              <a:t>Relationships validated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632204"/>
            <a:ext cx="33832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75320" y="1636263"/>
            <a:ext cx="54864" cy="822960"/>
          </a:xfrm>
          <a:prstGeom prst="rect">
            <a:avLst/>
          </a:prstGeom>
          <a:solidFill>
            <a:srgbClr val="2D8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39912" y="1709622"/>
            <a:ext cx="310896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646E7D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9912" y="2286000"/>
            <a:ext cx="3108960" cy="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50" b="0">
                <a:solidFill>
                  <a:srgbClr val="333333"/>
                </a:solidFill>
                <a:latin typeface="Aptos"/>
              </a:defRPr>
            </a:pPr>
            <a:r>
              <a:t>KPIs correctly calculated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2779263"/>
            <a:ext cx="33832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2754212"/>
            <a:ext cx="54864" cy="822960"/>
          </a:xfrm>
          <a:prstGeom prst="rect">
            <a:avLst/>
          </a:prstGeom>
          <a:solidFill>
            <a:srgbClr val="2D8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0392" y="2825495"/>
            <a:ext cx="310896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646E7D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3429000"/>
            <a:ext cx="3108960" cy="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50" b="0">
                <a:solidFill>
                  <a:srgbClr val="333333"/>
                </a:solidFill>
                <a:latin typeface="Aptos"/>
              </a:defRPr>
            </a:pPr>
            <a:r>
              <a:t>Financial terminology correctly used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2779263"/>
            <a:ext cx="33832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80560" y="2798578"/>
            <a:ext cx="54864" cy="822960"/>
          </a:xfrm>
          <a:prstGeom prst="rect">
            <a:avLst/>
          </a:prstGeom>
          <a:solidFill>
            <a:srgbClr val="2D8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45152" y="2810008"/>
            <a:ext cx="310896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646E7D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45152" y="3429000"/>
            <a:ext cx="3108960" cy="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50" b="0">
                <a:solidFill>
                  <a:srgbClr val="333333"/>
                </a:solidFill>
                <a:latin typeface="Aptos"/>
              </a:defRPr>
            </a:pPr>
            <a:r>
              <a:t>Dashboard pages address business problems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20" y="2770889"/>
            <a:ext cx="33832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275320" y="2818638"/>
            <a:ext cx="54864" cy="822960"/>
          </a:xfrm>
          <a:prstGeom prst="rect">
            <a:avLst/>
          </a:prstGeom>
          <a:solidFill>
            <a:srgbClr val="2D8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12480" y="2800799"/>
            <a:ext cx="310896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646E7D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9912" y="3429000"/>
            <a:ext cx="3108960" cy="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50" b="0">
                <a:solidFill>
                  <a:srgbClr val="333333"/>
                </a:solidFill>
                <a:latin typeface="Aptos"/>
              </a:defRPr>
            </a:pPr>
            <a:r>
              <a:t>Insights supported by dashboard data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3963924"/>
            <a:ext cx="33832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31005" y="3963924"/>
            <a:ext cx="54864" cy="822960"/>
          </a:xfrm>
          <a:prstGeom prst="rect">
            <a:avLst/>
          </a:prstGeom>
          <a:solidFill>
            <a:srgbClr val="2D8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72286" y="4021011"/>
            <a:ext cx="310896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646E7D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" y="4572000"/>
            <a:ext cx="3108960" cy="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50" b="0">
                <a:solidFill>
                  <a:srgbClr val="333333"/>
                </a:solidFill>
                <a:latin typeface="Aptos"/>
              </a:defRPr>
            </a:pPr>
            <a:r>
              <a:t>Operational areas identified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80560" y="3963924"/>
            <a:ext cx="33832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480560" y="3963924"/>
            <a:ext cx="54864" cy="822960"/>
          </a:xfrm>
          <a:prstGeom prst="rect">
            <a:avLst/>
          </a:prstGeom>
          <a:solidFill>
            <a:srgbClr val="2D8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645152" y="4021011"/>
            <a:ext cx="310896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646E7D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45152" y="4572000"/>
            <a:ext cx="3108960" cy="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50" b="0">
                <a:solidFill>
                  <a:srgbClr val="333333"/>
                </a:solidFill>
                <a:latin typeface="Aptos"/>
              </a:defRPr>
            </a:pPr>
            <a:r>
              <a:t>Cost exposure identified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75320" y="3963924"/>
            <a:ext cx="33832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298631" y="3944509"/>
            <a:ext cx="54864" cy="822960"/>
          </a:xfrm>
          <a:prstGeom prst="rect">
            <a:avLst/>
          </a:prstGeom>
          <a:solidFill>
            <a:srgbClr val="2D8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439912" y="4009162"/>
            <a:ext cx="310896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646E7D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39912" y="4572000"/>
            <a:ext cx="3108960" cy="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50" b="0">
                <a:solidFill>
                  <a:srgbClr val="333333"/>
                </a:solidFill>
                <a:latin typeface="Aptos"/>
              </a:defRPr>
            </a:pPr>
            <a:r>
              <a:t>Supply-chain risk areas identified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651052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D"/>
                </a:solidFill>
                <a:latin typeface="Aptos"/>
              </a:defRPr>
            </a:pPr>
            <a:r>
              <a:t>NOVITECH MANUFACTURING  |  POWER BI ANALYTICS                                     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4E79"/>
                </a:solidFill>
                <a:latin typeface="Aptos Display"/>
              </a:defRPr>
            </a:pPr>
            <a:r>
              <a:t>Final Project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789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D"/>
                </a:solidFill>
                <a:latin typeface="Aptos"/>
              </a:defRPr>
            </a:pPr>
            <a:r>
              <a:t>What is included in the completed Novitech Manufacturing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77724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25603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54864" cy="132588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554480"/>
            <a:ext cx="22860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646E7D"/>
                </a:solidFill>
                <a:latin typeface="Aptos"/>
              </a:defRPr>
            </a:pPr>
            <a:r>
              <a:t>Power Query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286000"/>
            <a:ext cx="2286000" cy="39319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50" b="0">
                <a:solidFill>
                  <a:srgbClr val="333333"/>
                </a:solidFill>
                <a:latin typeface="Aptos"/>
              </a:defRPr>
            </a:pPr>
            <a:r>
              <a:t>Cleaned and transformed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1554480"/>
            <a:ext cx="41148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1000" b="1">
                <a:solidFill>
                  <a:srgbClr val="646E7D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417320"/>
            <a:ext cx="25603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29000" y="1417320"/>
            <a:ext cx="54864" cy="13258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93592" y="1554480"/>
            <a:ext cx="22860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646E7D"/>
                </a:solidFill>
                <a:latin typeface="Aptos"/>
              </a:defRPr>
            </a:pPr>
            <a:r>
              <a:t>Data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2286000"/>
            <a:ext cx="2286000" cy="39319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50" b="0">
                <a:solidFill>
                  <a:srgbClr val="333333"/>
                </a:solidFill>
                <a:latin typeface="Aptos"/>
              </a:defRPr>
            </a:pPr>
            <a:r>
              <a:t>Validated fact-dimension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1554480"/>
            <a:ext cx="41148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1000" b="1">
                <a:solidFill>
                  <a:srgbClr val="646E7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417320"/>
            <a:ext cx="25603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63640" y="1417320"/>
            <a:ext cx="54864" cy="132588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28232" y="1554480"/>
            <a:ext cx="22860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646E7D"/>
                </a:solidFill>
                <a:latin typeface="Aptos"/>
              </a:defRPr>
            </a:pPr>
            <a:r>
              <a:t>DAX Measures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2286000"/>
            <a:ext cx="2286000" cy="39319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50" b="0">
                <a:solidFill>
                  <a:srgbClr val="333333"/>
                </a:solidFill>
                <a:latin typeface="Aptos"/>
              </a:defRPr>
            </a:pPr>
            <a:r>
              <a:t>Operational, quality, financial and supply-chain KPIs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1554480"/>
            <a:ext cx="41148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1000" b="1">
                <a:solidFill>
                  <a:srgbClr val="646E7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280" y="1417320"/>
            <a:ext cx="25603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98280" y="1417320"/>
            <a:ext cx="54864" cy="13258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62872" y="1554480"/>
            <a:ext cx="22860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646E7D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2872" y="2286000"/>
            <a:ext cx="2286000" cy="39319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50" b="0">
                <a:solidFill>
                  <a:srgbClr val="333333"/>
                </a:solidFill>
                <a:latin typeface="Aptos"/>
              </a:defRPr>
            </a:pPr>
            <a:r>
              <a:t>Seven-page interactive Power BI report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1554480"/>
            <a:ext cx="41148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1000" b="1">
                <a:solidFill>
                  <a:srgbClr val="646E7D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3246120"/>
            <a:ext cx="25603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4360" y="3246120"/>
            <a:ext cx="54864" cy="132588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58952" y="3383279"/>
            <a:ext cx="22860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646E7D"/>
                </a:solidFill>
                <a:latin typeface="Aptos"/>
              </a:defRPr>
            </a:pPr>
            <a:r>
              <a:t>Insights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114800"/>
            <a:ext cx="2286000" cy="39319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50" b="0">
                <a:solidFill>
                  <a:srgbClr val="333333"/>
                </a:solidFill>
                <a:latin typeface="Aptos"/>
              </a:defRPr>
            </a:pPr>
            <a:r>
              <a:t>Evidence-based findings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20" y="3383279"/>
            <a:ext cx="41148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1000" b="1">
                <a:solidFill>
                  <a:srgbClr val="646E7D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29000" y="3246120"/>
            <a:ext cx="25603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429000" y="3246120"/>
            <a:ext cx="54864" cy="13258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593592" y="3383279"/>
            <a:ext cx="22860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646E7D"/>
                </a:solidFill>
                <a:latin typeface="Aptos"/>
              </a:defRPr>
            </a:pPr>
            <a:r>
              <a:t>Recommendations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93592" y="4114800"/>
            <a:ext cx="2286000" cy="39319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50" b="0">
                <a:solidFill>
                  <a:srgbClr val="333333"/>
                </a:solidFill>
                <a:latin typeface="Aptos"/>
              </a:defRPr>
            </a:pPr>
            <a:r>
              <a:t>Business actions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94960" y="3383279"/>
            <a:ext cx="41148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1000" b="1">
                <a:solidFill>
                  <a:srgbClr val="646E7D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3246120"/>
            <a:ext cx="25603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263640" y="3246120"/>
            <a:ext cx="54864" cy="132588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28232" y="3383279"/>
            <a:ext cx="22860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646E7D"/>
                </a:solidFill>
                <a:latin typeface="Aptos"/>
              </a:defRPr>
            </a:pPr>
            <a:r>
              <a:t>Documentation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8232" y="4114800"/>
            <a:ext cx="2286000" cy="39319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50" b="0">
                <a:solidFill>
                  <a:srgbClr val="333333"/>
                </a:solidFill>
                <a:latin typeface="Aptos"/>
              </a:defRPr>
            </a:pPr>
            <a:r>
              <a:t>Assumptions, KPI definitions and limitations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3383279"/>
            <a:ext cx="41148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1000" b="1">
                <a:solidFill>
                  <a:srgbClr val="646E7D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651052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D"/>
                </a:solidFill>
                <a:latin typeface="Aptos"/>
              </a:defRPr>
            </a:pPr>
            <a:r>
              <a:t>NOVITECH MANUFACTURING  |  POWER BI ANALYTICS                                     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274320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2F80ED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4754880" cy="1645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3400" b="1">
                <a:solidFill>
                  <a:srgbClr val="1F4E79"/>
                </a:solidFill>
                <a:latin typeface="Aptos"/>
              </a:defRPr>
            </a:pPr>
            <a:r>
              <a:t>NOVITECH</a:t>
            </a:r>
            <a:br/>
            <a:r>
              <a:t>MANUFACTURING</a:t>
            </a:r>
            <a:br/>
            <a:r>
              <a:t>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1737360"/>
            <a:ext cx="5577840" cy="20116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Aptos"/>
              </a:defRPr>
            </a:pPr>
            <a:r>
              <a:t>The Novitech Manufacturing Power BI solution provides an integrated analytical view of production, quality, operational efficiency, finance, procurement, supplier performance and supply-chain risk. The dashboard enables management to monitor operational performance, understand cost exposure, identify procurement and material dependencies, and support data-driven business reviews.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4160520"/>
            <a:ext cx="2103120" cy="329184"/>
          </a:xfrm>
          <a:prstGeom prst="round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559552" y="4215383"/>
            <a:ext cx="1956815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950" b="1">
                <a:solidFill>
                  <a:srgbClr val="1F4E79"/>
                </a:solidFill>
                <a:latin typeface="Aptos"/>
              </a:defRPr>
            </a:pPr>
            <a:r>
              <a:t>POWER BI ANALYTICS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4160520"/>
            <a:ext cx="2423160" cy="329184"/>
          </a:xfrm>
          <a:prstGeom prst="roundRect">
            <a:avLst/>
          </a:prstGeom>
          <a:solidFill>
            <a:srgbClr val="F1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91272" y="4215383"/>
            <a:ext cx="2276856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950" b="1">
                <a:solidFill>
                  <a:srgbClr val="1F4E79"/>
                </a:solidFill>
                <a:latin typeface="Aptos"/>
              </a:defRPr>
            </a:pPr>
            <a:r>
              <a:t>DATA-DRIVEN DECISIONS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4983480"/>
            <a:ext cx="5120640" cy="5486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2400" b="1">
                <a:solidFill>
                  <a:srgbClr val="1F4E79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510528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D"/>
                </a:solidFill>
                <a:latin typeface="Aptos"/>
              </a:defRPr>
            </a:pPr>
            <a:r>
              <a:t>NOVITECH MANUFACTURING  |  POWER BI ANALYTICS                                      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1839</Words>
  <Application>Microsoft Office PowerPoint</Application>
  <PresentationFormat>Widescreen</PresentationFormat>
  <Paragraphs>363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 KARTHICK</dc:creator>
  <cp:keywords/>
  <dc:description>generated using python-pptx</dc:description>
  <cp:lastModifiedBy>S0040569</cp:lastModifiedBy>
  <cp:revision>4</cp:revision>
  <dcterms:created xsi:type="dcterms:W3CDTF">2013-01-27T09:14:16Z</dcterms:created>
  <dcterms:modified xsi:type="dcterms:W3CDTF">2026-10-03T18:32:51Z</dcterms:modified>
  <cp:category/>
</cp:coreProperties>
</file>