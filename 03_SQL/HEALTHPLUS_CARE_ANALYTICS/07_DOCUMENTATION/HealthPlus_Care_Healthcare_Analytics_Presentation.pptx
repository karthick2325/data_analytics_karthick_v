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69680" y="914400"/>
            <a:ext cx="2011680" cy="2011680"/>
          </a:xfrm>
          <a:prstGeom prst="ellipse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966960" y="2011680"/>
            <a:ext cx="1371600" cy="1371600"/>
          </a:xfrm>
          <a:prstGeom prst="ellipse">
            <a:avLst/>
          </a:prstGeom>
          <a:solidFill>
            <a:srgbClr val="F1E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0" y="3017520"/>
            <a:ext cx="1554480" cy="1554480"/>
          </a:xfrm>
          <a:prstGeom prst="ellipse">
            <a:avLst/>
          </a:prstGeom>
          <a:solidFill>
            <a:srgbClr val="E7F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8638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63444"/>
                </a:solidFill>
                <a:latin typeface="Poppins"/>
              </a:defRPr>
            </a:pPr>
            <a:r>
              <a:t>HEALTHPLUS 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06040"/>
            <a:ext cx="74980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4A90E2"/>
                </a:solidFill>
                <a:latin typeface="Poppins"/>
              </a:defRPr>
            </a:pPr>
            <a:r>
              <a:t>Healthcare Service Utilization,</a:t>
            </a:r>
            <a:br/>
            <a:r>
              <a:t>Financial Performance &amp; Member Experience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3886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7684"/>
                </a:solidFill>
                <a:latin typeface="Aptos"/>
              </a:defRPr>
            </a:pPr>
            <a:r>
              <a:t>SQL / MySQL Data Analytics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4297680"/>
            <a:ext cx="3383280" cy="1097280"/>
          </a:xfrm>
          <a:prstGeom prst="roundRect">
            <a:avLst/>
          </a:prstGeom>
          <a:solidFill>
            <a:srgbClr val="E7F8F6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26679" y="4297680"/>
            <a:ext cx="64008" cy="109728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91271" y="4425696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Analytics Focus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Service • Finance • Engagement • Experience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444"/>
                </a:solidFill>
                <a:latin typeface="Poppin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3444"/>
                </a:solidFill>
                <a:latin typeface="Aptos"/>
              </a:defRPr>
            </a:pPr>
            <a:r>
              <a:t>HealthPlus Care analyzes healthcare service utilization, member engagement, financial performance and member experience using a relational MySQL database.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31720"/>
            <a:ext cx="537210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2331720"/>
            <a:ext cx="64008" cy="13258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459736"/>
            <a:ext cx="50977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600"/>
              <a:t>Member Analytics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sz="1600"/>
              <a:t>Member lifecycle and utilization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2331720"/>
            <a:ext cx="537210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5060" y="2331720"/>
            <a:ext cx="64008" cy="132588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9652" y="2459736"/>
            <a:ext cx="50977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600"/>
              <a:t>Healthcare Services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sz="1600"/>
              <a:t>Consultations, telemedicine and chronic care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886200"/>
            <a:ext cx="537210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3886200"/>
            <a:ext cx="64008" cy="132588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4014215"/>
            <a:ext cx="50977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600" dirty="0"/>
              <a:t>Financial Analytics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sz="1600" dirty="0"/>
              <a:t>Billing, payments and claims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3886200"/>
            <a:ext cx="537210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15" name="Rectangle 14"/>
          <p:cNvSpPr/>
          <p:nvPr/>
        </p:nvSpPr>
        <p:spPr>
          <a:xfrm>
            <a:off x="6195060" y="3886200"/>
            <a:ext cx="64008" cy="13258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9652" y="4014215"/>
            <a:ext cx="50977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600"/>
              <a:t>Experience &amp; Workforce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sz="1600"/>
              <a:t>Feedback, clinics and staff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  <a:latin typeface="Aptos"/>
              </a:defRPr>
            </a:pPr>
            <a:r>
              <a:t>HealthPlus Care  |  Healthcare Analytics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444"/>
                </a:solidFill>
                <a:latin typeface="Poppins"/>
              </a:defRPr>
            </a:pPr>
            <a:r>
              <a:t>Business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3444"/>
                </a:solidFill>
                <a:latin typeface="Aptos"/>
              </a:defRPr>
            </a:pPr>
            <a:r>
              <a:t>How effectively is HealthPlus Care delivering and monetizing its healthcare services while maintaining member engagement and service satisfaction?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31720"/>
            <a:ext cx="537210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2331720"/>
            <a:ext cx="64008" cy="13258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459736"/>
            <a:ext cx="50977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600"/>
              <a:t>Service Utilization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sz="1600"/>
              <a:t>Measure consultation and healthcare activity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2331720"/>
            <a:ext cx="537210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5060" y="2331720"/>
            <a:ext cx="64008" cy="132588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9652" y="2459736"/>
            <a:ext cx="50977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600"/>
              <a:t>Financial Performance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sz="1600"/>
              <a:t>Track billing, collection and 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886200"/>
            <a:ext cx="537210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3886200"/>
            <a:ext cx="64008" cy="132588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4014215"/>
            <a:ext cx="50977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600"/>
              <a:t>Member Engagement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sz="1600"/>
              <a:t>Understand packages, corporate and chronic care usage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3886200"/>
            <a:ext cx="537210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5060" y="3886200"/>
            <a:ext cx="64008" cy="13258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9652" y="4014215"/>
            <a:ext cx="50977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600"/>
              <a:t>Member Experience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sz="1600"/>
              <a:t>Measure feedback and satisfaction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  <a:latin typeface="Aptos"/>
              </a:defRPr>
            </a:pPr>
            <a:r>
              <a:t>HealthPlus Care  |  Healthcare Analytics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444"/>
                </a:solidFill>
                <a:latin typeface="Poppins"/>
              </a:defRPr>
            </a:pPr>
            <a:r>
              <a:t>HealthPlus Care Business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1417320" cy="96012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828800"/>
            <a:ext cx="64008" cy="9601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956816"/>
            <a:ext cx="12252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200"/>
              <a:t>Member</a:t>
            </a:r>
          </a:p>
        </p:txBody>
      </p:sp>
      <p:sp>
        <p:nvSpPr>
          <p:cNvPr id="7" name="Chevron 6"/>
          <p:cNvSpPr/>
          <p:nvPr/>
        </p:nvSpPr>
        <p:spPr>
          <a:xfrm>
            <a:off x="1837944" y="2139696"/>
            <a:ext cx="201168" cy="32004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075688" y="1828800"/>
            <a:ext cx="1417320" cy="96012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075688" y="1828800"/>
            <a:ext cx="64008" cy="96012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40280" y="1956816"/>
            <a:ext cx="12252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200"/>
              <a:t>Consultation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3502152" y="2139696"/>
            <a:ext cx="201168" cy="32004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39896" y="1828800"/>
            <a:ext cx="1417320" cy="96012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739896" y="1828800"/>
            <a:ext cx="64008" cy="96012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04487" y="1956816"/>
            <a:ext cx="12252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200"/>
              <a:t>Specialist / Clinic</a:t>
            </a:r>
          </a:p>
        </p:txBody>
      </p:sp>
      <p:sp>
        <p:nvSpPr>
          <p:cNvPr id="15" name="Chevron 14"/>
          <p:cNvSpPr/>
          <p:nvPr/>
        </p:nvSpPr>
        <p:spPr>
          <a:xfrm>
            <a:off x="5166360" y="2139696"/>
            <a:ext cx="201168" cy="32004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04104" y="1828800"/>
            <a:ext cx="1417320" cy="96012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04104" y="1828800"/>
            <a:ext cx="64008" cy="9601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68696" y="1956816"/>
            <a:ext cx="12252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200"/>
              <a:t>Prescription / Lab / Claim</a:t>
            </a:r>
          </a:p>
        </p:txBody>
      </p:sp>
      <p:sp>
        <p:nvSpPr>
          <p:cNvPr id="19" name="Chevron 18"/>
          <p:cNvSpPr/>
          <p:nvPr/>
        </p:nvSpPr>
        <p:spPr>
          <a:xfrm>
            <a:off x="6830568" y="2139696"/>
            <a:ext cx="201168" cy="32004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068312" y="1828800"/>
            <a:ext cx="1417320" cy="96012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68312" y="1828800"/>
            <a:ext cx="64008" cy="96012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32904" y="1956816"/>
            <a:ext cx="12252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200"/>
              <a:t>Billing</a:t>
            </a:r>
          </a:p>
        </p:txBody>
      </p:sp>
      <p:sp>
        <p:nvSpPr>
          <p:cNvPr id="23" name="Chevron 22"/>
          <p:cNvSpPr/>
          <p:nvPr/>
        </p:nvSpPr>
        <p:spPr>
          <a:xfrm>
            <a:off x="8494776" y="2139696"/>
            <a:ext cx="201168" cy="32004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732519" y="1828800"/>
            <a:ext cx="1417320" cy="96012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732519" y="1828800"/>
            <a:ext cx="64008" cy="96012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97111" y="1956816"/>
            <a:ext cx="12252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200"/>
              <a:t>Payment</a:t>
            </a:r>
          </a:p>
        </p:txBody>
      </p:sp>
      <p:sp>
        <p:nvSpPr>
          <p:cNvPr id="27" name="Chevron 26"/>
          <p:cNvSpPr/>
          <p:nvPr/>
        </p:nvSpPr>
        <p:spPr>
          <a:xfrm>
            <a:off x="10158984" y="2139696"/>
            <a:ext cx="201168" cy="32004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396728" y="1828800"/>
            <a:ext cx="1417320" cy="96012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396728" y="1828800"/>
            <a:ext cx="64008" cy="9601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61319" y="1956816"/>
            <a:ext cx="12252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200"/>
              <a:t>Feedback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3794759"/>
            <a:ext cx="3017520" cy="2066395"/>
          </a:xfrm>
          <a:prstGeom prst="roundRect">
            <a:avLst/>
          </a:prstGeom>
          <a:solidFill>
            <a:srgbClr val="E7F8F6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400" y="3794760"/>
            <a:ext cx="64008" cy="105156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78992" y="3922776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dirty="0"/>
              <a:t>Package Path</a:t>
            </a:r>
          </a:p>
          <a:p>
            <a:pPr>
              <a:defRPr sz="2200" b="1">
                <a:solidFill>
                  <a:srgbClr val="36AAA4"/>
                </a:solidFill>
                <a:latin typeface="Poppins"/>
              </a:defRPr>
            </a:pPr>
            <a:r>
              <a:rPr dirty="0"/>
              <a:t>Member → Health Package → Subscription → Payment Status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3794760"/>
            <a:ext cx="3017520" cy="2066394"/>
          </a:xfrm>
          <a:prstGeom prst="roundRect">
            <a:avLst/>
          </a:prstGeom>
          <a:solidFill>
            <a:srgbClr val="F1ED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0" y="3794760"/>
            <a:ext cx="64008" cy="105156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36592" y="3922776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Corporate Path</a:t>
            </a:r>
          </a:p>
          <a:p>
            <a:pPr>
              <a:defRPr sz="2200" b="1">
                <a:solidFill>
                  <a:srgbClr val="7E62BE"/>
                </a:solidFill>
                <a:latin typeface="Poppins"/>
              </a:defRPr>
            </a:pPr>
            <a:r>
              <a:t>Corporate → Corporate Member → Healthcare Usage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3794760"/>
            <a:ext cx="3017520" cy="2066394"/>
          </a:xfrm>
          <a:prstGeom prst="roundRect">
            <a:avLst/>
          </a:prstGeom>
          <a:solidFill>
            <a:srgbClr val="E8F2FD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29600" y="3794760"/>
            <a:ext cx="64008" cy="105156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94192" y="3922776"/>
            <a:ext cx="27432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Connected Services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Telemedicine ↔ Consultation | Chronic Care ↔ Member + Specialist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  <a:latin typeface="Aptos"/>
              </a:defRPr>
            </a:pPr>
            <a:r>
              <a:t>HealthPlus Care  |  Healthcare Analytics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444"/>
                </a:solidFill>
                <a:latin typeface="Poppins"/>
              </a:defRPr>
            </a:pPr>
            <a:r>
              <a:t>Database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684"/>
                </a:solidFill>
                <a:latin typeface="Poppins"/>
              </a:defRPr>
            </a:pPr>
            <a:r>
              <a:t>Database: healthplus_care_db  |  Technology: MySQL / 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474720" cy="12344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64008" cy="12344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453895"/>
            <a:ext cx="3200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400"/>
              <a:t>Member &amp; Organization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sz="1400"/>
              <a:t>members</a:t>
            </a:r>
            <a:br>
              <a:rPr sz="1400"/>
            </a:br>
            <a:r>
              <a:rPr sz="1400"/>
              <a:t>corporates</a:t>
            </a:r>
            <a:br>
              <a:rPr sz="1400"/>
            </a:br>
            <a:r>
              <a:rPr sz="1400"/>
              <a:t>corporate_members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474720" cy="12344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325880"/>
            <a:ext cx="64008" cy="123444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07992" y="1453895"/>
            <a:ext cx="3200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400"/>
              <a:t>Healthcare Services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sz="1400"/>
              <a:t>consultations</a:t>
            </a:r>
            <a:br>
              <a:rPr sz="1400"/>
            </a:br>
            <a:r>
              <a:rPr sz="1400"/>
              <a:t>telemedicine_sessions</a:t>
            </a:r>
            <a:br>
              <a:rPr sz="1400"/>
            </a:br>
            <a:r>
              <a:rPr sz="1400"/>
              <a:t>chronic_care_programs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474720" cy="12344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1325880"/>
            <a:ext cx="64008" cy="123444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453895"/>
            <a:ext cx="3200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400"/>
              <a:t>Healthcare Support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sz="1400"/>
              <a:t>prescriptions</a:t>
            </a:r>
            <a:br>
              <a:rPr sz="1400"/>
            </a:br>
            <a:r>
              <a:rPr sz="1400"/>
              <a:t>lab_tests</a:t>
            </a:r>
            <a:br>
              <a:rPr sz="1400"/>
            </a:br>
            <a:r>
              <a:rPr sz="1400"/>
              <a:t>claims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34639"/>
            <a:ext cx="3474720" cy="12344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2834639"/>
            <a:ext cx="64008" cy="12344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962656"/>
            <a:ext cx="3200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400"/>
              <a:t>Packages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sz="1400"/>
              <a:t>health_packages</a:t>
            </a:r>
            <a:br>
              <a:rPr sz="1400"/>
            </a:br>
            <a:r>
              <a:rPr sz="1400"/>
              <a:t>package_subscriptions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834639"/>
            <a:ext cx="3474720" cy="12344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43400" y="2834639"/>
            <a:ext cx="64008" cy="123444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07992" y="2962656"/>
            <a:ext cx="3200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400"/>
              <a:t>Financial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sz="1400"/>
              <a:t>billing</a:t>
            </a:r>
            <a:br>
              <a:rPr sz="1400"/>
            </a:br>
            <a:r>
              <a:rPr sz="1400"/>
              <a:t>payments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834639"/>
            <a:ext cx="3474720" cy="12344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60" y="2834639"/>
            <a:ext cx="64008" cy="123444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2" y="2962656"/>
            <a:ext cx="3200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400"/>
              <a:t>Operations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sz="1400"/>
              <a:t>clinics</a:t>
            </a:r>
            <a:br>
              <a:rPr sz="1400"/>
            </a:br>
            <a:r>
              <a:rPr sz="1400"/>
              <a:t>specialists</a:t>
            </a:r>
            <a:br>
              <a:rPr sz="1400"/>
            </a:br>
            <a:r>
              <a:rPr sz="1400"/>
              <a:t>staff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43400"/>
            <a:ext cx="3474720" cy="12344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4343400"/>
            <a:ext cx="64008" cy="12344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4471416"/>
            <a:ext cx="3200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1400"/>
              <a:t>Experience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sz="1400"/>
              <a:t>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  <a:latin typeface="Aptos"/>
              </a:defRPr>
            </a:pPr>
            <a:r>
              <a:t>HealthPlus Care  |  Healthcare Analytics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444"/>
                </a:solidFill>
                <a:latin typeface="Poppins"/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684"/>
                </a:solidFill>
                <a:latin typeface="Poppins"/>
              </a:defRPr>
            </a:pPr>
            <a:r>
              <a:t>Actual HealthPlus Care dataset 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6517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64008" cy="84124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362456"/>
            <a:ext cx="23774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Clinics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34440"/>
            <a:ext cx="26517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83280" y="1234440"/>
            <a:ext cx="64008" cy="841248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47872" y="1362456"/>
            <a:ext cx="23774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Specialists</a:t>
            </a:r>
          </a:p>
          <a:p>
            <a:pPr>
              <a:defRPr sz="2200" b="1">
                <a:solidFill>
                  <a:srgbClr val="36AAA4"/>
                </a:solidFill>
                <a:latin typeface="Poppins"/>
              </a:defRPr>
            </a:pPr>
            <a:r>
              <a:t>220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34440"/>
            <a:ext cx="26517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234440"/>
            <a:ext cx="64008" cy="841248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1" y="1362456"/>
            <a:ext cx="23774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dirty="0"/>
              <a:t>Members</a:t>
            </a:r>
          </a:p>
          <a:p>
            <a:pPr>
              <a:defRPr sz="2200" b="1">
                <a:solidFill>
                  <a:srgbClr val="7E62BE"/>
                </a:solidFill>
                <a:latin typeface="Poppins"/>
              </a:defRPr>
            </a:pPr>
            <a:r>
              <a:rPr dirty="0"/>
              <a:t>2,500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234440"/>
            <a:ext cx="26517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0" y="1234440"/>
            <a:ext cx="64008" cy="84124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08592" y="1362456"/>
            <a:ext cx="23774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Corporates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60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313432"/>
            <a:ext cx="26517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2313432"/>
            <a:ext cx="64008" cy="84124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7512" y="2441448"/>
            <a:ext cx="23774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Corporate Members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615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2313432"/>
            <a:ext cx="26517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83280" y="2313432"/>
            <a:ext cx="64008" cy="841248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47872" y="2441448"/>
            <a:ext cx="23774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Consultations</a:t>
            </a:r>
          </a:p>
          <a:p>
            <a:pPr>
              <a:defRPr sz="2200" b="1">
                <a:solidFill>
                  <a:srgbClr val="36AAA4"/>
                </a:solidFill>
                <a:latin typeface="Poppins"/>
              </a:defRPr>
            </a:pPr>
            <a:r>
              <a:t>6,000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2313432"/>
            <a:ext cx="26517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2313432"/>
            <a:ext cx="64008" cy="841248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28231" y="2441448"/>
            <a:ext cx="23774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Telemedicine Sessions</a:t>
            </a:r>
          </a:p>
          <a:p>
            <a:pPr>
              <a:defRPr sz="2200" b="1">
                <a:solidFill>
                  <a:srgbClr val="7E62BE"/>
                </a:solidFill>
                <a:latin typeface="Poppins"/>
              </a:defRPr>
            </a:pPr>
            <a:r>
              <a:t>2,200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2313432"/>
            <a:ext cx="26517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0" y="2313432"/>
            <a:ext cx="64008" cy="84124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08592" y="2441448"/>
            <a:ext cx="23774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Chronic Care Programs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900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392424"/>
            <a:ext cx="26517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2920" y="3392424"/>
            <a:ext cx="64008" cy="84124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" y="3520440"/>
            <a:ext cx="23774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Health Packages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40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3392424"/>
            <a:ext cx="26517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383280" y="3392424"/>
            <a:ext cx="64008" cy="841248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47872" y="3520440"/>
            <a:ext cx="23774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Package Subscriptions</a:t>
            </a:r>
          </a:p>
          <a:p>
            <a:pPr>
              <a:defRPr sz="2200" b="1">
                <a:solidFill>
                  <a:srgbClr val="36AAA4"/>
                </a:solidFill>
                <a:latin typeface="Poppins"/>
              </a:defRPr>
            </a:pPr>
            <a:r>
              <a:t>3,000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392424"/>
            <a:ext cx="26517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63640" y="3392424"/>
            <a:ext cx="64008" cy="841248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28231" y="3520440"/>
            <a:ext cx="23774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Prescriptions</a:t>
            </a:r>
          </a:p>
          <a:p>
            <a:pPr>
              <a:defRPr sz="2200" b="1">
                <a:solidFill>
                  <a:srgbClr val="7E62BE"/>
                </a:solidFill>
                <a:latin typeface="Poppins"/>
              </a:defRPr>
            </a:pPr>
            <a:r>
              <a:t>5,000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3392424"/>
            <a:ext cx="26517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4000" y="3392424"/>
            <a:ext cx="64008" cy="84124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308592" y="3520440"/>
            <a:ext cx="23774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Lab Tests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3,500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471416"/>
            <a:ext cx="26517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02920" y="4471416"/>
            <a:ext cx="64008" cy="84124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7512" y="4599432"/>
            <a:ext cx="23774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Claims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1,800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83280" y="4471416"/>
            <a:ext cx="26517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383280" y="4471416"/>
            <a:ext cx="64008" cy="841248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547872" y="4599432"/>
            <a:ext cx="23774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Staff</a:t>
            </a:r>
          </a:p>
          <a:p>
            <a:pPr>
              <a:defRPr sz="2200" b="1">
                <a:solidFill>
                  <a:srgbClr val="36AAA4"/>
                </a:solidFill>
                <a:latin typeface="Poppins"/>
              </a:defRPr>
            </a:pPr>
            <a:r>
              <a:t>450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4471416"/>
            <a:ext cx="26517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263640" y="4471416"/>
            <a:ext cx="64008" cy="841248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28231" y="4599432"/>
            <a:ext cx="23774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Billing Records</a:t>
            </a:r>
          </a:p>
          <a:p>
            <a:pPr>
              <a:defRPr sz="2200" b="1">
                <a:solidFill>
                  <a:srgbClr val="7E62BE"/>
                </a:solidFill>
                <a:latin typeface="Poppins"/>
              </a:defRPr>
            </a:pPr>
            <a:r>
              <a:t>6,000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0" y="4471416"/>
            <a:ext cx="26517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144000" y="4471416"/>
            <a:ext cx="64008" cy="84124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308592" y="4599432"/>
            <a:ext cx="23774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Payment Records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6,000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5550408"/>
            <a:ext cx="2651760" cy="84124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02920" y="5550408"/>
            <a:ext cx="64008" cy="84124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67512" y="5678424"/>
            <a:ext cx="237744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Feedback Records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2,500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  <a:latin typeface="Aptos"/>
              </a:defRPr>
            </a:pPr>
            <a:r>
              <a:t>HealthPlus Care  |  Healthcare Analytics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444"/>
                </a:solidFill>
                <a:latin typeface="Poppins"/>
              </a:defRPr>
            </a:pPr>
            <a:r>
              <a:t>Data Cleaning &amp; Preparation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920240"/>
            <a:ext cx="1444752" cy="96012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920240"/>
            <a:ext cx="64008" cy="9601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2048256"/>
            <a:ext cx="1170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Raw Data</a:t>
            </a:r>
          </a:p>
        </p:txBody>
      </p:sp>
      <p:sp>
        <p:nvSpPr>
          <p:cNvPr id="7" name="Chevron 6"/>
          <p:cNvSpPr/>
          <p:nvPr/>
        </p:nvSpPr>
        <p:spPr>
          <a:xfrm>
            <a:off x="1865376" y="2212848"/>
            <a:ext cx="182880" cy="27432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075688" y="1920240"/>
            <a:ext cx="1444752" cy="96012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075688" y="1920240"/>
            <a:ext cx="64008" cy="96012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40280" y="2048256"/>
            <a:ext cx="1170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Missing Values</a:t>
            </a:r>
          </a:p>
        </p:txBody>
      </p:sp>
      <p:sp>
        <p:nvSpPr>
          <p:cNvPr id="11" name="Chevron 10"/>
          <p:cNvSpPr/>
          <p:nvPr/>
        </p:nvSpPr>
        <p:spPr>
          <a:xfrm>
            <a:off x="3529584" y="2212848"/>
            <a:ext cx="182880" cy="27432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39896" y="1920240"/>
            <a:ext cx="1444752" cy="96012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739896" y="1920240"/>
            <a:ext cx="64008" cy="96012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04487" y="2048256"/>
            <a:ext cx="1170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Standardization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5193792" y="2212848"/>
            <a:ext cx="182880" cy="27432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04104" y="1920240"/>
            <a:ext cx="1444752" cy="96012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04104" y="1920240"/>
            <a:ext cx="64008" cy="9601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68696" y="2048256"/>
            <a:ext cx="1170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Numeric Validation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6858000" y="2212848"/>
            <a:ext cx="182880" cy="27432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068312" y="1920240"/>
            <a:ext cx="1444752" cy="96012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68312" y="1920240"/>
            <a:ext cx="64008" cy="96012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32904" y="2048256"/>
            <a:ext cx="1170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Date Validation</a:t>
            </a:r>
          </a:p>
        </p:txBody>
      </p:sp>
      <p:sp>
        <p:nvSpPr>
          <p:cNvPr id="23" name="Chevron 22"/>
          <p:cNvSpPr/>
          <p:nvPr/>
        </p:nvSpPr>
        <p:spPr>
          <a:xfrm>
            <a:off x="8522208" y="2212848"/>
            <a:ext cx="182880" cy="27432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732519" y="1920240"/>
            <a:ext cx="1444752" cy="96012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732519" y="1920240"/>
            <a:ext cx="64008" cy="96012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97111" y="2048256"/>
            <a:ext cx="1170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Referential Validation</a:t>
            </a:r>
          </a:p>
        </p:txBody>
      </p:sp>
      <p:sp>
        <p:nvSpPr>
          <p:cNvPr id="27" name="Chevron 26"/>
          <p:cNvSpPr/>
          <p:nvPr/>
        </p:nvSpPr>
        <p:spPr>
          <a:xfrm>
            <a:off x="10186415" y="2212848"/>
            <a:ext cx="182880" cy="27432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396728" y="1920240"/>
            <a:ext cx="1444752" cy="96012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396728" y="1920240"/>
            <a:ext cx="64008" cy="9601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61319" y="2048256"/>
            <a:ext cx="11704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Clean Dataset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79476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63444"/>
                </a:solidFill>
                <a:latin typeface="Aptos"/>
              </a:defRPr>
            </a:pPr>
            <a:r>
              <a:t>• Trim spaces and convert blanks to NULL</a:t>
            </a:r>
          </a:p>
          <a:p>
            <a:pPr>
              <a:spcAft>
                <a:spcPts val="1000"/>
              </a:spcAft>
              <a:defRPr sz="1400">
                <a:solidFill>
                  <a:srgbClr val="263444"/>
                </a:solidFill>
                <a:latin typeface="Aptos"/>
              </a:defRPr>
            </a:pPr>
            <a:r>
              <a:t>• Standardize gender, specialization, statuses and employment types</a:t>
            </a:r>
          </a:p>
          <a:p>
            <a:pPr>
              <a:spcAft>
                <a:spcPts val="1000"/>
              </a:spcAft>
              <a:defRPr sz="1400">
                <a:solidFill>
                  <a:srgbClr val="263444"/>
                </a:solidFill>
                <a:latin typeface="Aptos"/>
              </a:defRPr>
            </a:pPr>
            <a:r>
              <a:t>• Validate phone, email, numeric values and ratings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  <a:latin typeface="Aptos"/>
              </a:defRPr>
            </a:pPr>
            <a:r>
              <a:t>HealthPlus Care  |  Healthcare Analytics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444"/>
                </a:solidFill>
                <a:latin typeface="Poppins"/>
              </a:defRPr>
            </a:pPr>
            <a:r>
              <a:t>Data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16636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64008" cy="71323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362456"/>
            <a:ext cx="4892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Duplicate Primary Keys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16636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64008" cy="71323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1362456"/>
            <a:ext cx="4892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Missing 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48840"/>
            <a:ext cx="516636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148840"/>
            <a:ext cx="64008" cy="713232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276856"/>
            <a:ext cx="4892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Invalid Numeric Values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48840"/>
            <a:ext cx="516636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148840"/>
            <a:ext cx="64008" cy="713232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2276856"/>
            <a:ext cx="4892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Invalid Foreign Keys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63240"/>
            <a:ext cx="516636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3063240"/>
            <a:ext cx="64008" cy="713232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" y="3191256"/>
            <a:ext cx="4892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Invalid Dates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63240"/>
            <a:ext cx="516636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063240"/>
            <a:ext cx="64008" cy="713232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3191256"/>
            <a:ext cx="4892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Phone 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977639"/>
            <a:ext cx="516636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3977639"/>
            <a:ext cx="64008" cy="71323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4105655"/>
            <a:ext cx="4892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Email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977639"/>
            <a:ext cx="516636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3977639"/>
            <a:ext cx="64008" cy="71323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82512" y="4105655"/>
            <a:ext cx="4892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Status Validation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892040"/>
            <a:ext cx="516636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4892040"/>
            <a:ext cx="64008" cy="713232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" y="5020055"/>
            <a:ext cx="4892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Relationship Validation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892040"/>
            <a:ext cx="516636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4892040"/>
            <a:ext cx="64008" cy="713232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82512" y="5020055"/>
            <a:ext cx="4892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Feedback Rating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  <a:latin typeface="Aptos"/>
              </a:defRPr>
            </a:pPr>
            <a:r>
              <a:t>HealthPlus Care  |  Healthcare Analytics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444"/>
                </a:solidFill>
                <a:latin typeface="Poppins"/>
              </a:defRPr>
            </a:pPr>
            <a:r>
              <a:t>SQL Analytics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011680"/>
            <a:ext cx="1115568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2011680"/>
            <a:ext cx="64008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2139696"/>
            <a:ext cx="9326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dirty="0"/>
              <a:t>Database</a:t>
            </a:r>
          </a:p>
        </p:txBody>
      </p:sp>
      <p:sp>
        <p:nvSpPr>
          <p:cNvPr id="7" name="Chevron 6"/>
          <p:cNvSpPr/>
          <p:nvPr/>
        </p:nvSpPr>
        <p:spPr>
          <a:xfrm>
            <a:off x="1536192" y="2331720"/>
            <a:ext cx="118872" cy="22860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82495" y="2011680"/>
            <a:ext cx="1115568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682495" y="2011680"/>
            <a:ext cx="64008" cy="100584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47088" y="2139696"/>
            <a:ext cx="84124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Data Cleaning</a:t>
            </a:r>
          </a:p>
        </p:txBody>
      </p:sp>
      <p:sp>
        <p:nvSpPr>
          <p:cNvPr id="11" name="Chevron 10"/>
          <p:cNvSpPr/>
          <p:nvPr/>
        </p:nvSpPr>
        <p:spPr>
          <a:xfrm>
            <a:off x="2807208" y="2331720"/>
            <a:ext cx="118872" cy="22860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53512" y="2011680"/>
            <a:ext cx="1115568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53512" y="2011680"/>
            <a:ext cx="64008" cy="100584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18104" y="2139696"/>
            <a:ext cx="9601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dirty="0"/>
              <a:t>Data Validation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4078224" y="2331720"/>
            <a:ext cx="118872" cy="22860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224528" y="2011680"/>
            <a:ext cx="1115568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24528" y="2011680"/>
            <a:ext cx="64008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2139696"/>
            <a:ext cx="9509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dirty="0"/>
              <a:t>Business Questions</a:t>
            </a:r>
          </a:p>
        </p:txBody>
      </p:sp>
      <p:sp>
        <p:nvSpPr>
          <p:cNvPr id="19" name="Chevron 18"/>
          <p:cNvSpPr/>
          <p:nvPr/>
        </p:nvSpPr>
        <p:spPr>
          <a:xfrm>
            <a:off x="5349240" y="2331720"/>
            <a:ext cx="118872" cy="22860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95544" y="2011680"/>
            <a:ext cx="1115568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95544" y="2011680"/>
            <a:ext cx="64008" cy="100584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0136" y="2139696"/>
            <a:ext cx="84124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KPI Queries</a:t>
            </a:r>
          </a:p>
        </p:txBody>
      </p:sp>
      <p:sp>
        <p:nvSpPr>
          <p:cNvPr id="23" name="Chevron 22"/>
          <p:cNvSpPr/>
          <p:nvPr/>
        </p:nvSpPr>
        <p:spPr>
          <a:xfrm>
            <a:off x="6620256" y="2331720"/>
            <a:ext cx="118872" cy="22860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766559" y="2011680"/>
            <a:ext cx="1115568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766559" y="2011680"/>
            <a:ext cx="64008" cy="100584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31151" y="2139696"/>
            <a:ext cx="84124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Aggregations</a:t>
            </a:r>
          </a:p>
        </p:txBody>
      </p:sp>
      <p:sp>
        <p:nvSpPr>
          <p:cNvPr id="27" name="Chevron 26"/>
          <p:cNvSpPr/>
          <p:nvPr/>
        </p:nvSpPr>
        <p:spPr>
          <a:xfrm>
            <a:off x="7891271" y="2331720"/>
            <a:ext cx="118872" cy="22860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037575" y="2011680"/>
            <a:ext cx="1115568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37575" y="2011680"/>
            <a:ext cx="64008" cy="10058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02167" y="2139696"/>
            <a:ext cx="84124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Joins</a:t>
            </a:r>
          </a:p>
        </p:txBody>
      </p:sp>
      <p:sp>
        <p:nvSpPr>
          <p:cNvPr id="31" name="Chevron 30"/>
          <p:cNvSpPr/>
          <p:nvPr/>
        </p:nvSpPr>
        <p:spPr>
          <a:xfrm>
            <a:off x="9162288" y="2331720"/>
            <a:ext cx="118872" cy="22860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308591" y="2011680"/>
            <a:ext cx="1115568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308591" y="2011680"/>
            <a:ext cx="64008" cy="100584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73183" y="2139696"/>
            <a:ext cx="97840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dirty="0"/>
              <a:t>Window Functions</a:t>
            </a:r>
          </a:p>
        </p:txBody>
      </p:sp>
      <p:sp>
        <p:nvSpPr>
          <p:cNvPr id="35" name="Chevron 34"/>
          <p:cNvSpPr/>
          <p:nvPr/>
        </p:nvSpPr>
        <p:spPr>
          <a:xfrm>
            <a:off x="10433303" y="2331720"/>
            <a:ext cx="118872" cy="22860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10579607" y="2011680"/>
            <a:ext cx="1115568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579607" y="2011680"/>
            <a:ext cx="64008" cy="100584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744199" y="2139696"/>
            <a:ext cx="841247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Business Insights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977639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63444"/>
                </a:solidFill>
                <a:latin typeface="Aptos"/>
              </a:defRPr>
            </a:pPr>
            <a:r>
              <a:t>• Core SQL: SELECT, WHERE, ORDER BY, LIMIT, SUM, AVG, COUNT, GROUP BY, HAVING</a:t>
            </a:r>
          </a:p>
          <a:p>
            <a:pPr>
              <a:spcAft>
                <a:spcPts val="1000"/>
              </a:spcAft>
              <a:defRPr sz="1300">
                <a:solidFill>
                  <a:srgbClr val="263444"/>
                </a:solidFill>
                <a:latin typeface="Aptos"/>
              </a:defRPr>
            </a:pPr>
            <a:r>
              <a:t>• Joins: INNER JOIN, LEFT JOIN, RIGHT JOIN | CTEs for multi-step analysis</a:t>
            </a:r>
          </a:p>
          <a:p>
            <a:pPr>
              <a:spcAft>
                <a:spcPts val="1000"/>
              </a:spcAft>
              <a:defRPr sz="1300">
                <a:solidFill>
                  <a:srgbClr val="263444"/>
                </a:solidFill>
                <a:latin typeface="Aptos"/>
              </a:defRPr>
            </a:pPr>
            <a:r>
              <a:t>• Window functions: ROW_NUMBER(), RANK(), LAG(), LEAD()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  <a:latin typeface="Aptos"/>
              </a:defRPr>
            </a:pPr>
            <a:r>
              <a:t>HealthPlus Care  |  Healthcare Analytics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D33F310-81C6-344F-925F-C12675C66518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27302B-9E78-499F-5257-D93EE8386E93}"/>
              </a:ext>
            </a:extLst>
          </p:cNvPr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444"/>
                </a:solidFill>
                <a:latin typeface="Poppins"/>
              </a:defRPr>
            </a:pPr>
            <a:r>
              <a:t>Executive KPI Overview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1DFC55-916E-5C21-7ED3-C006C9C7D009}"/>
              </a:ext>
            </a:extLst>
          </p:cNvPr>
          <p:cNvSpPr txBox="1"/>
          <p:nvPr/>
        </p:nvSpPr>
        <p:spPr>
          <a:xfrm>
            <a:off x="530352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684"/>
                </a:solidFill>
                <a:latin typeface="Poppins"/>
              </a:defRPr>
            </a:pPr>
            <a:r>
              <a:t>HealthPlus Care — Actual KPI values calculated from the project dataset</a:t>
            </a:r>
          </a:p>
        </p:txBody>
      </p:sp>
      <p:sp>
        <p:nvSpPr>
          <p:cNvPr id="37" name="Rounded Rectangle 4">
            <a:extLst>
              <a:ext uri="{FF2B5EF4-FFF2-40B4-BE49-F238E27FC236}">
                <a16:creationId xmlns:a16="http://schemas.microsoft.com/office/drawing/2014/main" id="{E473CFA3-3469-FC19-4818-7AAECF17C473}"/>
              </a:ext>
            </a:extLst>
          </p:cNvPr>
          <p:cNvSpPr/>
          <p:nvPr/>
        </p:nvSpPr>
        <p:spPr>
          <a:xfrm>
            <a:off x="502920" y="1325880"/>
            <a:ext cx="2651760" cy="157276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DA037CE-695C-BFE8-981D-DC72E6CB0BBD}"/>
              </a:ext>
            </a:extLst>
          </p:cNvPr>
          <p:cNvSpPr/>
          <p:nvPr/>
        </p:nvSpPr>
        <p:spPr>
          <a:xfrm>
            <a:off x="502920" y="1325880"/>
            <a:ext cx="64008" cy="157276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8A6C58-3307-E561-12CB-02C02CF00B6E}"/>
              </a:ext>
            </a:extLst>
          </p:cNvPr>
          <p:cNvSpPr txBox="1"/>
          <p:nvPr/>
        </p:nvSpPr>
        <p:spPr>
          <a:xfrm>
            <a:off x="667512" y="1444752"/>
            <a:ext cx="23774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63444"/>
                </a:solidFill>
                <a:latin typeface="Poppins"/>
              </a:defRPr>
            </a:pPr>
            <a:r>
              <a:rPr dirty="0"/>
              <a:t>Total Members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rPr dirty="0"/>
              <a:t>2,500</a:t>
            </a:r>
          </a:p>
          <a:p>
            <a:pPr>
              <a:defRPr sz="900">
                <a:solidFill>
                  <a:srgbClr val="697684"/>
                </a:solidFill>
                <a:latin typeface="Aptos"/>
              </a:defRPr>
            </a:pPr>
            <a:r>
              <a:rPr dirty="0"/>
              <a:t>Members in the healthcare network</a:t>
            </a:r>
          </a:p>
        </p:txBody>
      </p:sp>
      <p:sp>
        <p:nvSpPr>
          <p:cNvPr id="43" name="Rounded Rectangle 7">
            <a:extLst>
              <a:ext uri="{FF2B5EF4-FFF2-40B4-BE49-F238E27FC236}">
                <a16:creationId xmlns:a16="http://schemas.microsoft.com/office/drawing/2014/main" id="{65889435-0A16-5975-BEDA-033FAA6B007A}"/>
              </a:ext>
            </a:extLst>
          </p:cNvPr>
          <p:cNvSpPr/>
          <p:nvPr/>
        </p:nvSpPr>
        <p:spPr>
          <a:xfrm>
            <a:off x="3383280" y="1325880"/>
            <a:ext cx="2651760" cy="157276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F1941D0-C8C0-3333-B4F4-ED996977BAB4}"/>
              </a:ext>
            </a:extLst>
          </p:cNvPr>
          <p:cNvSpPr/>
          <p:nvPr/>
        </p:nvSpPr>
        <p:spPr>
          <a:xfrm>
            <a:off x="3383280" y="1325880"/>
            <a:ext cx="64008" cy="1572768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BD91A5-F8BA-B249-2966-16D14B53383C}"/>
              </a:ext>
            </a:extLst>
          </p:cNvPr>
          <p:cNvSpPr txBox="1"/>
          <p:nvPr/>
        </p:nvSpPr>
        <p:spPr>
          <a:xfrm>
            <a:off x="3547872" y="1444752"/>
            <a:ext cx="23774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63444"/>
                </a:solidFill>
                <a:latin typeface="Poppins"/>
              </a:defRPr>
            </a:pPr>
            <a:r>
              <a:t>Total Consultations</a:t>
            </a:r>
          </a:p>
          <a:p>
            <a:pPr>
              <a:defRPr sz="2200" b="1">
                <a:solidFill>
                  <a:srgbClr val="36AAA4"/>
                </a:solidFill>
                <a:latin typeface="Poppins"/>
              </a:defRPr>
            </a:pPr>
            <a:r>
              <a:t>6,000</a:t>
            </a:r>
          </a:p>
          <a:p>
            <a:pPr>
              <a:defRPr sz="900">
                <a:solidFill>
                  <a:srgbClr val="697684"/>
                </a:solidFill>
                <a:latin typeface="Aptos"/>
              </a:defRPr>
            </a:pPr>
            <a:r>
              <a:t>Healthcare consultations recorded</a:t>
            </a:r>
          </a:p>
        </p:txBody>
      </p:sp>
      <p:sp>
        <p:nvSpPr>
          <p:cNvPr id="49" name="Rounded Rectangle 10">
            <a:extLst>
              <a:ext uri="{FF2B5EF4-FFF2-40B4-BE49-F238E27FC236}">
                <a16:creationId xmlns:a16="http://schemas.microsoft.com/office/drawing/2014/main" id="{C031C49C-926F-EB8F-86B5-D3EE38A03DB0}"/>
              </a:ext>
            </a:extLst>
          </p:cNvPr>
          <p:cNvSpPr/>
          <p:nvPr/>
        </p:nvSpPr>
        <p:spPr>
          <a:xfrm>
            <a:off x="6263640" y="1325880"/>
            <a:ext cx="2651760" cy="157276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7A0675F-371F-E5AF-1F62-BB71A4EF45B4}"/>
              </a:ext>
            </a:extLst>
          </p:cNvPr>
          <p:cNvSpPr/>
          <p:nvPr/>
        </p:nvSpPr>
        <p:spPr>
          <a:xfrm>
            <a:off x="6263640" y="1325880"/>
            <a:ext cx="64008" cy="1572768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F0C9043-7B65-9FE2-5438-CD0FA9C90E76}"/>
              </a:ext>
            </a:extLst>
          </p:cNvPr>
          <p:cNvSpPr txBox="1"/>
          <p:nvPr/>
        </p:nvSpPr>
        <p:spPr>
          <a:xfrm>
            <a:off x="6428231" y="1444752"/>
            <a:ext cx="23774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63444"/>
                </a:solidFill>
                <a:latin typeface="Poppins"/>
              </a:defRPr>
            </a:pPr>
            <a:r>
              <a:t>Completed Consultations</a:t>
            </a:r>
          </a:p>
          <a:p>
            <a:pPr>
              <a:defRPr sz="2200" b="1">
                <a:solidFill>
                  <a:srgbClr val="7E62BE"/>
                </a:solidFill>
                <a:latin typeface="Poppins"/>
              </a:defRPr>
            </a:pPr>
            <a:r>
              <a:t>4,400</a:t>
            </a:r>
          </a:p>
          <a:p>
            <a:pPr>
              <a:defRPr sz="900">
                <a:solidFill>
                  <a:srgbClr val="697684"/>
                </a:solidFill>
                <a:latin typeface="Aptos"/>
              </a:defRPr>
            </a:pPr>
            <a:r>
              <a:t>73.33% completion rate</a:t>
            </a:r>
          </a:p>
        </p:txBody>
      </p:sp>
      <p:sp>
        <p:nvSpPr>
          <p:cNvPr id="55" name="Rounded Rectangle 13">
            <a:extLst>
              <a:ext uri="{FF2B5EF4-FFF2-40B4-BE49-F238E27FC236}">
                <a16:creationId xmlns:a16="http://schemas.microsoft.com/office/drawing/2014/main" id="{F60AEB25-7C2E-FF36-B70B-7FD681C1672B}"/>
              </a:ext>
            </a:extLst>
          </p:cNvPr>
          <p:cNvSpPr/>
          <p:nvPr/>
        </p:nvSpPr>
        <p:spPr>
          <a:xfrm>
            <a:off x="9144000" y="1325880"/>
            <a:ext cx="2651760" cy="157276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A4258D2-7220-47E9-D470-CCED16ECC01B}"/>
              </a:ext>
            </a:extLst>
          </p:cNvPr>
          <p:cNvSpPr/>
          <p:nvPr/>
        </p:nvSpPr>
        <p:spPr>
          <a:xfrm>
            <a:off x="9144000" y="1325880"/>
            <a:ext cx="64008" cy="157276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42186E-89CC-A1E1-7457-5C8D141B2E3F}"/>
              </a:ext>
            </a:extLst>
          </p:cNvPr>
          <p:cNvSpPr txBox="1"/>
          <p:nvPr/>
        </p:nvSpPr>
        <p:spPr>
          <a:xfrm>
            <a:off x="9308592" y="1444752"/>
            <a:ext cx="23774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63444"/>
                </a:solidFill>
                <a:latin typeface="Poppins"/>
              </a:defRPr>
            </a:pPr>
            <a:r>
              <a:t>Telemedicine Sessions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2,200</a:t>
            </a:r>
          </a:p>
          <a:p>
            <a:pPr>
              <a:defRPr sz="900">
                <a:solidFill>
                  <a:srgbClr val="697684"/>
                </a:solidFill>
                <a:latin typeface="Aptos"/>
              </a:defRPr>
            </a:pPr>
            <a:r>
              <a:t>Digital healthcare sessions</a:t>
            </a:r>
          </a:p>
        </p:txBody>
      </p:sp>
      <p:sp>
        <p:nvSpPr>
          <p:cNvPr id="61" name="Rounded Rectangle 16">
            <a:extLst>
              <a:ext uri="{FF2B5EF4-FFF2-40B4-BE49-F238E27FC236}">
                <a16:creationId xmlns:a16="http://schemas.microsoft.com/office/drawing/2014/main" id="{E4FD1032-DB23-771C-4088-AD4D2E4995E3}"/>
              </a:ext>
            </a:extLst>
          </p:cNvPr>
          <p:cNvSpPr/>
          <p:nvPr/>
        </p:nvSpPr>
        <p:spPr>
          <a:xfrm>
            <a:off x="502920" y="3291839"/>
            <a:ext cx="2651760" cy="157276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177EE85-5080-1F1F-F7C2-7B6F5F58AD7B}"/>
              </a:ext>
            </a:extLst>
          </p:cNvPr>
          <p:cNvSpPr/>
          <p:nvPr/>
        </p:nvSpPr>
        <p:spPr>
          <a:xfrm>
            <a:off x="502920" y="3291839"/>
            <a:ext cx="64008" cy="157276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3C82D8C-93FD-9134-D6DA-608C50CC4CB5}"/>
              </a:ext>
            </a:extLst>
          </p:cNvPr>
          <p:cNvSpPr txBox="1"/>
          <p:nvPr/>
        </p:nvSpPr>
        <p:spPr>
          <a:xfrm>
            <a:off x="667512" y="3410711"/>
            <a:ext cx="23774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63444"/>
                </a:solidFill>
                <a:latin typeface="Poppins"/>
              </a:defRPr>
            </a:pPr>
            <a:r>
              <a:t>Total Billed Amount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₹18.69M</a:t>
            </a:r>
          </a:p>
          <a:p>
            <a:pPr>
              <a:defRPr sz="900">
                <a:solidFill>
                  <a:srgbClr val="697684"/>
                </a:solidFill>
                <a:latin typeface="Aptos"/>
              </a:defRPr>
            </a:pPr>
            <a:r>
              <a:t>₹18,690,854.89 billed</a:t>
            </a:r>
          </a:p>
        </p:txBody>
      </p:sp>
      <p:sp>
        <p:nvSpPr>
          <p:cNvPr id="67" name="Rounded Rectangle 19">
            <a:extLst>
              <a:ext uri="{FF2B5EF4-FFF2-40B4-BE49-F238E27FC236}">
                <a16:creationId xmlns:a16="http://schemas.microsoft.com/office/drawing/2014/main" id="{55CB2FAD-F471-D12F-B6BA-ADB376D5CACC}"/>
              </a:ext>
            </a:extLst>
          </p:cNvPr>
          <p:cNvSpPr/>
          <p:nvPr/>
        </p:nvSpPr>
        <p:spPr>
          <a:xfrm>
            <a:off x="3383280" y="3291839"/>
            <a:ext cx="2651760" cy="157276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CDC8DF5-3DD0-830A-5B08-6701809A651E}"/>
              </a:ext>
            </a:extLst>
          </p:cNvPr>
          <p:cNvSpPr/>
          <p:nvPr/>
        </p:nvSpPr>
        <p:spPr>
          <a:xfrm>
            <a:off x="3383280" y="3291839"/>
            <a:ext cx="64008" cy="1572768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7698064-5BC3-FA6D-246D-E8A78A76746E}"/>
              </a:ext>
            </a:extLst>
          </p:cNvPr>
          <p:cNvSpPr txBox="1"/>
          <p:nvPr/>
        </p:nvSpPr>
        <p:spPr>
          <a:xfrm>
            <a:off x="3547872" y="3410711"/>
            <a:ext cx="23774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63444"/>
                </a:solidFill>
                <a:latin typeface="Poppins"/>
              </a:defRPr>
            </a:pPr>
            <a:r>
              <a:t>Net Collection Amount</a:t>
            </a:r>
          </a:p>
          <a:p>
            <a:pPr>
              <a:defRPr sz="2200" b="1">
                <a:solidFill>
                  <a:srgbClr val="36AAA4"/>
                </a:solidFill>
                <a:latin typeface="Poppins"/>
              </a:defRPr>
            </a:pPr>
            <a:r>
              <a:t>₹16.43M</a:t>
            </a:r>
          </a:p>
          <a:p>
            <a:pPr>
              <a:defRPr sz="900">
                <a:solidFill>
                  <a:srgbClr val="697684"/>
                </a:solidFill>
                <a:latin typeface="Aptos"/>
              </a:defRPr>
            </a:pPr>
            <a:r>
              <a:t>₹16,433,408.14 net collected</a:t>
            </a:r>
          </a:p>
        </p:txBody>
      </p:sp>
      <p:sp>
        <p:nvSpPr>
          <p:cNvPr id="73" name="Rounded Rectangle 22">
            <a:extLst>
              <a:ext uri="{FF2B5EF4-FFF2-40B4-BE49-F238E27FC236}">
                <a16:creationId xmlns:a16="http://schemas.microsoft.com/office/drawing/2014/main" id="{9F54AB13-B084-0A75-91EF-DF871054A449}"/>
              </a:ext>
            </a:extLst>
          </p:cNvPr>
          <p:cNvSpPr/>
          <p:nvPr/>
        </p:nvSpPr>
        <p:spPr>
          <a:xfrm>
            <a:off x="6263640" y="3291839"/>
            <a:ext cx="2651760" cy="157276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16605C6-B02A-665C-0E59-10159460E90C}"/>
              </a:ext>
            </a:extLst>
          </p:cNvPr>
          <p:cNvSpPr/>
          <p:nvPr/>
        </p:nvSpPr>
        <p:spPr>
          <a:xfrm>
            <a:off x="6263640" y="3291839"/>
            <a:ext cx="64008" cy="1572768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D25FE1B-F0D6-4782-B0C6-D91AE6798B6D}"/>
              </a:ext>
            </a:extLst>
          </p:cNvPr>
          <p:cNvSpPr txBox="1"/>
          <p:nvPr/>
        </p:nvSpPr>
        <p:spPr>
          <a:xfrm>
            <a:off x="6428231" y="3410711"/>
            <a:ext cx="23774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63444"/>
                </a:solidFill>
                <a:latin typeface="Poppins"/>
              </a:defRPr>
            </a:pPr>
            <a:r>
              <a:t>Active Chronic Care Programs</a:t>
            </a:r>
          </a:p>
          <a:p>
            <a:pPr>
              <a:defRPr sz="2200" b="1">
                <a:solidFill>
                  <a:srgbClr val="7E62BE"/>
                </a:solidFill>
                <a:latin typeface="Poppins"/>
              </a:defRPr>
            </a:pPr>
            <a:r>
              <a:t>560</a:t>
            </a:r>
          </a:p>
          <a:p>
            <a:pPr>
              <a:defRPr sz="900">
                <a:solidFill>
                  <a:srgbClr val="697684"/>
                </a:solidFill>
                <a:latin typeface="Aptos"/>
              </a:defRPr>
            </a:pPr>
            <a:r>
              <a:t>Currently active programs</a:t>
            </a:r>
          </a:p>
        </p:txBody>
      </p:sp>
      <p:sp>
        <p:nvSpPr>
          <p:cNvPr id="79" name="Rounded Rectangle 25">
            <a:extLst>
              <a:ext uri="{FF2B5EF4-FFF2-40B4-BE49-F238E27FC236}">
                <a16:creationId xmlns:a16="http://schemas.microsoft.com/office/drawing/2014/main" id="{1921EF0E-80B4-1235-D2AC-1E2DCF2F1BC0}"/>
              </a:ext>
            </a:extLst>
          </p:cNvPr>
          <p:cNvSpPr/>
          <p:nvPr/>
        </p:nvSpPr>
        <p:spPr>
          <a:xfrm>
            <a:off x="9144000" y="3291839"/>
            <a:ext cx="2651760" cy="1572768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3EF4412-7295-808F-4301-B42EBD938316}"/>
              </a:ext>
            </a:extLst>
          </p:cNvPr>
          <p:cNvSpPr/>
          <p:nvPr/>
        </p:nvSpPr>
        <p:spPr>
          <a:xfrm>
            <a:off x="9144000" y="3291839"/>
            <a:ext cx="64008" cy="1572768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FAEF4F9-A1DC-4789-073C-C06711AB6413}"/>
              </a:ext>
            </a:extLst>
          </p:cNvPr>
          <p:cNvSpPr txBox="1"/>
          <p:nvPr/>
        </p:nvSpPr>
        <p:spPr>
          <a:xfrm>
            <a:off x="9308592" y="3410711"/>
            <a:ext cx="23774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63444"/>
                </a:solidFill>
                <a:latin typeface="Poppins"/>
              </a:defRPr>
            </a:pPr>
            <a:r>
              <a:t>Average Feedback Rating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3.80 / 5</a:t>
            </a:r>
          </a:p>
          <a:p>
            <a:pPr>
              <a:defRPr sz="900">
                <a:solidFill>
                  <a:srgbClr val="697684"/>
                </a:solidFill>
                <a:latin typeface="Aptos"/>
              </a:defRPr>
            </a:pPr>
            <a:r>
              <a:t>Member experience rating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34E27C6-DF1D-E417-9E45-565DE32ECB9C}"/>
              </a:ext>
            </a:extLst>
          </p:cNvPr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  <a:latin typeface="Aptos"/>
              </a:defRPr>
            </a:pPr>
            <a:r>
              <a:t>HealthPlus Care  |  Healthcare Analytics                            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C74A3EA-0B4C-1567-A5E2-4CA5179EABD1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6D61C1-C19C-29D0-470A-F9D52CEC90F5}"/>
              </a:ext>
            </a:extLst>
          </p:cNvPr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444"/>
                </a:solidFill>
                <a:latin typeface="Poppins"/>
              </a:defRPr>
            </a:pPr>
            <a:r>
              <a:t>Member &amp; Consultation Analytics</a:t>
            </a:r>
          </a:p>
        </p:txBody>
      </p:sp>
      <p:sp>
        <p:nvSpPr>
          <p:cNvPr id="34" name="Rounded Rectangle 3">
            <a:extLst>
              <a:ext uri="{FF2B5EF4-FFF2-40B4-BE49-F238E27FC236}">
                <a16:creationId xmlns:a16="http://schemas.microsoft.com/office/drawing/2014/main" id="{F0226431-DE50-C1B9-CF4D-F357EF0771C6}"/>
              </a:ext>
            </a:extLst>
          </p:cNvPr>
          <p:cNvSpPr/>
          <p:nvPr/>
        </p:nvSpPr>
        <p:spPr>
          <a:xfrm>
            <a:off x="594360" y="1170432"/>
            <a:ext cx="2542032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9369B20-0C40-ECBC-52FE-442D464E5466}"/>
              </a:ext>
            </a:extLst>
          </p:cNvPr>
          <p:cNvSpPr/>
          <p:nvPr/>
        </p:nvSpPr>
        <p:spPr>
          <a:xfrm>
            <a:off x="594360" y="1170432"/>
            <a:ext cx="54864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803446-BB72-9782-F86C-0BDB4221FF2E}"/>
              </a:ext>
            </a:extLst>
          </p:cNvPr>
          <p:cNvSpPr txBox="1"/>
          <p:nvPr/>
        </p:nvSpPr>
        <p:spPr>
          <a:xfrm>
            <a:off x="758952" y="1280160"/>
            <a:ext cx="2267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263444"/>
                </a:solidFill>
                <a:latin typeface="Poppins"/>
              </a:defRPr>
            </a:pPr>
            <a:r>
              <a:t>Total Members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2,500</a:t>
            </a:r>
          </a:p>
        </p:txBody>
      </p:sp>
      <p:sp>
        <p:nvSpPr>
          <p:cNvPr id="40" name="Rounded Rectangle 6">
            <a:extLst>
              <a:ext uri="{FF2B5EF4-FFF2-40B4-BE49-F238E27FC236}">
                <a16:creationId xmlns:a16="http://schemas.microsoft.com/office/drawing/2014/main" id="{CC7B8C3E-2287-1C1C-C718-2BB6AF9E4A29}"/>
              </a:ext>
            </a:extLst>
          </p:cNvPr>
          <p:cNvSpPr/>
          <p:nvPr/>
        </p:nvSpPr>
        <p:spPr>
          <a:xfrm>
            <a:off x="3410712" y="1170432"/>
            <a:ext cx="2542032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5C82193-5FA4-B3F0-DAE0-1CF417E389C4}"/>
              </a:ext>
            </a:extLst>
          </p:cNvPr>
          <p:cNvSpPr/>
          <p:nvPr/>
        </p:nvSpPr>
        <p:spPr>
          <a:xfrm>
            <a:off x="3410712" y="1170432"/>
            <a:ext cx="54864" cy="9144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2BE097E-0E41-F6DC-45F0-F5EC601765DE}"/>
              </a:ext>
            </a:extLst>
          </p:cNvPr>
          <p:cNvSpPr txBox="1"/>
          <p:nvPr/>
        </p:nvSpPr>
        <p:spPr>
          <a:xfrm>
            <a:off x="3575304" y="1280160"/>
            <a:ext cx="2267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263444"/>
                </a:solidFill>
                <a:latin typeface="Poppins"/>
              </a:defRPr>
            </a:pPr>
            <a:r>
              <a:t>Total Consultations</a:t>
            </a:r>
          </a:p>
          <a:p>
            <a:pPr>
              <a:defRPr sz="2200" b="1">
                <a:solidFill>
                  <a:srgbClr val="36AAA4"/>
                </a:solidFill>
                <a:latin typeface="Poppins"/>
              </a:defRPr>
            </a:pPr>
            <a:r>
              <a:t>6,000</a:t>
            </a:r>
          </a:p>
        </p:txBody>
      </p:sp>
      <p:sp>
        <p:nvSpPr>
          <p:cNvPr id="46" name="Rounded Rectangle 9">
            <a:extLst>
              <a:ext uri="{FF2B5EF4-FFF2-40B4-BE49-F238E27FC236}">
                <a16:creationId xmlns:a16="http://schemas.microsoft.com/office/drawing/2014/main" id="{087B919A-C319-E04B-1A1E-4391B4CEE3D7}"/>
              </a:ext>
            </a:extLst>
          </p:cNvPr>
          <p:cNvSpPr/>
          <p:nvPr/>
        </p:nvSpPr>
        <p:spPr>
          <a:xfrm>
            <a:off x="6227064" y="1170432"/>
            <a:ext cx="2542032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5CF363-920D-C77E-1F13-D0F73881D4C0}"/>
              </a:ext>
            </a:extLst>
          </p:cNvPr>
          <p:cNvSpPr/>
          <p:nvPr/>
        </p:nvSpPr>
        <p:spPr>
          <a:xfrm>
            <a:off x="6227064" y="1170432"/>
            <a:ext cx="54864" cy="9144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7FC99E-161C-D55C-5C94-573138C9602E}"/>
              </a:ext>
            </a:extLst>
          </p:cNvPr>
          <p:cNvSpPr txBox="1"/>
          <p:nvPr/>
        </p:nvSpPr>
        <p:spPr>
          <a:xfrm>
            <a:off x="6391656" y="1280160"/>
            <a:ext cx="2267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263444"/>
                </a:solidFill>
                <a:latin typeface="Poppins"/>
              </a:defRPr>
            </a:pPr>
            <a:r>
              <a:t>Average Consultations per</a:t>
            </a:r>
            <a:br/>
            <a:r>
              <a:t>Member</a:t>
            </a:r>
          </a:p>
          <a:p>
            <a:pPr>
              <a:defRPr sz="2200" b="1">
                <a:solidFill>
                  <a:srgbClr val="7E62BE"/>
                </a:solidFill>
                <a:latin typeface="Poppins"/>
              </a:defRPr>
            </a:pPr>
            <a:r>
              <a:t>2.64</a:t>
            </a:r>
          </a:p>
        </p:txBody>
      </p:sp>
      <p:sp>
        <p:nvSpPr>
          <p:cNvPr id="52" name="Rounded Rectangle 12">
            <a:extLst>
              <a:ext uri="{FF2B5EF4-FFF2-40B4-BE49-F238E27FC236}">
                <a16:creationId xmlns:a16="http://schemas.microsoft.com/office/drawing/2014/main" id="{39E6757A-1F9F-B5BB-1903-80092F99F3B1}"/>
              </a:ext>
            </a:extLst>
          </p:cNvPr>
          <p:cNvSpPr/>
          <p:nvPr/>
        </p:nvSpPr>
        <p:spPr>
          <a:xfrm>
            <a:off x="9043416" y="1170432"/>
            <a:ext cx="2542032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A260005-CAC8-1323-8F3C-ABAAD0B811A3}"/>
              </a:ext>
            </a:extLst>
          </p:cNvPr>
          <p:cNvSpPr/>
          <p:nvPr/>
        </p:nvSpPr>
        <p:spPr>
          <a:xfrm>
            <a:off x="9043416" y="1170432"/>
            <a:ext cx="54864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A9C1D26-0747-CF1E-1BE1-C065425978C2}"/>
              </a:ext>
            </a:extLst>
          </p:cNvPr>
          <p:cNvSpPr txBox="1"/>
          <p:nvPr/>
        </p:nvSpPr>
        <p:spPr>
          <a:xfrm>
            <a:off x="9208008" y="1280160"/>
            <a:ext cx="22677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19" b="1">
                <a:solidFill>
                  <a:srgbClr val="263444"/>
                </a:solidFill>
                <a:latin typeface="Poppins"/>
              </a:defRPr>
            </a:pPr>
            <a:r>
              <a:t>Completed Consultations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4,400</a:t>
            </a:r>
          </a:p>
        </p:txBody>
      </p:sp>
      <p:sp>
        <p:nvSpPr>
          <p:cNvPr id="58" name="Rounded Rectangle 15">
            <a:extLst>
              <a:ext uri="{FF2B5EF4-FFF2-40B4-BE49-F238E27FC236}">
                <a16:creationId xmlns:a16="http://schemas.microsoft.com/office/drawing/2014/main" id="{DB57BFF5-EB23-AA0E-483D-0B7A3A37CBFB}"/>
              </a:ext>
            </a:extLst>
          </p:cNvPr>
          <p:cNvSpPr/>
          <p:nvPr/>
        </p:nvSpPr>
        <p:spPr>
          <a:xfrm>
            <a:off x="685800" y="2423160"/>
            <a:ext cx="4956048" cy="1773936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F7CB030-8266-DF8C-A37E-D0C8EB29545D}"/>
              </a:ext>
            </a:extLst>
          </p:cNvPr>
          <p:cNvSpPr/>
          <p:nvPr/>
        </p:nvSpPr>
        <p:spPr>
          <a:xfrm>
            <a:off x="685800" y="2423160"/>
            <a:ext cx="54864" cy="16002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C15E83A-1E84-0833-58FD-CC9880288177}"/>
              </a:ext>
            </a:extLst>
          </p:cNvPr>
          <p:cNvSpPr txBox="1"/>
          <p:nvPr/>
        </p:nvSpPr>
        <p:spPr>
          <a:xfrm>
            <a:off x="850392" y="251460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 b="1">
                <a:solidFill>
                  <a:srgbClr val="263444"/>
                </a:solidFill>
                <a:latin typeface="Poppins"/>
              </a:defRPr>
            </a:pPr>
            <a:r>
              <a:t>Consultation Status Distribution — Donut</a:t>
            </a:r>
          </a:p>
        </p:txBody>
      </p:sp>
      <p:pic>
        <p:nvPicPr>
          <p:cNvPr id="64" name="Picture 63" descr="status.png">
            <a:extLst>
              <a:ext uri="{FF2B5EF4-FFF2-40B4-BE49-F238E27FC236}">
                <a16:creationId xmlns:a16="http://schemas.microsoft.com/office/drawing/2014/main" id="{B88D0327-5816-BB3A-FB51-D0A8D0A13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734056"/>
            <a:ext cx="4837176" cy="1216152"/>
          </a:xfrm>
          <a:prstGeom prst="rect">
            <a:avLst/>
          </a:prstGeom>
        </p:spPr>
      </p:pic>
      <p:sp>
        <p:nvSpPr>
          <p:cNvPr id="66" name="Rounded Rectangle 19">
            <a:extLst>
              <a:ext uri="{FF2B5EF4-FFF2-40B4-BE49-F238E27FC236}">
                <a16:creationId xmlns:a16="http://schemas.microsoft.com/office/drawing/2014/main" id="{AE6518F3-D7ED-9FDB-BA06-FE1B91587779}"/>
              </a:ext>
            </a:extLst>
          </p:cNvPr>
          <p:cNvSpPr/>
          <p:nvPr/>
        </p:nvSpPr>
        <p:spPr>
          <a:xfrm>
            <a:off x="6172200" y="24231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288889A-E77E-39B1-0AB4-7640993528C2}"/>
              </a:ext>
            </a:extLst>
          </p:cNvPr>
          <p:cNvSpPr/>
          <p:nvPr/>
        </p:nvSpPr>
        <p:spPr>
          <a:xfrm>
            <a:off x="6172200" y="2423160"/>
            <a:ext cx="54864" cy="16002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867F5EF-56D8-FAE8-5AA2-628F56F42C30}"/>
              </a:ext>
            </a:extLst>
          </p:cNvPr>
          <p:cNvSpPr txBox="1"/>
          <p:nvPr/>
        </p:nvSpPr>
        <p:spPr>
          <a:xfrm>
            <a:off x="6336792" y="251460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 b="1">
                <a:solidFill>
                  <a:srgbClr val="263444"/>
                </a:solidFill>
                <a:latin typeface="Poppins"/>
              </a:defRPr>
            </a:pPr>
            <a:r>
              <a:t>Consultation Mode — Column</a:t>
            </a:r>
          </a:p>
        </p:txBody>
      </p:sp>
      <p:pic>
        <p:nvPicPr>
          <p:cNvPr id="72" name="Picture 71" descr="mode.png">
            <a:extLst>
              <a:ext uri="{FF2B5EF4-FFF2-40B4-BE49-F238E27FC236}">
                <a16:creationId xmlns:a16="http://schemas.microsoft.com/office/drawing/2014/main" id="{477B24C6-3273-0944-707C-8F856D811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734056"/>
            <a:ext cx="4837176" cy="1216152"/>
          </a:xfrm>
          <a:prstGeom prst="rect">
            <a:avLst/>
          </a:prstGeom>
        </p:spPr>
      </p:pic>
      <p:sp>
        <p:nvSpPr>
          <p:cNvPr id="74" name="Rounded Rectangle 23">
            <a:extLst>
              <a:ext uri="{FF2B5EF4-FFF2-40B4-BE49-F238E27FC236}">
                <a16:creationId xmlns:a16="http://schemas.microsoft.com/office/drawing/2014/main" id="{799236BD-9EF6-BD99-C3D1-F04A7969DBB6}"/>
              </a:ext>
            </a:extLst>
          </p:cNvPr>
          <p:cNvSpPr/>
          <p:nvPr/>
        </p:nvSpPr>
        <p:spPr>
          <a:xfrm>
            <a:off x="685800" y="4224528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A4CB6CF-3612-49A3-6D73-6D811B3DEDC5}"/>
              </a:ext>
            </a:extLst>
          </p:cNvPr>
          <p:cNvSpPr/>
          <p:nvPr/>
        </p:nvSpPr>
        <p:spPr>
          <a:xfrm>
            <a:off x="685800" y="4224528"/>
            <a:ext cx="54864" cy="16002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64C5721-5366-5603-7694-4B2EFB3F6EF8}"/>
              </a:ext>
            </a:extLst>
          </p:cNvPr>
          <p:cNvSpPr txBox="1"/>
          <p:nvPr/>
        </p:nvSpPr>
        <p:spPr>
          <a:xfrm>
            <a:off x="850392" y="431596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 b="1">
                <a:solidFill>
                  <a:srgbClr val="263444"/>
                </a:solidFill>
                <a:latin typeface="Poppins"/>
              </a:defRPr>
            </a:pPr>
            <a:r>
              <a:t>Top Clinics by Consultation Volume — Bar</a:t>
            </a:r>
          </a:p>
        </p:txBody>
      </p:sp>
      <p:pic>
        <p:nvPicPr>
          <p:cNvPr id="80" name="Picture 79" descr="clinics.png">
            <a:extLst>
              <a:ext uri="{FF2B5EF4-FFF2-40B4-BE49-F238E27FC236}">
                <a16:creationId xmlns:a16="http://schemas.microsoft.com/office/drawing/2014/main" id="{5AFADC48-C805-A898-A34F-F60000E3C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535424"/>
            <a:ext cx="4837176" cy="1216152"/>
          </a:xfrm>
          <a:prstGeom prst="rect">
            <a:avLst/>
          </a:prstGeom>
        </p:spPr>
      </p:pic>
      <p:sp>
        <p:nvSpPr>
          <p:cNvPr id="82" name="Rounded Rectangle 27">
            <a:extLst>
              <a:ext uri="{FF2B5EF4-FFF2-40B4-BE49-F238E27FC236}">
                <a16:creationId xmlns:a16="http://schemas.microsoft.com/office/drawing/2014/main" id="{22D1D50F-EA0F-B6A9-4BCC-A8EF0D3D2305}"/>
              </a:ext>
            </a:extLst>
          </p:cNvPr>
          <p:cNvSpPr/>
          <p:nvPr/>
        </p:nvSpPr>
        <p:spPr>
          <a:xfrm>
            <a:off x="6172200" y="4224528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9A6E178-4B51-881B-927B-4D439078ED38}"/>
              </a:ext>
            </a:extLst>
          </p:cNvPr>
          <p:cNvSpPr/>
          <p:nvPr/>
        </p:nvSpPr>
        <p:spPr>
          <a:xfrm>
            <a:off x="6172200" y="4224528"/>
            <a:ext cx="54864" cy="16002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1C64833-9229-F8E7-7142-C301C541BF00}"/>
              </a:ext>
            </a:extLst>
          </p:cNvPr>
          <p:cNvSpPr txBox="1"/>
          <p:nvPr/>
        </p:nvSpPr>
        <p:spPr>
          <a:xfrm>
            <a:off x="6336792" y="431596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 b="1">
                <a:solidFill>
                  <a:srgbClr val="263444"/>
                </a:solidFill>
                <a:latin typeface="Poppins"/>
              </a:defRPr>
            </a:pPr>
            <a:r>
              <a:t>Top Specialists by Consultation Volume — Bar</a:t>
            </a:r>
          </a:p>
        </p:txBody>
      </p:sp>
      <p:pic>
        <p:nvPicPr>
          <p:cNvPr id="88" name="Picture 87" descr="specialists.png">
            <a:extLst>
              <a:ext uri="{FF2B5EF4-FFF2-40B4-BE49-F238E27FC236}">
                <a16:creationId xmlns:a16="http://schemas.microsoft.com/office/drawing/2014/main" id="{A8429431-A6B7-0A7F-CD03-208FD49F43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4535424"/>
            <a:ext cx="4837176" cy="1216152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D9D47012-7C15-1287-B0F2-FBCCC37474F1}"/>
              </a:ext>
            </a:extLst>
          </p:cNvPr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  <a:latin typeface="Aptos"/>
              </a:defRPr>
            </a:pPr>
            <a:r>
              <a:t>HealthPlus Care  |  Healthcare Analytics                            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9464B62-4ED1-8410-227E-4DC1BF66737A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33A7C0-D35C-A681-41C1-90B4B3A04DCA}"/>
              </a:ext>
            </a:extLst>
          </p:cNvPr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444"/>
                </a:solidFill>
                <a:latin typeface="Poppins"/>
              </a:defRPr>
            </a:pPr>
            <a:r>
              <a:t>Telemedicine Performance</a:t>
            </a:r>
          </a:p>
        </p:txBody>
      </p:sp>
      <p:sp>
        <p:nvSpPr>
          <p:cNvPr id="31" name="Rounded Rectangle 3">
            <a:extLst>
              <a:ext uri="{FF2B5EF4-FFF2-40B4-BE49-F238E27FC236}">
                <a16:creationId xmlns:a16="http://schemas.microsoft.com/office/drawing/2014/main" id="{CA4397D1-16BD-0D7C-1980-E66AC55D9367}"/>
              </a:ext>
            </a:extLst>
          </p:cNvPr>
          <p:cNvSpPr/>
          <p:nvPr/>
        </p:nvSpPr>
        <p:spPr>
          <a:xfrm>
            <a:off x="594360" y="1170432"/>
            <a:ext cx="292608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1B8D3DB-47D9-A1F5-2C55-78719696E1D9}"/>
              </a:ext>
            </a:extLst>
          </p:cNvPr>
          <p:cNvSpPr/>
          <p:nvPr/>
        </p:nvSpPr>
        <p:spPr>
          <a:xfrm>
            <a:off x="594360" y="1170432"/>
            <a:ext cx="54864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D4797A-B01E-0A99-A881-DBA2338C58CD}"/>
              </a:ext>
            </a:extLst>
          </p:cNvPr>
          <p:cNvSpPr txBox="1"/>
          <p:nvPr/>
        </p:nvSpPr>
        <p:spPr>
          <a:xfrm>
            <a:off x="758952" y="1280160"/>
            <a:ext cx="2651760" cy="786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63444"/>
                </a:solidFill>
                <a:latin typeface="Poppins"/>
              </a:defRPr>
            </a:pPr>
            <a:r>
              <a:t>Total Telemedicine Sessions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2,200</a:t>
            </a:r>
          </a:p>
        </p:txBody>
      </p:sp>
      <p:sp>
        <p:nvSpPr>
          <p:cNvPr id="37" name="Rounded Rectangle 6">
            <a:extLst>
              <a:ext uri="{FF2B5EF4-FFF2-40B4-BE49-F238E27FC236}">
                <a16:creationId xmlns:a16="http://schemas.microsoft.com/office/drawing/2014/main" id="{CCD3AF97-D2B5-6761-A190-ACF2AFE5DF27}"/>
              </a:ext>
            </a:extLst>
          </p:cNvPr>
          <p:cNvSpPr/>
          <p:nvPr/>
        </p:nvSpPr>
        <p:spPr>
          <a:xfrm>
            <a:off x="4325112" y="1170432"/>
            <a:ext cx="292608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9A222F4-B1F3-889C-C300-AE99809108C9}"/>
              </a:ext>
            </a:extLst>
          </p:cNvPr>
          <p:cNvSpPr/>
          <p:nvPr/>
        </p:nvSpPr>
        <p:spPr>
          <a:xfrm>
            <a:off x="4325112" y="1170432"/>
            <a:ext cx="54864" cy="9144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1EDBA8-E178-2DBC-808E-018E72648035}"/>
              </a:ext>
            </a:extLst>
          </p:cNvPr>
          <p:cNvSpPr txBox="1"/>
          <p:nvPr/>
        </p:nvSpPr>
        <p:spPr>
          <a:xfrm>
            <a:off x="4489704" y="1280160"/>
            <a:ext cx="2651760" cy="786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63444"/>
                </a:solidFill>
                <a:latin typeface="Poppins"/>
              </a:defRPr>
            </a:pPr>
            <a:r>
              <a:t>Telemedicine Completion Rate</a:t>
            </a:r>
          </a:p>
          <a:p>
            <a:pPr>
              <a:defRPr sz="2200" b="1">
                <a:solidFill>
                  <a:srgbClr val="36AAA4"/>
                </a:solidFill>
                <a:latin typeface="Poppins"/>
              </a:defRPr>
            </a:pPr>
            <a:r>
              <a:t>66.59%</a:t>
            </a:r>
          </a:p>
        </p:txBody>
      </p:sp>
      <p:sp>
        <p:nvSpPr>
          <p:cNvPr id="43" name="Rounded Rectangle 9">
            <a:extLst>
              <a:ext uri="{FF2B5EF4-FFF2-40B4-BE49-F238E27FC236}">
                <a16:creationId xmlns:a16="http://schemas.microsoft.com/office/drawing/2014/main" id="{28501740-8281-2960-C0D1-6ED07D5D8C87}"/>
              </a:ext>
            </a:extLst>
          </p:cNvPr>
          <p:cNvSpPr/>
          <p:nvPr/>
        </p:nvSpPr>
        <p:spPr>
          <a:xfrm>
            <a:off x="8055864" y="1170432"/>
            <a:ext cx="292608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E571063-A6B1-444D-F9ED-0088AB9029A4}"/>
              </a:ext>
            </a:extLst>
          </p:cNvPr>
          <p:cNvSpPr/>
          <p:nvPr/>
        </p:nvSpPr>
        <p:spPr>
          <a:xfrm>
            <a:off x="8055864" y="1170432"/>
            <a:ext cx="54864" cy="9144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16DBA3-48B3-2183-2936-2CD29E701317}"/>
              </a:ext>
            </a:extLst>
          </p:cNvPr>
          <p:cNvSpPr txBox="1"/>
          <p:nvPr/>
        </p:nvSpPr>
        <p:spPr>
          <a:xfrm>
            <a:off x="8220456" y="1280160"/>
            <a:ext cx="2651760" cy="786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63444"/>
                </a:solidFill>
                <a:latin typeface="Poppins"/>
              </a:defRPr>
            </a:pPr>
            <a:r>
              <a:t>Average Session Duration</a:t>
            </a:r>
          </a:p>
          <a:p>
            <a:pPr>
              <a:defRPr sz="2200" b="1">
                <a:solidFill>
                  <a:srgbClr val="7E62BE"/>
                </a:solidFill>
                <a:latin typeface="Poppins"/>
              </a:defRPr>
            </a:pPr>
            <a:r>
              <a:t>21.43 min</a:t>
            </a:r>
          </a:p>
        </p:txBody>
      </p:sp>
      <p:sp>
        <p:nvSpPr>
          <p:cNvPr id="49" name="Rounded Rectangle 12">
            <a:extLst>
              <a:ext uri="{FF2B5EF4-FFF2-40B4-BE49-F238E27FC236}">
                <a16:creationId xmlns:a16="http://schemas.microsoft.com/office/drawing/2014/main" id="{CDFBF45B-AC79-2CC6-A12E-4BBEBC54C580}"/>
              </a:ext>
            </a:extLst>
          </p:cNvPr>
          <p:cNvSpPr/>
          <p:nvPr/>
        </p:nvSpPr>
        <p:spPr>
          <a:xfrm>
            <a:off x="685800" y="24231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96C201-53B5-1CB5-0CBD-4DC370CF5F90}"/>
              </a:ext>
            </a:extLst>
          </p:cNvPr>
          <p:cNvSpPr/>
          <p:nvPr/>
        </p:nvSpPr>
        <p:spPr>
          <a:xfrm>
            <a:off x="685800" y="2423160"/>
            <a:ext cx="54864" cy="16002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C43A29-6ED7-4B6E-6D18-C92A798324D5}"/>
              </a:ext>
            </a:extLst>
          </p:cNvPr>
          <p:cNvSpPr txBox="1"/>
          <p:nvPr/>
        </p:nvSpPr>
        <p:spPr>
          <a:xfrm>
            <a:off x="850392" y="251460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 b="1">
                <a:solidFill>
                  <a:srgbClr val="263444"/>
                </a:solidFill>
                <a:latin typeface="Poppins"/>
              </a:defRPr>
            </a:pPr>
            <a:r>
              <a:t>Session Status — Donut</a:t>
            </a:r>
          </a:p>
        </p:txBody>
      </p:sp>
      <p:pic>
        <p:nvPicPr>
          <p:cNvPr id="55" name="Picture 54" descr="status.png">
            <a:extLst>
              <a:ext uri="{FF2B5EF4-FFF2-40B4-BE49-F238E27FC236}">
                <a16:creationId xmlns:a16="http://schemas.microsoft.com/office/drawing/2014/main" id="{F69DEF98-1709-41E6-25EE-32ACAF260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752344"/>
            <a:ext cx="4855464" cy="1207008"/>
          </a:xfrm>
          <a:prstGeom prst="rect">
            <a:avLst/>
          </a:prstGeom>
        </p:spPr>
      </p:pic>
      <p:sp>
        <p:nvSpPr>
          <p:cNvPr id="57" name="Rounded Rectangle 16">
            <a:extLst>
              <a:ext uri="{FF2B5EF4-FFF2-40B4-BE49-F238E27FC236}">
                <a16:creationId xmlns:a16="http://schemas.microsoft.com/office/drawing/2014/main" id="{7C836725-6D56-2124-815A-01F025271CC9}"/>
              </a:ext>
            </a:extLst>
          </p:cNvPr>
          <p:cNvSpPr/>
          <p:nvPr/>
        </p:nvSpPr>
        <p:spPr>
          <a:xfrm>
            <a:off x="6172200" y="242316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C95DC28-A0C9-FBFE-55E3-DAC5E031B7C2}"/>
              </a:ext>
            </a:extLst>
          </p:cNvPr>
          <p:cNvSpPr/>
          <p:nvPr/>
        </p:nvSpPr>
        <p:spPr>
          <a:xfrm>
            <a:off x="6172200" y="2423160"/>
            <a:ext cx="54864" cy="16002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A3345C3-66CC-ADAA-0DE5-B1326C038F6E}"/>
              </a:ext>
            </a:extLst>
          </p:cNvPr>
          <p:cNvSpPr txBox="1"/>
          <p:nvPr/>
        </p:nvSpPr>
        <p:spPr>
          <a:xfrm>
            <a:off x="6336792" y="2514600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 b="1">
                <a:solidFill>
                  <a:srgbClr val="263444"/>
                </a:solidFill>
                <a:latin typeface="Poppins"/>
              </a:defRPr>
            </a:pPr>
            <a:r>
              <a:t>Platform Usage — Bar</a:t>
            </a:r>
          </a:p>
        </p:txBody>
      </p:sp>
      <p:pic>
        <p:nvPicPr>
          <p:cNvPr id="63" name="Picture 62" descr="platform.png">
            <a:extLst>
              <a:ext uri="{FF2B5EF4-FFF2-40B4-BE49-F238E27FC236}">
                <a16:creationId xmlns:a16="http://schemas.microsoft.com/office/drawing/2014/main" id="{5E849BCD-BF0B-AC7D-0AC9-1CDD72AC4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752344"/>
            <a:ext cx="4855464" cy="1207008"/>
          </a:xfrm>
          <a:prstGeom prst="rect">
            <a:avLst/>
          </a:prstGeom>
        </p:spPr>
      </p:pic>
      <p:sp>
        <p:nvSpPr>
          <p:cNvPr id="65" name="Rounded Rectangle 20">
            <a:extLst>
              <a:ext uri="{FF2B5EF4-FFF2-40B4-BE49-F238E27FC236}">
                <a16:creationId xmlns:a16="http://schemas.microsoft.com/office/drawing/2014/main" id="{6BBAD5D4-F514-54F5-6127-0389DE4B4D0E}"/>
              </a:ext>
            </a:extLst>
          </p:cNvPr>
          <p:cNvSpPr/>
          <p:nvPr/>
        </p:nvSpPr>
        <p:spPr>
          <a:xfrm>
            <a:off x="685800" y="4224528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04E474A-41C8-9D36-5DEB-1208DF676693}"/>
              </a:ext>
            </a:extLst>
          </p:cNvPr>
          <p:cNvSpPr/>
          <p:nvPr/>
        </p:nvSpPr>
        <p:spPr>
          <a:xfrm>
            <a:off x="685800" y="4224528"/>
            <a:ext cx="54864" cy="16002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A60631-F128-C6B8-6637-1F78ED4B4BFE}"/>
              </a:ext>
            </a:extLst>
          </p:cNvPr>
          <p:cNvSpPr txBox="1"/>
          <p:nvPr/>
        </p:nvSpPr>
        <p:spPr>
          <a:xfrm>
            <a:off x="850392" y="431596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30" b="1">
                <a:solidFill>
                  <a:srgbClr val="263444"/>
                </a:solidFill>
                <a:latin typeface="Poppins"/>
              </a:defRPr>
            </a:pPr>
            <a:r>
              <a:t>Connection Quality — Column</a:t>
            </a:r>
          </a:p>
        </p:txBody>
      </p:sp>
      <p:pic>
        <p:nvPicPr>
          <p:cNvPr id="71" name="Picture 70" descr="quality.png">
            <a:extLst>
              <a:ext uri="{FF2B5EF4-FFF2-40B4-BE49-F238E27FC236}">
                <a16:creationId xmlns:a16="http://schemas.microsoft.com/office/drawing/2014/main" id="{84C3516C-8DCF-0124-F8EF-C8FB488D9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553712"/>
            <a:ext cx="4855464" cy="1207008"/>
          </a:xfrm>
          <a:prstGeom prst="rect">
            <a:avLst/>
          </a:prstGeom>
        </p:spPr>
      </p:pic>
      <p:sp>
        <p:nvSpPr>
          <p:cNvPr id="73" name="Rounded Rectangle 24">
            <a:extLst>
              <a:ext uri="{FF2B5EF4-FFF2-40B4-BE49-F238E27FC236}">
                <a16:creationId xmlns:a16="http://schemas.microsoft.com/office/drawing/2014/main" id="{8411ADDA-B9D3-C80C-A3DA-0BC02BA7E7EF}"/>
              </a:ext>
            </a:extLst>
          </p:cNvPr>
          <p:cNvSpPr/>
          <p:nvPr/>
        </p:nvSpPr>
        <p:spPr>
          <a:xfrm>
            <a:off x="6172200" y="4224528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59004DF-C4D3-E5B1-AD47-AEE67D85B147}"/>
              </a:ext>
            </a:extLst>
          </p:cNvPr>
          <p:cNvSpPr/>
          <p:nvPr/>
        </p:nvSpPr>
        <p:spPr>
          <a:xfrm>
            <a:off x="6172200" y="4224528"/>
            <a:ext cx="54864" cy="16002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1E4D14E-C782-8707-2976-4D8CE6CFBABD}"/>
              </a:ext>
            </a:extLst>
          </p:cNvPr>
          <p:cNvSpPr txBox="1"/>
          <p:nvPr/>
        </p:nvSpPr>
        <p:spPr>
          <a:xfrm>
            <a:off x="6382512" y="4370832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63444"/>
                </a:solidFill>
                <a:latin typeface="Poppins"/>
              </a:defRPr>
            </a:pPr>
            <a:r>
              <a:t>Average Session Duration — KPI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3F9DAB5-E353-B9ED-0197-3FBB55A881E8}"/>
              </a:ext>
            </a:extLst>
          </p:cNvPr>
          <p:cNvSpPr txBox="1"/>
          <p:nvPr/>
        </p:nvSpPr>
        <p:spPr>
          <a:xfrm>
            <a:off x="6382512" y="484632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6AAA4"/>
                </a:solidFill>
                <a:latin typeface="Poppins"/>
              </a:defRPr>
            </a:pPr>
            <a:r>
              <a:t>21.43 min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F36E7BA-97E3-3810-3807-2689BA4DFB94}"/>
              </a:ext>
            </a:extLst>
          </p:cNvPr>
          <p:cNvSpPr txBox="1"/>
          <p:nvPr/>
        </p:nvSpPr>
        <p:spPr>
          <a:xfrm>
            <a:off x="6382512" y="5468112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684"/>
                </a:solidFill>
                <a:latin typeface="Aptos"/>
              </a:defRPr>
            </a:pPr>
            <a:r>
              <a:t>Calculated from valid session start/end timestamps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AFC3529-462C-A19C-37B9-FB738D8DF8C4}"/>
              </a:ext>
            </a:extLst>
          </p:cNvPr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  <a:latin typeface="Aptos"/>
              </a:defRPr>
            </a:pPr>
            <a:r>
              <a:t>HealthPlus Care  |  Healthcare Analytics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AB18445-1C10-AC54-0C1C-C1EFBF37D2AB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3560800-FE1E-B51F-1BD5-24477CAFADDC}"/>
              </a:ext>
            </a:extLst>
          </p:cNvPr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384B"/>
                </a:solidFill>
                <a:latin typeface="Poppins"/>
              </a:defRPr>
            </a:pPr>
            <a:r>
              <a:t>Chronic Care Program Analytics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0624B0-E588-B626-4EB5-1D96F944B13D}"/>
              </a:ext>
            </a:extLst>
          </p:cNvPr>
          <p:cNvSpPr txBox="1"/>
          <p:nvPr/>
        </p:nvSpPr>
        <p:spPr>
          <a:xfrm>
            <a:off x="658368" y="644652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D8D"/>
                </a:solidFill>
                <a:latin typeface="Aptos"/>
              </a:defRPr>
            </a:pPr>
            <a:r>
              <a:t>HealthPlus Care  |  Healthcare Analytics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94E896-9C30-C651-A3CC-EA6AD145EB5F}"/>
              </a:ext>
            </a:extLst>
          </p:cNvPr>
          <p:cNvSpPr txBox="1"/>
          <p:nvPr/>
        </p:nvSpPr>
        <p:spPr>
          <a:xfrm>
            <a:off x="61264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D8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29" name="Rounded Rectangle 5">
            <a:extLst>
              <a:ext uri="{FF2B5EF4-FFF2-40B4-BE49-F238E27FC236}">
                <a16:creationId xmlns:a16="http://schemas.microsoft.com/office/drawing/2014/main" id="{05D1DA72-7EB3-1A69-8AD1-97669567557E}"/>
              </a:ext>
            </a:extLst>
          </p:cNvPr>
          <p:cNvSpPr/>
          <p:nvPr/>
        </p:nvSpPr>
        <p:spPr>
          <a:xfrm>
            <a:off x="594360" y="1170432"/>
            <a:ext cx="288036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EA92409-721A-5C13-1988-DC64B5613BB7}"/>
              </a:ext>
            </a:extLst>
          </p:cNvPr>
          <p:cNvSpPr/>
          <p:nvPr/>
        </p:nvSpPr>
        <p:spPr>
          <a:xfrm>
            <a:off x="594360" y="1170432"/>
            <a:ext cx="54864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970141-FEDE-7EC8-CA15-603047D8AEAA}"/>
              </a:ext>
            </a:extLst>
          </p:cNvPr>
          <p:cNvSpPr txBox="1"/>
          <p:nvPr/>
        </p:nvSpPr>
        <p:spPr>
          <a:xfrm>
            <a:off x="777240" y="1280160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Total Chronic Care Programs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900</a:t>
            </a:r>
          </a:p>
        </p:txBody>
      </p:sp>
      <p:sp>
        <p:nvSpPr>
          <p:cNvPr id="35" name="Rounded Rectangle 8">
            <a:extLst>
              <a:ext uri="{FF2B5EF4-FFF2-40B4-BE49-F238E27FC236}">
                <a16:creationId xmlns:a16="http://schemas.microsoft.com/office/drawing/2014/main" id="{60BD8DCB-34A3-81DC-0AF1-B22CF78C2201}"/>
              </a:ext>
            </a:extLst>
          </p:cNvPr>
          <p:cNvSpPr/>
          <p:nvPr/>
        </p:nvSpPr>
        <p:spPr>
          <a:xfrm>
            <a:off x="3657600" y="1170432"/>
            <a:ext cx="288036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4AD1F8-FCE2-BEE5-7B05-A7DFE416A4D5}"/>
              </a:ext>
            </a:extLst>
          </p:cNvPr>
          <p:cNvSpPr/>
          <p:nvPr/>
        </p:nvSpPr>
        <p:spPr>
          <a:xfrm>
            <a:off x="3657600" y="1170432"/>
            <a:ext cx="54864" cy="9144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40AD1E-6925-0E7B-A231-9CE1C6203DFD}"/>
              </a:ext>
            </a:extLst>
          </p:cNvPr>
          <p:cNvSpPr txBox="1"/>
          <p:nvPr/>
        </p:nvSpPr>
        <p:spPr>
          <a:xfrm>
            <a:off x="3840480" y="1280160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Active Chronic Care Programs</a:t>
            </a:r>
          </a:p>
          <a:p>
            <a:pPr>
              <a:defRPr sz="2200" b="1">
                <a:solidFill>
                  <a:srgbClr val="36AAA4"/>
                </a:solidFill>
                <a:latin typeface="Poppins"/>
              </a:defRPr>
            </a:pPr>
            <a:r>
              <a:t>560</a:t>
            </a:r>
          </a:p>
        </p:txBody>
      </p:sp>
      <p:sp>
        <p:nvSpPr>
          <p:cNvPr id="41" name="Rounded Rectangle 11">
            <a:extLst>
              <a:ext uri="{FF2B5EF4-FFF2-40B4-BE49-F238E27FC236}">
                <a16:creationId xmlns:a16="http://schemas.microsoft.com/office/drawing/2014/main" id="{A7B9C311-5CA2-0E4B-8305-ED0AFEB5B068}"/>
              </a:ext>
            </a:extLst>
          </p:cNvPr>
          <p:cNvSpPr/>
          <p:nvPr/>
        </p:nvSpPr>
        <p:spPr>
          <a:xfrm>
            <a:off x="685800" y="2359152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9CF924-73F6-80E7-8FA6-F89E451136CD}"/>
              </a:ext>
            </a:extLst>
          </p:cNvPr>
          <p:cNvSpPr/>
          <p:nvPr/>
        </p:nvSpPr>
        <p:spPr>
          <a:xfrm>
            <a:off x="685800" y="2359152"/>
            <a:ext cx="54864" cy="16002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786E6F2-F4E3-5E67-3AA1-DF60AE509060}"/>
              </a:ext>
            </a:extLst>
          </p:cNvPr>
          <p:cNvSpPr txBox="1"/>
          <p:nvPr/>
        </p:nvSpPr>
        <p:spPr>
          <a:xfrm>
            <a:off x="868680" y="2441448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Chronic Condition Enrollment — Bar</a:t>
            </a:r>
          </a:p>
        </p:txBody>
      </p:sp>
      <p:pic>
        <p:nvPicPr>
          <p:cNvPr id="47" name="Picture 46" descr="s13_condition.png">
            <a:extLst>
              <a:ext uri="{FF2B5EF4-FFF2-40B4-BE49-F238E27FC236}">
                <a16:creationId xmlns:a16="http://schemas.microsoft.com/office/drawing/2014/main" id="{476C2BBC-9915-CC4D-7A31-F75ED5CC8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679192"/>
            <a:ext cx="4855464" cy="1216152"/>
          </a:xfrm>
          <a:prstGeom prst="rect">
            <a:avLst/>
          </a:prstGeom>
        </p:spPr>
      </p:pic>
      <p:sp>
        <p:nvSpPr>
          <p:cNvPr id="49" name="Rounded Rectangle 15">
            <a:extLst>
              <a:ext uri="{FF2B5EF4-FFF2-40B4-BE49-F238E27FC236}">
                <a16:creationId xmlns:a16="http://schemas.microsoft.com/office/drawing/2014/main" id="{1948026E-E9C3-6A80-C0FB-108C397E98DB}"/>
              </a:ext>
            </a:extLst>
          </p:cNvPr>
          <p:cNvSpPr/>
          <p:nvPr/>
        </p:nvSpPr>
        <p:spPr>
          <a:xfrm>
            <a:off x="6172200" y="2359152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4F216F7-5523-30B2-DD87-0DE5CF26C94D}"/>
              </a:ext>
            </a:extLst>
          </p:cNvPr>
          <p:cNvSpPr/>
          <p:nvPr/>
        </p:nvSpPr>
        <p:spPr>
          <a:xfrm>
            <a:off x="6172200" y="2359152"/>
            <a:ext cx="54864" cy="16002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D164FC-36FE-3958-0C34-CF26BE9BF998}"/>
              </a:ext>
            </a:extLst>
          </p:cNvPr>
          <p:cNvSpPr txBox="1"/>
          <p:nvPr/>
        </p:nvSpPr>
        <p:spPr>
          <a:xfrm>
            <a:off x="6355080" y="2441448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Program Status — Donut</a:t>
            </a:r>
          </a:p>
        </p:txBody>
      </p:sp>
      <p:pic>
        <p:nvPicPr>
          <p:cNvPr id="55" name="Picture 54" descr="s13_status.png">
            <a:extLst>
              <a:ext uri="{FF2B5EF4-FFF2-40B4-BE49-F238E27FC236}">
                <a16:creationId xmlns:a16="http://schemas.microsoft.com/office/drawing/2014/main" id="{B826C179-9DF8-0AFE-837A-CF3D1FEF9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679192"/>
            <a:ext cx="4855464" cy="1216152"/>
          </a:xfrm>
          <a:prstGeom prst="rect">
            <a:avLst/>
          </a:prstGeom>
        </p:spPr>
      </p:pic>
      <p:sp>
        <p:nvSpPr>
          <p:cNvPr id="57" name="Rounded Rectangle 19">
            <a:extLst>
              <a:ext uri="{FF2B5EF4-FFF2-40B4-BE49-F238E27FC236}">
                <a16:creationId xmlns:a16="http://schemas.microsoft.com/office/drawing/2014/main" id="{14CBC197-F401-51A2-C927-179977B81231}"/>
              </a:ext>
            </a:extLst>
          </p:cNvPr>
          <p:cNvSpPr/>
          <p:nvPr/>
        </p:nvSpPr>
        <p:spPr>
          <a:xfrm>
            <a:off x="685800" y="41605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C828DE8-FD8B-AF73-14BE-0585788FC8F3}"/>
              </a:ext>
            </a:extLst>
          </p:cNvPr>
          <p:cNvSpPr/>
          <p:nvPr/>
        </p:nvSpPr>
        <p:spPr>
          <a:xfrm>
            <a:off x="685800" y="4160520"/>
            <a:ext cx="54864" cy="16002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9C69E5A-64B5-466A-3BF5-A5850C59ECEC}"/>
              </a:ext>
            </a:extLst>
          </p:cNvPr>
          <p:cNvSpPr txBox="1"/>
          <p:nvPr/>
        </p:nvSpPr>
        <p:spPr>
          <a:xfrm>
            <a:off x="868680" y="4242816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Specialists Managing Chronic Programs — Bar</a:t>
            </a:r>
          </a:p>
        </p:txBody>
      </p:sp>
      <p:pic>
        <p:nvPicPr>
          <p:cNvPr id="63" name="Picture 62" descr="s13_specialists.png">
            <a:extLst>
              <a:ext uri="{FF2B5EF4-FFF2-40B4-BE49-F238E27FC236}">
                <a16:creationId xmlns:a16="http://schemas.microsoft.com/office/drawing/2014/main" id="{35FB4E2E-7366-C0D4-311E-E7C122BA8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480559"/>
            <a:ext cx="4855464" cy="1216152"/>
          </a:xfrm>
          <a:prstGeom prst="rect">
            <a:avLst/>
          </a:prstGeom>
        </p:spPr>
      </p:pic>
      <p:sp>
        <p:nvSpPr>
          <p:cNvPr id="65" name="Rounded Rectangle 23">
            <a:extLst>
              <a:ext uri="{FF2B5EF4-FFF2-40B4-BE49-F238E27FC236}">
                <a16:creationId xmlns:a16="http://schemas.microsoft.com/office/drawing/2014/main" id="{FAC66A8D-80DC-9F39-48B3-EC0AB7A18421}"/>
              </a:ext>
            </a:extLst>
          </p:cNvPr>
          <p:cNvSpPr/>
          <p:nvPr/>
        </p:nvSpPr>
        <p:spPr>
          <a:xfrm>
            <a:off x="6172200" y="41605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B67A0FC-20EE-EEEF-274C-1073E49C887C}"/>
              </a:ext>
            </a:extLst>
          </p:cNvPr>
          <p:cNvSpPr/>
          <p:nvPr/>
        </p:nvSpPr>
        <p:spPr>
          <a:xfrm>
            <a:off x="6172200" y="4160520"/>
            <a:ext cx="54864" cy="16002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5F8461A-AC2D-1432-290C-9C06CF9471B3}"/>
              </a:ext>
            </a:extLst>
          </p:cNvPr>
          <p:cNvSpPr txBox="1"/>
          <p:nvPr/>
        </p:nvSpPr>
        <p:spPr>
          <a:xfrm>
            <a:off x="6355080" y="4251959"/>
            <a:ext cx="4800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Active / Completed / Discontinued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BDEC39B-1F31-BB3B-6E59-F56E1247A50F}"/>
              </a:ext>
            </a:extLst>
          </p:cNvPr>
          <p:cNvSpPr txBox="1"/>
          <p:nvPr/>
        </p:nvSpPr>
        <p:spPr>
          <a:xfrm>
            <a:off x="6355080" y="4572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Active  |  560</a:t>
            </a:r>
          </a:p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Completed  |  207</a:t>
            </a:r>
          </a:p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Discontinued  |  133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82846AE-EF2F-4513-18ED-EFBC559DBB78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0148BF-0AB6-67D9-985C-1D7072904ABA}"/>
              </a:ext>
            </a:extLst>
          </p:cNvPr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384B"/>
                </a:solidFill>
                <a:latin typeface="Poppins"/>
              </a:defRPr>
            </a:pPr>
            <a:r>
              <a:t>Health Package &amp; Subscription Analytics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5B6B12-E0A4-E50B-A5C7-0ADAE54B7864}"/>
              </a:ext>
            </a:extLst>
          </p:cNvPr>
          <p:cNvSpPr txBox="1"/>
          <p:nvPr/>
        </p:nvSpPr>
        <p:spPr>
          <a:xfrm>
            <a:off x="658368" y="644652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D8D"/>
                </a:solidFill>
                <a:latin typeface="Aptos"/>
              </a:defRPr>
            </a:pPr>
            <a:r>
              <a:t>HealthPlus Care  |  Healthcare Analytics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A4671C1-DBB5-10D0-B69C-45E1495C53A8}"/>
              </a:ext>
            </a:extLst>
          </p:cNvPr>
          <p:cNvSpPr txBox="1"/>
          <p:nvPr/>
        </p:nvSpPr>
        <p:spPr>
          <a:xfrm>
            <a:off x="61264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D8D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35" name="Rounded Rectangle 5">
            <a:extLst>
              <a:ext uri="{FF2B5EF4-FFF2-40B4-BE49-F238E27FC236}">
                <a16:creationId xmlns:a16="http://schemas.microsoft.com/office/drawing/2014/main" id="{9CD58EEA-8BDE-231F-84E5-43835AB69147}"/>
              </a:ext>
            </a:extLst>
          </p:cNvPr>
          <p:cNvSpPr/>
          <p:nvPr/>
        </p:nvSpPr>
        <p:spPr>
          <a:xfrm>
            <a:off x="594360" y="1170432"/>
            <a:ext cx="288036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6DBCD16-2D71-3E8B-7DD9-80E115EA01AC}"/>
              </a:ext>
            </a:extLst>
          </p:cNvPr>
          <p:cNvSpPr/>
          <p:nvPr/>
        </p:nvSpPr>
        <p:spPr>
          <a:xfrm>
            <a:off x="594360" y="1170432"/>
            <a:ext cx="54864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F1F248-D188-477E-39B7-EBF52671D7DB}"/>
              </a:ext>
            </a:extLst>
          </p:cNvPr>
          <p:cNvSpPr txBox="1"/>
          <p:nvPr/>
        </p:nvSpPr>
        <p:spPr>
          <a:xfrm>
            <a:off x="777240" y="1280160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Total Package Subscriptions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3,000</a:t>
            </a:r>
          </a:p>
        </p:txBody>
      </p:sp>
      <p:sp>
        <p:nvSpPr>
          <p:cNvPr id="41" name="Rounded Rectangle 8">
            <a:extLst>
              <a:ext uri="{FF2B5EF4-FFF2-40B4-BE49-F238E27FC236}">
                <a16:creationId xmlns:a16="http://schemas.microsoft.com/office/drawing/2014/main" id="{BC710E7B-E28D-35D7-7DBE-6CD3694AB90A}"/>
              </a:ext>
            </a:extLst>
          </p:cNvPr>
          <p:cNvSpPr/>
          <p:nvPr/>
        </p:nvSpPr>
        <p:spPr>
          <a:xfrm>
            <a:off x="3657600" y="1170432"/>
            <a:ext cx="288036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7003647-8D76-B4A8-26BE-4C3237254744}"/>
              </a:ext>
            </a:extLst>
          </p:cNvPr>
          <p:cNvSpPr/>
          <p:nvPr/>
        </p:nvSpPr>
        <p:spPr>
          <a:xfrm>
            <a:off x="3657600" y="1170432"/>
            <a:ext cx="54864" cy="9144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AC9069-D43C-1232-2A1A-FB2EEFDBE947}"/>
              </a:ext>
            </a:extLst>
          </p:cNvPr>
          <p:cNvSpPr txBox="1"/>
          <p:nvPr/>
        </p:nvSpPr>
        <p:spPr>
          <a:xfrm>
            <a:off x="3840480" y="1280160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Paid Subscription Rate</a:t>
            </a:r>
          </a:p>
          <a:p>
            <a:pPr>
              <a:defRPr sz="2200" b="1">
                <a:solidFill>
                  <a:srgbClr val="36AAA4"/>
                </a:solidFill>
                <a:latin typeface="Poppins"/>
              </a:defRPr>
            </a:pPr>
            <a:r>
              <a:t>84.97%</a:t>
            </a:r>
          </a:p>
        </p:txBody>
      </p:sp>
      <p:sp>
        <p:nvSpPr>
          <p:cNvPr id="47" name="Rounded Rectangle 11">
            <a:extLst>
              <a:ext uri="{FF2B5EF4-FFF2-40B4-BE49-F238E27FC236}">
                <a16:creationId xmlns:a16="http://schemas.microsoft.com/office/drawing/2014/main" id="{A93EF4CA-1358-DD06-65A3-EA2957C5D065}"/>
              </a:ext>
            </a:extLst>
          </p:cNvPr>
          <p:cNvSpPr/>
          <p:nvPr/>
        </p:nvSpPr>
        <p:spPr>
          <a:xfrm>
            <a:off x="6720840" y="1170432"/>
            <a:ext cx="288036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1B6E092-3095-8E73-4162-D030F84199C9}"/>
              </a:ext>
            </a:extLst>
          </p:cNvPr>
          <p:cNvSpPr/>
          <p:nvPr/>
        </p:nvSpPr>
        <p:spPr>
          <a:xfrm>
            <a:off x="6720840" y="1170432"/>
            <a:ext cx="54864" cy="9144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DC5A40-6FF6-6246-DAA7-5D6E53D1FF32}"/>
              </a:ext>
            </a:extLst>
          </p:cNvPr>
          <p:cNvSpPr txBox="1"/>
          <p:nvPr/>
        </p:nvSpPr>
        <p:spPr>
          <a:xfrm>
            <a:off x="6903720" y="1280160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Active / Expired Subscriptions</a:t>
            </a:r>
          </a:p>
          <a:p>
            <a:pPr>
              <a:defRPr sz="2000" b="1">
                <a:solidFill>
                  <a:srgbClr val="7E62BE"/>
                </a:solidFill>
                <a:latin typeface="Poppins"/>
              </a:defRPr>
            </a:pPr>
            <a:r>
              <a:t>273 / 2,727</a:t>
            </a:r>
          </a:p>
          <a:p>
            <a:pPr>
              <a:defRPr sz="850">
                <a:solidFill>
                  <a:srgbClr val="6E7D8D"/>
                </a:solidFill>
                <a:latin typeface="Aptos"/>
              </a:defRPr>
            </a:pPr>
            <a:r>
              <a:t>94 expiring in next 30 days</a:t>
            </a:r>
          </a:p>
        </p:txBody>
      </p:sp>
      <p:sp>
        <p:nvSpPr>
          <p:cNvPr id="53" name="Rounded Rectangle 14">
            <a:extLst>
              <a:ext uri="{FF2B5EF4-FFF2-40B4-BE49-F238E27FC236}">
                <a16:creationId xmlns:a16="http://schemas.microsoft.com/office/drawing/2014/main" id="{13E4175A-A143-1121-DE6A-C3413098CED9}"/>
              </a:ext>
            </a:extLst>
          </p:cNvPr>
          <p:cNvSpPr/>
          <p:nvPr/>
        </p:nvSpPr>
        <p:spPr>
          <a:xfrm>
            <a:off x="685800" y="2359152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FF20D00-6908-EB45-837C-D470487D50C5}"/>
              </a:ext>
            </a:extLst>
          </p:cNvPr>
          <p:cNvSpPr/>
          <p:nvPr/>
        </p:nvSpPr>
        <p:spPr>
          <a:xfrm>
            <a:off x="685800" y="2359152"/>
            <a:ext cx="54864" cy="16002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BA904D-053F-637A-8DB7-806CC89F8BD3}"/>
              </a:ext>
            </a:extLst>
          </p:cNvPr>
          <p:cNvSpPr txBox="1"/>
          <p:nvPr/>
        </p:nvSpPr>
        <p:spPr>
          <a:xfrm>
            <a:off x="868680" y="2441448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Package Subscription Volume — Bar</a:t>
            </a:r>
          </a:p>
        </p:txBody>
      </p:sp>
      <p:pic>
        <p:nvPicPr>
          <p:cNvPr id="59" name="Picture 58" descr="s14_volume.png">
            <a:extLst>
              <a:ext uri="{FF2B5EF4-FFF2-40B4-BE49-F238E27FC236}">
                <a16:creationId xmlns:a16="http://schemas.microsoft.com/office/drawing/2014/main" id="{20CDC695-9638-638D-A0E8-EE9EA1CEB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679192"/>
            <a:ext cx="4855464" cy="1216152"/>
          </a:xfrm>
          <a:prstGeom prst="rect">
            <a:avLst/>
          </a:prstGeom>
        </p:spPr>
      </p:pic>
      <p:sp>
        <p:nvSpPr>
          <p:cNvPr id="61" name="Rounded Rectangle 18">
            <a:extLst>
              <a:ext uri="{FF2B5EF4-FFF2-40B4-BE49-F238E27FC236}">
                <a16:creationId xmlns:a16="http://schemas.microsoft.com/office/drawing/2014/main" id="{1D58E10F-907F-F026-BF26-5D66540B2AAE}"/>
              </a:ext>
            </a:extLst>
          </p:cNvPr>
          <p:cNvSpPr/>
          <p:nvPr/>
        </p:nvSpPr>
        <p:spPr>
          <a:xfrm>
            <a:off x="6172200" y="2359152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0DBA661-B2AF-1491-24C1-7DDDB2D0A96D}"/>
              </a:ext>
            </a:extLst>
          </p:cNvPr>
          <p:cNvSpPr/>
          <p:nvPr/>
        </p:nvSpPr>
        <p:spPr>
          <a:xfrm>
            <a:off x="6172200" y="2359152"/>
            <a:ext cx="54864" cy="16002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AA4EB43-934D-14A8-31FD-89DA045FCF83}"/>
              </a:ext>
            </a:extLst>
          </p:cNvPr>
          <p:cNvSpPr txBox="1"/>
          <p:nvPr/>
        </p:nvSpPr>
        <p:spPr>
          <a:xfrm>
            <a:off x="6355080" y="2441448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Payment Status Distribution — Donut</a:t>
            </a:r>
          </a:p>
        </p:txBody>
      </p:sp>
      <p:pic>
        <p:nvPicPr>
          <p:cNvPr id="67" name="Picture 66" descr="s14_status.png">
            <a:extLst>
              <a:ext uri="{FF2B5EF4-FFF2-40B4-BE49-F238E27FC236}">
                <a16:creationId xmlns:a16="http://schemas.microsoft.com/office/drawing/2014/main" id="{71787943-047A-794C-E092-07CB94D45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679192"/>
            <a:ext cx="4855464" cy="1216152"/>
          </a:xfrm>
          <a:prstGeom prst="rect">
            <a:avLst/>
          </a:prstGeom>
        </p:spPr>
      </p:pic>
      <p:sp>
        <p:nvSpPr>
          <p:cNvPr id="69" name="Rounded Rectangle 22">
            <a:extLst>
              <a:ext uri="{FF2B5EF4-FFF2-40B4-BE49-F238E27FC236}">
                <a16:creationId xmlns:a16="http://schemas.microsoft.com/office/drawing/2014/main" id="{40265AC2-05E0-0C8E-4957-3AB77E63DA75}"/>
              </a:ext>
            </a:extLst>
          </p:cNvPr>
          <p:cNvSpPr/>
          <p:nvPr/>
        </p:nvSpPr>
        <p:spPr>
          <a:xfrm>
            <a:off x="685800" y="41605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59AA8A4-DC41-D6F1-A7AB-21BADF0DD36B}"/>
              </a:ext>
            </a:extLst>
          </p:cNvPr>
          <p:cNvSpPr/>
          <p:nvPr/>
        </p:nvSpPr>
        <p:spPr>
          <a:xfrm>
            <a:off x="685800" y="4160520"/>
            <a:ext cx="54864" cy="16002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EA2DE75-211F-DBBF-49BF-589BA578DBAC}"/>
              </a:ext>
            </a:extLst>
          </p:cNvPr>
          <p:cNvSpPr txBox="1"/>
          <p:nvPr/>
        </p:nvSpPr>
        <p:spPr>
          <a:xfrm>
            <a:off x="868680" y="4242816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Top Health Packages — Bar</a:t>
            </a:r>
          </a:p>
        </p:txBody>
      </p:sp>
      <p:pic>
        <p:nvPicPr>
          <p:cNvPr id="75" name="Picture 74" descr="s14_packages.png">
            <a:extLst>
              <a:ext uri="{FF2B5EF4-FFF2-40B4-BE49-F238E27FC236}">
                <a16:creationId xmlns:a16="http://schemas.microsoft.com/office/drawing/2014/main" id="{8C4D783F-A4AD-9BD9-A31E-53E196D6B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480559"/>
            <a:ext cx="4855464" cy="1216152"/>
          </a:xfrm>
          <a:prstGeom prst="rect">
            <a:avLst/>
          </a:prstGeom>
        </p:spPr>
      </p:pic>
      <p:sp>
        <p:nvSpPr>
          <p:cNvPr id="77" name="Rounded Rectangle 26">
            <a:extLst>
              <a:ext uri="{FF2B5EF4-FFF2-40B4-BE49-F238E27FC236}">
                <a16:creationId xmlns:a16="http://schemas.microsoft.com/office/drawing/2014/main" id="{DE2091C5-AF77-B042-C222-B6742AC6F345}"/>
              </a:ext>
            </a:extLst>
          </p:cNvPr>
          <p:cNvSpPr/>
          <p:nvPr/>
        </p:nvSpPr>
        <p:spPr>
          <a:xfrm>
            <a:off x="6172200" y="41605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024A328-8690-C34C-566B-48F8B1401E0C}"/>
              </a:ext>
            </a:extLst>
          </p:cNvPr>
          <p:cNvSpPr/>
          <p:nvPr/>
        </p:nvSpPr>
        <p:spPr>
          <a:xfrm>
            <a:off x="6172200" y="4160520"/>
            <a:ext cx="54864" cy="16002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99545D0-3EA9-F972-D08B-49CDC8972A74}"/>
              </a:ext>
            </a:extLst>
          </p:cNvPr>
          <p:cNvSpPr txBox="1"/>
          <p:nvPr/>
        </p:nvSpPr>
        <p:spPr>
          <a:xfrm>
            <a:off x="6355080" y="4251959"/>
            <a:ext cx="4800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Expiring Subscriptions — Next 30 Days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1BE145F-0561-AFAD-3E07-A0064BAC7238}"/>
              </a:ext>
            </a:extLst>
          </p:cNvPr>
          <p:cNvSpPr txBox="1"/>
          <p:nvPr/>
        </p:nvSpPr>
        <p:spPr>
          <a:xfrm>
            <a:off x="6355080" y="4572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Expiring subscriptions  |  94</a:t>
            </a:r>
          </a:p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Paid  |  2549</a:t>
            </a:r>
          </a:p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Pending  |  316</a:t>
            </a:r>
          </a:p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Refunded  |  135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3272C98-0E5A-B084-596B-99BD22D016D0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11A560-FE13-8153-7CBF-CDBBC2EEA9FE}"/>
              </a:ext>
            </a:extLst>
          </p:cNvPr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384B"/>
                </a:solidFill>
                <a:latin typeface="Poppins"/>
              </a:defRPr>
            </a:pPr>
            <a:r>
              <a:t>Corporate Healthcare Engagement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B29883-20B2-4333-594A-BDD144F24098}"/>
              </a:ext>
            </a:extLst>
          </p:cNvPr>
          <p:cNvSpPr txBox="1"/>
          <p:nvPr/>
        </p:nvSpPr>
        <p:spPr>
          <a:xfrm>
            <a:off x="658368" y="644652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D8D"/>
                </a:solidFill>
                <a:latin typeface="Aptos"/>
              </a:defRPr>
            </a:pPr>
            <a:r>
              <a:t>HealthPlus Care  |  Healthcare Analytics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43B694-6D69-FBA0-9F32-A023E34B15D3}"/>
              </a:ext>
            </a:extLst>
          </p:cNvPr>
          <p:cNvSpPr txBox="1"/>
          <p:nvPr/>
        </p:nvSpPr>
        <p:spPr>
          <a:xfrm>
            <a:off x="61264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D8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29" name="Rounded Rectangle 5">
            <a:extLst>
              <a:ext uri="{FF2B5EF4-FFF2-40B4-BE49-F238E27FC236}">
                <a16:creationId xmlns:a16="http://schemas.microsoft.com/office/drawing/2014/main" id="{29A9A5DE-8160-355E-5CF0-1DA8FDAB6FBA}"/>
              </a:ext>
            </a:extLst>
          </p:cNvPr>
          <p:cNvSpPr/>
          <p:nvPr/>
        </p:nvSpPr>
        <p:spPr>
          <a:xfrm>
            <a:off x="594360" y="1170432"/>
            <a:ext cx="288036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149291-8F67-D01A-1B03-487F753B951B}"/>
              </a:ext>
            </a:extLst>
          </p:cNvPr>
          <p:cNvSpPr/>
          <p:nvPr/>
        </p:nvSpPr>
        <p:spPr>
          <a:xfrm>
            <a:off x="594360" y="1170432"/>
            <a:ext cx="54864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E43A06-1DFA-1F75-DED3-D7DE34E8080C}"/>
              </a:ext>
            </a:extLst>
          </p:cNvPr>
          <p:cNvSpPr txBox="1"/>
          <p:nvPr/>
        </p:nvSpPr>
        <p:spPr>
          <a:xfrm>
            <a:off x="777240" y="1280160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Total Corporates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60</a:t>
            </a:r>
          </a:p>
        </p:txBody>
      </p:sp>
      <p:sp>
        <p:nvSpPr>
          <p:cNvPr id="35" name="Rounded Rectangle 8">
            <a:extLst>
              <a:ext uri="{FF2B5EF4-FFF2-40B4-BE49-F238E27FC236}">
                <a16:creationId xmlns:a16="http://schemas.microsoft.com/office/drawing/2014/main" id="{B22226C5-E2B9-10AF-A7D8-122DE0F8646C}"/>
              </a:ext>
            </a:extLst>
          </p:cNvPr>
          <p:cNvSpPr/>
          <p:nvPr/>
        </p:nvSpPr>
        <p:spPr>
          <a:xfrm>
            <a:off x="3657600" y="1170432"/>
            <a:ext cx="288036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4BB0583-55BC-3EE6-E521-1B4318E8C8D0}"/>
              </a:ext>
            </a:extLst>
          </p:cNvPr>
          <p:cNvSpPr/>
          <p:nvPr/>
        </p:nvSpPr>
        <p:spPr>
          <a:xfrm>
            <a:off x="3657600" y="1170432"/>
            <a:ext cx="54864" cy="9144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1A0BAC-7EE8-8B27-2CEC-75CB717648EF}"/>
              </a:ext>
            </a:extLst>
          </p:cNvPr>
          <p:cNvSpPr txBox="1"/>
          <p:nvPr/>
        </p:nvSpPr>
        <p:spPr>
          <a:xfrm>
            <a:off x="3840480" y="1280160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Total Corporate Members</a:t>
            </a:r>
          </a:p>
          <a:p>
            <a:pPr>
              <a:defRPr sz="2200" b="1">
                <a:solidFill>
                  <a:srgbClr val="36AAA4"/>
                </a:solidFill>
                <a:latin typeface="Poppins"/>
              </a:defRPr>
            </a:pPr>
            <a:r>
              <a:t>615</a:t>
            </a:r>
          </a:p>
        </p:txBody>
      </p:sp>
      <p:sp>
        <p:nvSpPr>
          <p:cNvPr id="41" name="Rounded Rectangle 11">
            <a:extLst>
              <a:ext uri="{FF2B5EF4-FFF2-40B4-BE49-F238E27FC236}">
                <a16:creationId xmlns:a16="http://schemas.microsoft.com/office/drawing/2014/main" id="{9C5EC7D2-A6C6-6B52-3B5B-A51CCB4F9CF2}"/>
              </a:ext>
            </a:extLst>
          </p:cNvPr>
          <p:cNvSpPr/>
          <p:nvPr/>
        </p:nvSpPr>
        <p:spPr>
          <a:xfrm>
            <a:off x="685800" y="2359152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0E17A3D-BB7C-4D94-5BEA-38857C547F91}"/>
              </a:ext>
            </a:extLst>
          </p:cNvPr>
          <p:cNvSpPr/>
          <p:nvPr/>
        </p:nvSpPr>
        <p:spPr>
          <a:xfrm>
            <a:off x="685800" y="2359152"/>
            <a:ext cx="54864" cy="16002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95AF03-46D5-DC5D-00EA-6AC688FF31E4}"/>
              </a:ext>
            </a:extLst>
          </p:cNvPr>
          <p:cNvSpPr txBox="1"/>
          <p:nvPr/>
        </p:nvSpPr>
        <p:spPr>
          <a:xfrm>
            <a:off x="868680" y="2441448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Corporate Members by Industry — Bar</a:t>
            </a:r>
          </a:p>
        </p:txBody>
      </p:sp>
      <p:pic>
        <p:nvPicPr>
          <p:cNvPr id="47" name="Picture 46" descr="s15_industry.png">
            <a:extLst>
              <a:ext uri="{FF2B5EF4-FFF2-40B4-BE49-F238E27FC236}">
                <a16:creationId xmlns:a16="http://schemas.microsoft.com/office/drawing/2014/main" id="{D77B3024-C951-C9B5-0488-DAA612D71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679192"/>
            <a:ext cx="4855464" cy="1216152"/>
          </a:xfrm>
          <a:prstGeom prst="rect">
            <a:avLst/>
          </a:prstGeom>
        </p:spPr>
      </p:pic>
      <p:sp>
        <p:nvSpPr>
          <p:cNvPr id="49" name="Rounded Rectangle 15">
            <a:extLst>
              <a:ext uri="{FF2B5EF4-FFF2-40B4-BE49-F238E27FC236}">
                <a16:creationId xmlns:a16="http://schemas.microsoft.com/office/drawing/2014/main" id="{140D962C-5DF1-9B76-7B3A-0062BE320339}"/>
              </a:ext>
            </a:extLst>
          </p:cNvPr>
          <p:cNvSpPr/>
          <p:nvPr/>
        </p:nvSpPr>
        <p:spPr>
          <a:xfrm>
            <a:off x="6172200" y="2359152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9A46344-67D9-0A96-ECC1-1DD9ED20CED5}"/>
              </a:ext>
            </a:extLst>
          </p:cNvPr>
          <p:cNvSpPr/>
          <p:nvPr/>
        </p:nvSpPr>
        <p:spPr>
          <a:xfrm>
            <a:off x="6172200" y="2359152"/>
            <a:ext cx="54864" cy="16002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3D97DA-8992-CBBF-AB07-B3FFEE05DC42}"/>
              </a:ext>
            </a:extLst>
          </p:cNvPr>
          <p:cNvSpPr txBox="1"/>
          <p:nvPr/>
        </p:nvSpPr>
        <p:spPr>
          <a:xfrm>
            <a:off x="6355080" y="2441448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Top Corporates by Enrollment — Bar</a:t>
            </a:r>
          </a:p>
        </p:txBody>
      </p:sp>
      <p:pic>
        <p:nvPicPr>
          <p:cNvPr id="55" name="Picture 54" descr="s15_corporates.png">
            <a:extLst>
              <a:ext uri="{FF2B5EF4-FFF2-40B4-BE49-F238E27FC236}">
                <a16:creationId xmlns:a16="http://schemas.microsoft.com/office/drawing/2014/main" id="{D59F0A0C-5DEC-840E-3B09-2BF04E6FD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679192"/>
            <a:ext cx="4855464" cy="1216152"/>
          </a:xfrm>
          <a:prstGeom prst="rect">
            <a:avLst/>
          </a:prstGeom>
        </p:spPr>
      </p:pic>
      <p:sp>
        <p:nvSpPr>
          <p:cNvPr id="57" name="Rounded Rectangle 19">
            <a:extLst>
              <a:ext uri="{FF2B5EF4-FFF2-40B4-BE49-F238E27FC236}">
                <a16:creationId xmlns:a16="http://schemas.microsoft.com/office/drawing/2014/main" id="{6B009171-1AEC-2BE2-A4AE-EB46BB7F0760}"/>
              </a:ext>
            </a:extLst>
          </p:cNvPr>
          <p:cNvSpPr/>
          <p:nvPr/>
        </p:nvSpPr>
        <p:spPr>
          <a:xfrm>
            <a:off x="685800" y="4160520"/>
            <a:ext cx="5074920" cy="16002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C91BADE-1A3E-583C-2051-D14020D55FE3}"/>
              </a:ext>
            </a:extLst>
          </p:cNvPr>
          <p:cNvSpPr/>
          <p:nvPr/>
        </p:nvSpPr>
        <p:spPr>
          <a:xfrm>
            <a:off x="685800" y="4160520"/>
            <a:ext cx="54864" cy="16002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5E40C24-79F7-FE57-BF6B-5D258371F10F}"/>
              </a:ext>
            </a:extLst>
          </p:cNvPr>
          <p:cNvSpPr txBox="1"/>
          <p:nvPr/>
        </p:nvSpPr>
        <p:spPr>
          <a:xfrm>
            <a:off x="868680" y="4270248"/>
            <a:ext cx="4782312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Corporate Participation — KPI</a:t>
            </a:r>
          </a:p>
          <a:p>
            <a:pPr>
              <a:defRPr sz="2800" b="1">
                <a:solidFill>
                  <a:srgbClr val="4A90E2"/>
                </a:solidFill>
                <a:latin typeface="Poppins"/>
              </a:defRPr>
            </a:pPr>
            <a:r>
              <a:t>24.60%</a:t>
            </a:r>
          </a:p>
          <a:p>
            <a:pPr>
              <a:defRPr sz="850">
                <a:solidFill>
                  <a:srgbClr val="6E7D8D"/>
                </a:solidFill>
                <a:latin typeface="Aptos"/>
              </a:defRPr>
            </a:pPr>
            <a:r>
              <a:t>615 corporate members / 2,500 total members</a:t>
            </a:r>
          </a:p>
        </p:txBody>
      </p:sp>
      <p:sp>
        <p:nvSpPr>
          <p:cNvPr id="63" name="Rounded Rectangle 22">
            <a:extLst>
              <a:ext uri="{FF2B5EF4-FFF2-40B4-BE49-F238E27FC236}">
                <a16:creationId xmlns:a16="http://schemas.microsoft.com/office/drawing/2014/main" id="{5C4CD43E-2010-973C-BC3C-D8BD0B97B89C}"/>
              </a:ext>
            </a:extLst>
          </p:cNvPr>
          <p:cNvSpPr/>
          <p:nvPr/>
        </p:nvSpPr>
        <p:spPr>
          <a:xfrm>
            <a:off x="6172200" y="41605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F66C51A-6364-F8E7-A6F7-57A4C0400C5A}"/>
              </a:ext>
            </a:extLst>
          </p:cNvPr>
          <p:cNvSpPr/>
          <p:nvPr/>
        </p:nvSpPr>
        <p:spPr>
          <a:xfrm>
            <a:off x="6172200" y="4160520"/>
            <a:ext cx="54864" cy="16002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B9EF1B5-9FA6-1421-EF67-5A6066A045C2}"/>
              </a:ext>
            </a:extLst>
          </p:cNvPr>
          <p:cNvSpPr txBox="1"/>
          <p:nvPr/>
        </p:nvSpPr>
        <p:spPr>
          <a:xfrm>
            <a:off x="6355080" y="4251959"/>
            <a:ext cx="4800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Leading Corporate Industries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BF1D26B-9AF0-2F77-DD18-206C8EA6B3E5}"/>
              </a:ext>
            </a:extLst>
          </p:cNvPr>
          <p:cNvSpPr txBox="1"/>
          <p:nvPr/>
        </p:nvSpPr>
        <p:spPr>
          <a:xfrm>
            <a:off x="6355080" y="4572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Consulting  |  126</a:t>
            </a:r>
          </a:p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Education  |  108</a:t>
            </a:r>
          </a:p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Telecommunications  |  73</a:t>
            </a:r>
          </a:p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Pharmaceuticals  |  63</a:t>
            </a:r>
          </a:p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Retail  |  60</a:t>
            </a:r>
          </a:p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E-commerce  |  56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9B61F0E-D850-7490-33B0-3D683D579BBB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03977E-20F6-280C-DA78-6E48D7535A1A}"/>
              </a:ext>
            </a:extLst>
          </p:cNvPr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384B"/>
                </a:solidFill>
                <a:latin typeface="Poppins"/>
              </a:defRPr>
            </a:pPr>
            <a:r>
              <a:t>Prescription &amp; Laboratory Analytics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D14910-02D1-1F66-2152-FB46F41C8B79}"/>
              </a:ext>
            </a:extLst>
          </p:cNvPr>
          <p:cNvSpPr txBox="1"/>
          <p:nvPr/>
        </p:nvSpPr>
        <p:spPr>
          <a:xfrm>
            <a:off x="658368" y="644652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D8D"/>
                </a:solidFill>
                <a:latin typeface="Aptos"/>
              </a:defRPr>
            </a:pPr>
            <a:r>
              <a:t>HealthPlus Care  |  Healthcare Analytics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B4E01F-35EB-032F-5371-8473E66F94B4}"/>
              </a:ext>
            </a:extLst>
          </p:cNvPr>
          <p:cNvSpPr txBox="1"/>
          <p:nvPr/>
        </p:nvSpPr>
        <p:spPr>
          <a:xfrm>
            <a:off x="61264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D8D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35" name="Rounded Rectangle 5">
            <a:extLst>
              <a:ext uri="{FF2B5EF4-FFF2-40B4-BE49-F238E27FC236}">
                <a16:creationId xmlns:a16="http://schemas.microsoft.com/office/drawing/2014/main" id="{768A9C0A-5ADF-B9F8-A042-93AF18D04862}"/>
              </a:ext>
            </a:extLst>
          </p:cNvPr>
          <p:cNvSpPr/>
          <p:nvPr/>
        </p:nvSpPr>
        <p:spPr>
          <a:xfrm>
            <a:off x="594360" y="1170432"/>
            <a:ext cx="288036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5742EE3-C140-EDCB-2C6E-DBA9657015C8}"/>
              </a:ext>
            </a:extLst>
          </p:cNvPr>
          <p:cNvSpPr/>
          <p:nvPr/>
        </p:nvSpPr>
        <p:spPr>
          <a:xfrm>
            <a:off x="594360" y="1170432"/>
            <a:ext cx="54864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0DE7FC-58CA-87BB-FCD8-7249507EFABA}"/>
              </a:ext>
            </a:extLst>
          </p:cNvPr>
          <p:cNvSpPr txBox="1"/>
          <p:nvPr/>
        </p:nvSpPr>
        <p:spPr>
          <a:xfrm>
            <a:off x="777240" y="1280160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Total Lab Tests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3,500</a:t>
            </a:r>
          </a:p>
        </p:txBody>
      </p:sp>
      <p:sp>
        <p:nvSpPr>
          <p:cNvPr id="41" name="Rounded Rectangle 8">
            <a:extLst>
              <a:ext uri="{FF2B5EF4-FFF2-40B4-BE49-F238E27FC236}">
                <a16:creationId xmlns:a16="http://schemas.microsoft.com/office/drawing/2014/main" id="{F9501AD1-EFCD-CBEA-EB4B-E7C8231CE052}"/>
              </a:ext>
            </a:extLst>
          </p:cNvPr>
          <p:cNvSpPr/>
          <p:nvPr/>
        </p:nvSpPr>
        <p:spPr>
          <a:xfrm>
            <a:off x="3657600" y="1170432"/>
            <a:ext cx="288036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03A9B93-5782-D929-23EB-ADD86BACF936}"/>
              </a:ext>
            </a:extLst>
          </p:cNvPr>
          <p:cNvSpPr/>
          <p:nvPr/>
        </p:nvSpPr>
        <p:spPr>
          <a:xfrm>
            <a:off x="3657600" y="1170432"/>
            <a:ext cx="54864" cy="9144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0C904D-987A-0333-6980-8FA4B0789BE8}"/>
              </a:ext>
            </a:extLst>
          </p:cNvPr>
          <p:cNvSpPr txBox="1"/>
          <p:nvPr/>
        </p:nvSpPr>
        <p:spPr>
          <a:xfrm>
            <a:off x="3840480" y="1280160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Total Lab Test Cost</a:t>
            </a:r>
          </a:p>
          <a:p>
            <a:pPr>
              <a:defRPr sz="2100" b="1">
                <a:solidFill>
                  <a:srgbClr val="36AAA4"/>
                </a:solidFill>
                <a:latin typeface="Poppins"/>
              </a:defRPr>
            </a:pPr>
            <a:r>
              <a:t>₹8.23M</a:t>
            </a:r>
          </a:p>
          <a:p>
            <a:pPr>
              <a:defRPr sz="850">
                <a:solidFill>
                  <a:srgbClr val="6E7D8D"/>
                </a:solidFill>
                <a:latin typeface="Aptos"/>
              </a:defRPr>
            </a:pPr>
            <a:r>
              <a:t>₹8,225,442.15</a:t>
            </a:r>
          </a:p>
        </p:txBody>
      </p:sp>
      <p:sp>
        <p:nvSpPr>
          <p:cNvPr id="47" name="Rounded Rectangle 11">
            <a:extLst>
              <a:ext uri="{FF2B5EF4-FFF2-40B4-BE49-F238E27FC236}">
                <a16:creationId xmlns:a16="http://schemas.microsoft.com/office/drawing/2014/main" id="{2BA9B3D6-CAC1-C1EF-6C4A-495121CE9058}"/>
              </a:ext>
            </a:extLst>
          </p:cNvPr>
          <p:cNvSpPr/>
          <p:nvPr/>
        </p:nvSpPr>
        <p:spPr>
          <a:xfrm>
            <a:off x="6720840" y="1170432"/>
            <a:ext cx="288036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B77517C-128E-9099-2BCA-86B57F099684}"/>
              </a:ext>
            </a:extLst>
          </p:cNvPr>
          <p:cNvSpPr/>
          <p:nvPr/>
        </p:nvSpPr>
        <p:spPr>
          <a:xfrm>
            <a:off x="6720840" y="1170432"/>
            <a:ext cx="54864" cy="9144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94126EF-DA3C-E3CE-C8BB-429E5DDC806D}"/>
              </a:ext>
            </a:extLst>
          </p:cNvPr>
          <p:cNvSpPr txBox="1"/>
          <p:nvPr/>
        </p:nvSpPr>
        <p:spPr>
          <a:xfrm>
            <a:off x="6903720" y="1280160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Average Lab Test Cost</a:t>
            </a:r>
          </a:p>
          <a:p>
            <a:pPr>
              <a:defRPr sz="2000" b="1">
                <a:solidFill>
                  <a:srgbClr val="7E62BE"/>
                </a:solidFill>
                <a:latin typeface="Poppins"/>
              </a:defRPr>
            </a:pPr>
            <a:r>
              <a:t>₹2,350.13</a:t>
            </a:r>
          </a:p>
        </p:txBody>
      </p:sp>
      <p:sp>
        <p:nvSpPr>
          <p:cNvPr id="53" name="Rounded Rectangle 14">
            <a:extLst>
              <a:ext uri="{FF2B5EF4-FFF2-40B4-BE49-F238E27FC236}">
                <a16:creationId xmlns:a16="http://schemas.microsoft.com/office/drawing/2014/main" id="{860DAC89-C428-ACBE-DD31-F6A9F44E1269}"/>
              </a:ext>
            </a:extLst>
          </p:cNvPr>
          <p:cNvSpPr/>
          <p:nvPr/>
        </p:nvSpPr>
        <p:spPr>
          <a:xfrm>
            <a:off x="685800" y="2359152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F28EB14-A56B-6B90-2105-F78420320367}"/>
              </a:ext>
            </a:extLst>
          </p:cNvPr>
          <p:cNvSpPr/>
          <p:nvPr/>
        </p:nvSpPr>
        <p:spPr>
          <a:xfrm>
            <a:off x="685800" y="2359152"/>
            <a:ext cx="54864" cy="16002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2255378-DF4B-6DB4-416E-9F9370BB3398}"/>
              </a:ext>
            </a:extLst>
          </p:cNvPr>
          <p:cNvSpPr txBox="1"/>
          <p:nvPr/>
        </p:nvSpPr>
        <p:spPr>
          <a:xfrm>
            <a:off x="868680" y="2441448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Most Prescribed Medicines — Bar</a:t>
            </a:r>
          </a:p>
        </p:txBody>
      </p:sp>
      <p:pic>
        <p:nvPicPr>
          <p:cNvPr id="59" name="Picture 58" descr="s16_meds.png">
            <a:extLst>
              <a:ext uri="{FF2B5EF4-FFF2-40B4-BE49-F238E27FC236}">
                <a16:creationId xmlns:a16="http://schemas.microsoft.com/office/drawing/2014/main" id="{8CF39D75-67A6-35DE-0366-EE0DCFAE2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679192"/>
            <a:ext cx="4855464" cy="1216152"/>
          </a:xfrm>
          <a:prstGeom prst="rect">
            <a:avLst/>
          </a:prstGeom>
        </p:spPr>
      </p:pic>
      <p:sp>
        <p:nvSpPr>
          <p:cNvPr id="61" name="Rounded Rectangle 18">
            <a:extLst>
              <a:ext uri="{FF2B5EF4-FFF2-40B4-BE49-F238E27FC236}">
                <a16:creationId xmlns:a16="http://schemas.microsoft.com/office/drawing/2014/main" id="{27A512F4-B0F2-6170-41D0-45636755FC83}"/>
              </a:ext>
            </a:extLst>
          </p:cNvPr>
          <p:cNvSpPr/>
          <p:nvPr/>
        </p:nvSpPr>
        <p:spPr>
          <a:xfrm>
            <a:off x="6172200" y="2359152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0BA146F-EB89-EE53-1280-0554990C1DB9}"/>
              </a:ext>
            </a:extLst>
          </p:cNvPr>
          <p:cNvSpPr/>
          <p:nvPr/>
        </p:nvSpPr>
        <p:spPr>
          <a:xfrm>
            <a:off x="6172200" y="2359152"/>
            <a:ext cx="54864" cy="16002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47E3E4B-CD73-7E86-8E9B-138EC45A2C17}"/>
              </a:ext>
            </a:extLst>
          </p:cNvPr>
          <p:cNvSpPr txBox="1"/>
          <p:nvPr/>
        </p:nvSpPr>
        <p:spPr>
          <a:xfrm>
            <a:off x="6355080" y="2441448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Lab Tests by Type — Bar</a:t>
            </a:r>
          </a:p>
        </p:txBody>
      </p:sp>
      <p:pic>
        <p:nvPicPr>
          <p:cNvPr id="67" name="Picture 66" descr="s16_types.png">
            <a:extLst>
              <a:ext uri="{FF2B5EF4-FFF2-40B4-BE49-F238E27FC236}">
                <a16:creationId xmlns:a16="http://schemas.microsoft.com/office/drawing/2014/main" id="{58DF8F80-D335-0128-FD4C-BF08AE359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679192"/>
            <a:ext cx="4855464" cy="1216152"/>
          </a:xfrm>
          <a:prstGeom prst="rect">
            <a:avLst/>
          </a:prstGeom>
        </p:spPr>
      </p:pic>
      <p:sp>
        <p:nvSpPr>
          <p:cNvPr id="69" name="Rounded Rectangle 22">
            <a:extLst>
              <a:ext uri="{FF2B5EF4-FFF2-40B4-BE49-F238E27FC236}">
                <a16:creationId xmlns:a16="http://schemas.microsoft.com/office/drawing/2014/main" id="{3B825D35-B4DF-9AE4-2388-0E2597D02985}"/>
              </a:ext>
            </a:extLst>
          </p:cNvPr>
          <p:cNvSpPr/>
          <p:nvPr/>
        </p:nvSpPr>
        <p:spPr>
          <a:xfrm>
            <a:off x="685800" y="41605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60AEE6A-B81B-E686-AAE1-787E31CA4401}"/>
              </a:ext>
            </a:extLst>
          </p:cNvPr>
          <p:cNvSpPr/>
          <p:nvPr/>
        </p:nvSpPr>
        <p:spPr>
          <a:xfrm>
            <a:off x="685800" y="4160520"/>
            <a:ext cx="54864" cy="16002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61FA6D0-6161-99CD-3AFC-51027183E6A0}"/>
              </a:ext>
            </a:extLst>
          </p:cNvPr>
          <p:cNvSpPr txBox="1"/>
          <p:nvPr/>
        </p:nvSpPr>
        <p:spPr>
          <a:xfrm>
            <a:off x="868680" y="4242816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Lab Workload by Clinic — Bar</a:t>
            </a:r>
          </a:p>
        </p:txBody>
      </p:sp>
      <p:pic>
        <p:nvPicPr>
          <p:cNvPr id="75" name="Picture 74" descr="s16_clinics.png">
            <a:extLst>
              <a:ext uri="{FF2B5EF4-FFF2-40B4-BE49-F238E27FC236}">
                <a16:creationId xmlns:a16="http://schemas.microsoft.com/office/drawing/2014/main" id="{E840B393-CD94-0019-D767-D176D10F1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480559"/>
            <a:ext cx="4855464" cy="1216152"/>
          </a:xfrm>
          <a:prstGeom prst="rect">
            <a:avLst/>
          </a:prstGeom>
        </p:spPr>
      </p:pic>
      <p:sp>
        <p:nvSpPr>
          <p:cNvPr id="77" name="Rounded Rectangle 26">
            <a:extLst>
              <a:ext uri="{FF2B5EF4-FFF2-40B4-BE49-F238E27FC236}">
                <a16:creationId xmlns:a16="http://schemas.microsoft.com/office/drawing/2014/main" id="{0E4481CA-7D4F-1D53-0B89-226FFE458E80}"/>
              </a:ext>
            </a:extLst>
          </p:cNvPr>
          <p:cNvSpPr/>
          <p:nvPr/>
        </p:nvSpPr>
        <p:spPr>
          <a:xfrm>
            <a:off x="6172200" y="41605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DFBE1C8-EE7E-7E2D-3EA6-D5F2211FD94A}"/>
              </a:ext>
            </a:extLst>
          </p:cNvPr>
          <p:cNvSpPr/>
          <p:nvPr/>
        </p:nvSpPr>
        <p:spPr>
          <a:xfrm>
            <a:off x="6172200" y="4160520"/>
            <a:ext cx="54864" cy="16002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C71741B-C7CC-E92E-5721-7B3BC9A9D5EE}"/>
              </a:ext>
            </a:extLst>
          </p:cNvPr>
          <p:cNvSpPr txBox="1"/>
          <p:nvPr/>
        </p:nvSpPr>
        <p:spPr>
          <a:xfrm>
            <a:off x="6355080" y="4242816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Lab Test Cost Distribution — Column</a:t>
            </a:r>
          </a:p>
        </p:txBody>
      </p:sp>
      <p:pic>
        <p:nvPicPr>
          <p:cNvPr id="83" name="Picture 82" descr="s16_cost.png">
            <a:extLst>
              <a:ext uri="{FF2B5EF4-FFF2-40B4-BE49-F238E27FC236}">
                <a16:creationId xmlns:a16="http://schemas.microsoft.com/office/drawing/2014/main" id="{C6A2521F-E032-6945-A42E-9518E92C41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4480559"/>
            <a:ext cx="4855464" cy="12161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5108339-4669-38A5-B6C1-9B9C0237B0C7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D1BDE6-E7FA-FB7D-439C-8A28E0C0BB43}"/>
              </a:ext>
            </a:extLst>
          </p:cNvPr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384B"/>
                </a:solidFill>
                <a:latin typeface="Poppins"/>
              </a:defRPr>
            </a:pPr>
            <a:r>
              <a:t>Insurance Claims Analytics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682894-0C9F-4F9A-B46E-19490933E8C3}"/>
              </a:ext>
            </a:extLst>
          </p:cNvPr>
          <p:cNvSpPr txBox="1"/>
          <p:nvPr/>
        </p:nvSpPr>
        <p:spPr>
          <a:xfrm>
            <a:off x="658368" y="644652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D8D"/>
                </a:solidFill>
                <a:latin typeface="Aptos"/>
              </a:defRPr>
            </a:pPr>
            <a:r>
              <a:t>HealthPlus Care  |  Healthcare Analytics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111BBF-705C-A574-96AE-69604F6D9D8F}"/>
              </a:ext>
            </a:extLst>
          </p:cNvPr>
          <p:cNvSpPr txBox="1"/>
          <p:nvPr/>
        </p:nvSpPr>
        <p:spPr>
          <a:xfrm>
            <a:off x="61264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D8D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29" name="Rounded Rectangle 5">
            <a:extLst>
              <a:ext uri="{FF2B5EF4-FFF2-40B4-BE49-F238E27FC236}">
                <a16:creationId xmlns:a16="http://schemas.microsoft.com/office/drawing/2014/main" id="{CAFA4EEF-EFEC-C37D-FF0F-2D607CFC6D22}"/>
              </a:ext>
            </a:extLst>
          </p:cNvPr>
          <p:cNvSpPr/>
          <p:nvPr/>
        </p:nvSpPr>
        <p:spPr>
          <a:xfrm>
            <a:off x="594360" y="1170432"/>
            <a:ext cx="288036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EEB2CB-6FBF-70E1-6DA1-F15F9AD74D4F}"/>
              </a:ext>
            </a:extLst>
          </p:cNvPr>
          <p:cNvSpPr/>
          <p:nvPr/>
        </p:nvSpPr>
        <p:spPr>
          <a:xfrm>
            <a:off x="594360" y="1170432"/>
            <a:ext cx="54864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55C65CC-F316-0A67-214C-C9851BD37765}"/>
              </a:ext>
            </a:extLst>
          </p:cNvPr>
          <p:cNvSpPr txBox="1"/>
          <p:nvPr/>
        </p:nvSpPr>
        <p:spPr>
          <a:xfrm>
            <a:off x="777240" y="1280160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Total Claim Amount</a:t>
            </a:r>
          </a:p>
          <a:p>
            <a:pPr>
              <a:defRPr sz="2100" b="1">
                <a:solidFill>
                  <a:srgbClr val="4A90E2"/>
                </a:solidFill>
                <a:latin typeface="Poppins"/>
              </a:defRPr>
            </a:pPr>
            <a:r>
              <a:t>₹14.24M</a:t>
            </a:r>
          </a:p>
          <a:p>
            <a:pPr>
              <a:defRPr sz="850">
                <a:solidFill>
                  <a:srgbClr val="6E7D8D"/>
                </a:solidFill>
                <a:latin typeface="Aptos"/>
              </a:defRPr>
            </a:pPr>
            <a:r>
              <a:t>₹14,242,052.26</a:t>
            </a:r>
          </a:p>
        </p:txBody>
      </p:sp>
      <p:sp>
        <p:nvSpPr>
          <p:cNvPr id="35" name="Rounded Rectangle 8">
            <a:extLst>
              <a:ext uri="{FF2B5EF4-FFF2-40B4-BE49-F238E27FC236}">
                <a16:creationId xmlns:a16="http://schemas.microsoft.com/office/drawing/2014/main" id="{8650A0FC-7023-B501-483A-75A37B5DDF51}"/>
              </a:ext>
            </a:extLst>
          </p:cNvPr>
          <p:cNvSpPr/>
          <p:nvPr/>
        </p:nvSpPr>
        <p:spPr>
          <a:xfrm>
            <a:off x="3657600" y="1170432"/>
            <a:ext cx="288036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0734D2-3FD6-412B-3DB0-D0FAAC2A90F9}"/>
              </a:ext>
            </a:extLst>
          </p:cNvPr>
          <p:cNvSpPr/>
          <p:nvPr/>
        </p:nvSpPr>
        <p:spPr>
          <a:xfrm>
            <a:off x="3657600" y="1170432"/>
            <a:ext cx="54864" cy="9144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05A2D4-F493-B8C7-80B6-0D4FE8FEE93D}"/>
              </a:ext>
            </a:extLst>
          </p:cNvPr>
          <p:cNvSpPr txBox="1"/>
          <p:nvPr/>
        </p:nvSpPr>
        <p:spPr>
          <a:xfrm>
            <a:off x="3840480" y="1280160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Approved Claim Amount</a:t>
            </a:r>
          </a:p>
          <a:p>
            <a:pPr>
              <a:defRPr sz="2100" b="1">
                <a:solidFill>
                  <a:srgbClr val="36AAA4"/>
                </a:solidFill>
                <a:latin typeface="Poppins"/>
              </a:defRPr>
            </a:pPr>
            <a:r>
              <a:t>₹4.98M</a:t>
            </a:r>
          </a:p>
          <a:p>
            <a:pPr>
              <a:defRPr sz="850">
                <a:solidFill>
                  <a:srgbClr val="6E7D8D"/>
                </a:solidFill>
                <a:latin typeface="Aptos"/>
              </a:defRPr>
            </a:pPr>
            <a:r>
              <a:t>₹4,983,465.96</a:t>
            </a:r>
          </a:p>
        </p:txBody>
      </p:sp>
      <p:sp>
        <p:nvSpPr>
          <p:cNvPr id="41" name="Rounded Rectangle 11">
            <a:extLst>
              <a:ext uri="{FF2B5EF4-FFF2-40B4-BE49-F238E27FC236}">
                <a16:creationId xmlns:a16="http://schemas.microsoft.com/office/drawing/2014/main" id="{07D32104-DAF6-0A56-1922-926EF50F6394}"/>
              </a:ext>
            </a:extLst>
          </p:cNvPr>
          <p:cNvSpPr/>
          <p:nvPr/>
        </p:nvSpPr>
        <p:spPr>
          <a:xfrm>
            <a:off x="685800" y="2359152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AF0BFA6-84DF-45EE-BE05-0A04DC5B341A}"/>
              </a:ext>
            </a:extLst>
          </p:cNvPr>
          <p:cNvSpPr/>
          <p:nvPr/>
        </p:nvSpPr>
        <p:spPr>
          <a:xfrm>
            <a:off x="685800" y="2359152"/>
            <a:ext cx="54864" cy="16002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AA59F77-8A57-A6A7-A20F-31F31D8D3FEF}"/>
              </a:ext>
            </a:extLst>
          </p:cNvPr>
          <p:cNvSpPr txBox="1"/>
          <p:nvPr/>
        </p:nvSpPr>
        <p:spPr>
          <a:xfrm>
            <a:off x="868680" y="2441448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Claim Status Distribution — Donut</a:t>
            </a:r>
          </a:p>
        </p:txBody>
      </p:sp>
      <p:pic>
        <p:nvPicPr>
          <p:cNvPr id="47" name="Picture 46" descr="s17_status.png">
            <a:extLst>
              <a:ext uri="{FF2B5EF4-FFF2-40B4-BE49-F238E27FC236}">
                <a16:creationId xmlns:a16="http://schemas.microsoft.com/office/drawing/2014/main" id="{663248DF-E3FB-3441-9BEA-D6713AE7F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679192"/>
            <a:ext cx="4855464" cy="1216152"/>
          </a:xfrm>
          <a:prstGeom prst="rect">
            <a:avLst/>
          </a:prstGeom>
        </p:spPr>
      </p:pic>
      <p:sp>
        <p:nvSpPr>
          <p:cNvPr id="49" name="Rounded Rectangle 15">
            <a:extLst>
              <a:ext uri="{FF2B5EF4-FFF2-40B4-BE49-F238E27FC236}">
                <a16:creationId xmlns:a16="http://schemas.microsoft.com/office/drawing/2014/main" id="{48935639-69E3-B3D2-279C-27764F0A9B3C}"/>
              </a:ext>
            </a:extLst>
          </p:cNvPr>
          <p:cNvSpPr/>
          <p:nvPr/>
        </p:nvSpPr>
        <p:spPr>
          <a:xfrm>
            <a:off x="6172200" y="2359152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93D0139-805F-40F2-8C56-19306C5B8271}"/>
              </a:ext>
            </a:extLst>
          </p:cNvPr>
          <p:cNvSpPr/>
          <p:nvPr/>
        </p:nvSpPr>
        <p:spPr>
          <a:xfrm>
            <a:off x="6172200" y="2359152"/>
            <a:ext cx="54864" cy="16002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16CDF7-6A00-7DD6-4CE8-9A2DAC70A96F}"/>
              </a:ext>
            </a:extLst>
          </p:cNvPr>
          <p:cNvSpPr txBox="1"/>
          <p:nvPr/>
        </p:nvSpPr>
        <p:spPr>
          <a:xfrm>
            <a:off x="6355080" y="2441448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Claim Amount by Insurance Provider — Bar</a:t>
            </a:r>
          </a:p>
        </p:txBody>
      </p:sp>
      <p:pic>
        <p:nvPicPr>
          <p:cNvPr id="55" name="Picture 54" descr="s17_provider.png">
            <a:extLst>
              <a:ext uri="{FF2B5EF4-FFF2-40B4-BE49-F238E27FC236}">
                <a16:creationId xmlns:a16="http://schemas.microsoft.com/office/drawing/2014/main" id="{8BAE1C0A-9F13-7F1A-349F-52C9932FB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679192"/>
            <a:ext cx="4855464" cy="1216152"/>
          </a:xfrm>
          <a:prstGeom prst="rect">
            <a:avLst/>
          </a:prstGeom>
        </p:spPr>
      </p:pic>
      <p:sp>
        <p:nvSpPr>
          <p:cNvPr id="57" name="Rounded Rectangle 19">
            <a:extLst>
              <a:ext uri="{FF2B5EF4-FFF2-40B4-BE49-F238E27FC236}">
                <a16:creationId xmlns:a16="http://schemas.microsoft.com/office/drawing/2014/main" id="{4996DF7A-BCC6-CA3A-EA9C-4CC4064B7A14}"/>
              </a:ext>
            </a:extLst>
          </p:cNvPr>
          <p:cNvSpPr/>
          <p:nvPr/>
        </p:nvSpPr>
        <p:spPr>
          <a:xfrm>
            <a:off x="685800" y="41605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A7956E4-F2BC-944B-F7F1-190D3FBC6DBD}"/>
              </a:ext>
            </a:extLst>
          </p:cNvPr>
          <p:cNvSpPr/>
          <p:nvPr/>
        </p:nvSpPr>
        <p:spPr>
          <a:xfrm>
            <a:off x="685800" y="4160520"/>
            <a:ext cx="54864" cy="16002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041D4E-891D-DE80-10F6-61109CA02843}"/>
              </a:ext>
            </a:extLst>
          </p:cNvPr>
          <p:cNvSpPr txBox="1"/>
          <p:nvPr/>
        </p:nvSpPr>
        <p:spPr>
          <a:xfrm>
            <a:off x="868680" y="4242816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Approved vs Rejected vs Pending — Column</a:t>
            </a:r>
          </a:p>
        </p:txBody>
      </p:sp>
      <p:pic>
        <p:nvPicPr>
          <p:cNvPr id="63" name="Picture 62" descr="s17_amount_status.png">
            <a:extLst>
              <a:ext uri="{FF2B5EF4-FFF2-40B4-BE49-F238E27FC236}">
                <a16:creationId xmlns:a16="http://schemas.microsoft.com/office/drawing/2014/main" id="{A4E91882-ED5A-1123-C10E-EFEF920D8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480559"/>
            <a:ext cx="4855464" cy="1216152"/>
          </a:xfrm>
          <a:prstGeom prst="rect">
            <a:avLst/>
          </a:prstGeom>
        </p:spPr>
      </p:pic>
      <p:sp>
        <p:nvSpPr>
          <p:cNvPr id="65" name="Rounded Rectangle 23">
            <a:extLst>
              <a:ext uri="{FF2B5EF4-FFF2-40B4-BE49-F238E27FC236}">
                <a16:creationId xmlns:a16="http://schemas.microsoft.com/office/drawing/2014/main" id="{712C3FDF-9B7C-73CB-2C98-90B1D9F538D8}"/>
              </a:ext>
            </a:extLst>
          </p:cNvPr>
          <p:cNvSpPr/>
          <p:nvPr/>
        </p:nvSpPr>
        <p:spPr>
          <a:xfrm>
            <a:off x="6172200" y="41605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E969AEF-969A-F87D-E246-6EB19DACAB37}"/>
              </a:ext>
            </a:extLst>
          </p:cNvPr>
          <p:cNvSpPr/>
          <p:nvPr/>
        </p:nvSpPr>
        <p:spPr>
          <a:xfrm>
            <a:off x="6172200" y="4160520"/>
            <a:ext cx="54864" cy="16002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B1CE0A2-60B1-C05B-42AA-EFC519AEB688}"/>
              </a:ext>
            </a:extLst>
          </p:cNvPr>
          <p:cNvSpPr txBox="1"/>
          <p:nvPr/>
        </p:nvSpPr>
        <p:spPr>
          <a:xfrm>
            <a:off x="6355080" y="4251959"/>
            <a:ext cx="4800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Claim Count by Status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15A63F0-973B-13FA-9475-691FD9609A40}"/>
              </a:ext>
            </a:extLst>
          </p:cNvPr>
          <p:cNvSpPr txBox="1"/>
          <p:nvPr/>
        </p:nvSpPr>
        <p:spPr>
          <a:xfrm>
            <a:off x="6355080" y="4572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Approved  |  616</a:t>
            </a:r>
          </a:p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Settled  |  547</a:t>
            </a:r>
          </a:p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Pending  |  471</a:t>
            </a:r>
          </a:p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Rejected  |  166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EA3FF599-9706-9E63-51BE-76E78FD4813D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7D5351-62AE-0CD1-CC6B-BB0F5705FEB7}"/>
              </a:ext>
            </a:extLst>
          </p:cNvPr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384B"/>
                </a:solidFill>
                <a:latin typeface="Poppins"/>
              </a:defRPr>
            </a:pPr>
            <a:r>
              <a:t>Financial Performance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F83ABF-F5F5-BB0F-D1E5-5B1409AD189C}"/>
              </a:ext>
            </a:extLst>
          </p:cNvPr>
          <p:cNvSpPr txBox="1"/>
          <p:nvPr/>
        </p:nvSpPr>
        <p:spPr>
          <a:xfrm>
            <a:off x="658368" y="644652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D8D"/>
                </a:solidFill>
                <a:latin typeface="Aptos"/>
              </a:defRPr>
            </a:pPr>
            <a:r>
              <a:t>HealthPlus Care  |  Healthcare Analytics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D5C6B8-CE2A-08E7-8641-67D2DEEDB35A}"/>
              </a:ext>
            </a:extLst>
          </p:cNvPr>
          <p:cNvSpPr txBox="1"/>
          <p:nvPr/>
        </p:nvSpPr>
        <p:spPr>
          <a:xfrm>
            <a:off x="61264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D8D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41" name="Rounded Rectangle 5">
            <a:extLst>
              <a:ext uri="{FF2B5EF4-FFF2-40B4-BE49-F238E27FC236}">
                <a16:creationId xmlns:a16="http://schemas.microsoft.com/office/drawing/2014/main" id="{7D9430B5-BBC7-0372-8E4B-23FFAE303CDB}"/>
              </a:ext>
            </a:extLst>
          </p:cNvPr>
          <p:cNvSpPr/>
          <p:nvPr/>
        </p:nvSpPr>
        <p:spPr>
          <a:xfrm>
            <a:off x="548640" y="1078992"/>
            <a:ext cx="274320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3C00467-04EF-0AF9-E4EA-0E629AE4E0D6}"/>
              </a:ext>
            </a:extLst>
          </p:cNvPr>
          <p:cNvSpPr/>
          <p:nvPr/>
        </p:nvSpPr>
        <p:spPr>
          <a:xfrm>
            <a:off x="548640" y="1078992"/>
            <a:ext cx="54864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E38D8F-14EB-31F1-1FE9-E694D49C05D4}"/>
              </a:ext>
            </a:extLst>
          </p:cNvPr>
          <p:cNvSpPr txBox="1"/>
          <p:nvPr/>
        </p:nvSpPr>
        <p:spPr>
          <a:xfrm>
            <a:off x="731520" y="1188719"/>
            <a:ext cx="245059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Total Billed Amount</a:t>
            </a:r>
          </a:p>
          <a:p>
            <a:pPr>
              <a:defRPr sz="2100" b="1">
                <a:solidFill>
                  <a:srgbClr val="4A90E2"/>
                </a:solidFill>
                <a:latin typeface="Poppins"/>
              </a:defRPr>
            </a:pPr>
            <a:r>
              <a:t>₹18.69M</a:t>
            </a:r>
          </a:p>
        </p:txBody>
      </p:sp>
      <p:sp>
        <p:nvSpPr>
          <p:cNvPr id="47" name="Rounded Rectangle 8">
            <a:extLst>
              <a:ext uri="{FF2B5EF4-FFF2-40B4-BE49-F238E27FC236}">
                <a16:creationId xmlns:a16="http://schemas.microsoft.com/office/drawing/2014/main" id="{C5E7A070-FC7C-6EA3-A50D-725455C32D86}"/>
              </a:ext>
            </a:extLst>
          </p:cNvPr>
          <p:cNvSpPr/>
          <p:nvPr/>
        </p:nvSpPr>
        <p:spPr>
          <a:xfrm>
            <a:off x="3429000" y="1078992"/>
            <a:ext cx="274320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06171B0-CB36-82FA-77BE-B28EF5862324}"/>
              </a:ext>
            </a:extLst>
          </p:cNvPr>
          <p:cNvSpPr/>
          <p:nvPr/>
        </p:nvSpPr>
        <p:spPr>
          <a:xfrm>
            <a:off x="3429000" y="1078992"/>
            <a:ext cx="54864" cy="9144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1D7C6A-D839-DEA2-81E6-65B981E83D52}"/>
              </a:ext>
            </a:extLst>
          </p:cNvPr>
          <p:cNvSpPr txBox="1"/>
          <p:nvPr/>
        </p:nvSpPr>
        <p:spPr>
          <a:xfrm>
            <a:off x="3611880" y="1188719"/>
            <a:ext cx="245059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Total Successful Payment</a:t>
            </a:r>
          </a:p>
          <a:p>
            <a:pPr>
              <a:defRPr sz="2100" b="1">
                <a:solidFill>
                  <a:srgbClr val="36AAA4"/>
                </a:solidFill>
                <a:latin typeface="Poppins"/>
              </a:defRPr>
            </a:pPr>
            <a:r>
              <a:t>₹16.90M</a:t>
            </a:r>
          </a:p>
        </p:txBody>
      </p:sp>
      <p:sp>
        <p:nvSpPr>
          <p:cNvPr id="53" name="Rounded Rectangle 11">
            <a:extLst>
              <a:ext uri="{FF2B5EF4-FFF2-40B4-BE49-F238E27FC236}">
                <a16:creationId xmlns:a16="http://schemas.microsoft.com/office/drawing/2014/main" id="{2A6C5964-9C8B-D6AD-A89B-793734E69D87}"/>
              </a:ext>
            </a:extLst>
          </p:cNvPr>
          <p:cNvSpPr/>
          <p:nvPr/>
        </p:nvSpPr>
        <p:spPr>
          <a:xfrm>
            <a:off x="6309360" y="1078992"/>
            <a:ext cx="274320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E01C7AB-A6E0-440A-F49F-DB0E84F47DDE}"/>
              </a:ext>
            </a:extLst>
          </p:cNvPr>
          <p:cNvSpPr/>
          <p:nvPr/>
        </p:nvSpPr>
        <p:spPr>
          <a:xfrm>
            <a:off x="6309360" y="1078992"/>
            <a:ext cx="54864" cy="9144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AF74BD1-A117-40A3-B9BE-A70E6C9F54E4}"/>
              </a:ext>
            </a:extLst>
          </p:cNvPr>
          <p:cNvSpPr txBox="1"/>
          <p:nvPr/>
        </p:nvSpPr>
        <p:spPr>
          <a:xfrm>
            <a:off x="6492240" y="1188719"/>
            <a:ext cx="245059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Total Refunded Amount</a:t>
            </a:r>
          </a:p>
          <a:p>
            <a:pPr>
              <a:defRPr sz="2100" b="1">
                <a:solidFill>
                  <a:srgbClr val="7E62BE"/>
                </a:solidFill>
                <a:latin typeface="Poppins"/>
              </a:defRPr>
            </a:pPr>
            <a:r>
              <a:t>₹0.46M</a:t>
            </a:r>
          </a:p>
        </p:txBody>
      </p:sp>
      <p:sp>
        <p:nvSpPr>
          <p:cNvPr id="59" name="Rounded Rectangle 14">
            <a:extLst>
              <a:ext uri="{FF2B5EF4-FFF2-40B4-BE49-F238E27FC236}">
                <a16:creationId xmlns:a16="http://schemas.microsoft.com/office/drawing/2014/main" id="{A3248A0E-4743-8951-1302-40177613C41E}"/>
              </a:ext>
            </a:extLst>
          </p:cNvPr>
          <p:cNvSpPr/>
          <p:nvPr/>
        </p:nvSpPr>
        <p:spPr>
          <a:xfrm>
            <a:off x="9189720" y="1078992"/>
            <a:ext cx="233172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C32BEFB-C9E6-65C2-DD73-29DD689293F2}"/>
              </a:ext>
            </a:extLst>
          </p:cNvPr>
          <p:cNvSpPr/>
          <p:nvPr/>
        </p:nvSpPr>
        <p:spPr>
          <a:xfrm>
            <a:off x="9189720" y="1078992"/>
            <a:ext cx="54864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46B0F6-F4B6-AFBE-A794-ADE02CC61D65}"/>
              </a:ext>
            </a:extLst>
          </p:cNvPr>
          <p:cNvSpPr txBox="1"/>
          <p:nvPr/>
        </p:nvSpPr>
        <p:spPr>
          <a:xfrm>
            <a:off x="9372600" y="1188719"/>
            <a:ext cx="203911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Net Collection Amount</a:t>
            </a:r>
          </a:p>
          <a:p>
            <a:pPr>
              <a:defRPr sz="1900" b="1">
                <a:solidFill>
                  <a:srgbClr val="4A90E2"/>
                </a:solidFill>
                <a:latin typeface="Poppins"/>
              </a:defRPr>
            </a:pPr>
            <a:r>
              <a:t>₹16.43M</a:t>
            </a:r>
          </a:p>
        </p:txBody>
      </p:sp>
      <p:sp>
        <p:nvSpPr>
          <p:cNvPr id="65" name="Rounded Rectangle 17">
            <a:extLst>
              <a:ext uri="{FF2B5EF4-FFF2-40B4-BE49-F238E27FC236}">
                <a16:creationId xmlns:a16="http://schemas.microsoft.com/office/drawing/2014/main" id="{507FA3E8-51BD-1B39-4327-B3FE45CC7372}"/>
              </a:ext>
            </a:extLst>
          </p:cNvPr>
          <p:cNvSpPr/>
          <p:nvPr/>
        </p:nvSpPr>
        <p:spPr>
          <a:xfrm>
            <a:off x="685800" y="224028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29A57D5-87AB-325B-D6FA-2C389FC1E5C1}"/>
              </a:ext>
            </a:extLst>
          </p:cNvPr>
          <p:cNvSpPr/>
          <p:nvPr/>
        </p:nvSpPr>
        <p:spPr>
          <a:xfrm>
            <a:off x="685800" y="2240280"/>
            <a:ext cx="54864" cy="13716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4A9F59E-567C-BFC5-A589-C7EA2C262253}"/>
              </a:ext>
            </a:extLst>
          </p:cNvPr>
          <p:cNvSpPr txBox="1"/>
          <p:nvPr/>
        </p:nvSpPr>
        <p:spPr>
          <a:xfrm>
            <a:off x="868680" y="2322576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Billing Charge Components — Column</a:t>
            </a:r>
          </a:p>
        </p:txBody>
      </p:sp>
      <p:pic>
        <p:nvPicPr>
          <p:cNvPr id="71" name="Picture 70" descr="s18_components.png">
            <a:extLst>
              <a:ext uri="{FF2B5EF4-FFF2-40B4-BE49-F238E27FC236}">
                <a16:creationId xmlns:a16="http://schemas.microsoft.com/office/drawing/2014/main" id="{38AF50A2-AA34-D571-04A0-BF6DA2398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560320"/>
            <a:ext cx="4855464" cy="987552"/>
          </a:xfrm>
          <a:prstGeom prst="rect">
            <a:avLst/>
          </a:prstGeom>
        </p:spPr>
      </p:pic>
      <p:sp>
        <p:nvSpPr>
          <p:cNvPr id="73" name="Rounded Rectangle 21">
            <a:extLst>
              <a:ext uri="{FF2B5EF4-FFF2-40B4-BE49-F238E27FC236}">
                <a16:creationId xmlns:a16="http://schemas.microsoft.com/office/drawing/2014/main" id="{CD841855-F5C7-E5CC-E293-9975C7F6615C}"/>
              </a:ext>
            </a:extLst>
          </p:cNvPr>
          <p:cNvSpPr/>
          <p:nvPr/>
        </p:nvSpPr>
        <p:spPr>
          <a:xfrm>
            <a:off x="6172200" y="2240280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90E58A3-FF62-A8D0-7764-146CC791D70C}"/>
              </a:ext>
            </a:extLst>
          </p:cNvPr>
          <p:cNvSpPr/>
          <p:nvPr/>
        </p:nvSpPr>
        <p:spPr>
          <a:xfrm>
            <a:off x="6172200" y="2240280"/>
            <a:ext cx="54864" cy="13716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2A7DA90-EE44-09EB-6842-2BDCD13D2B29}"/>
              </a:ext>
            </a:extLst>
          </p:cNvPr>
          <p:cNvSpPr txBox="1"/>
          <p:nvPr/>
        </p:nvSpPr>
        <p:spPr>
          <a:xfrm>
            <a:off x="6355080" y="2322576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Payment Status — Donut</a:t>
            </a:r>
          </a:p>
        </p:txBody>
      </p:sp>
      <p:pic>
        <p:nvPicPr>
          <p:cNvPr id="79" name="Picture 78" descr="s18_status.png">
            <a:extLst>
              <a:ext uri="{FF2B5EF4-FFF2-40B4-BE49-F238E27FC236}">
                <a16:creationId xmlns:a16="http://schemas.microsoft.com/office/drawing/2014/main" id="{ADCB75B9-CF8E-0352-AB50-1465CA436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560320"/>
            <a:ext cx="4855464" cy="987552"/>
          </a:xfrm>
          <a:prstGeom prst="rect">
            <a:avLst/>
          </a:prstGeom>
        </p:spPr>
      </p:pic>
      <p:sp>
        <p:nvSpPr>
          <p:cNvPr id="81" name="Rounded Rectangle 25">
            <a:extLst>
              <a:ext uri="{FF2B5EF4-FFF2-40B4-BE49-F238E27FC236}">
                <a16:creationId xmlns:a16="http://schemas.microsoft.com/office/drawing/2014/main" id="{04D2DCF9-7B85-949C-88AA-3A3A4B78C764}"/>
              </a:ext>
            </a:extLst>
          </p:cNvPr>
          <p:cNvSpPr/>
          <p:nvPr/>
        </p:nvSpPr>
        <p:spPr>
          <a:xfrm>
            <a:off x="685800" y="3822191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108F0058-AC54-6FF7-7011-9C3F1458C5A2}"/>
              </a:ext>
            </a:extLst>
          </p:cNvPr>
          <p:cNvSpPr/>
          <p:nvPr/>
        </p:nvSpPr>
        <p:spPr>
          <a:xfrm>
            <a:off x="685800" y="3822191"/>
            <a:ext cx="54864" cy="13716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FB84A95-E724-939A-BA88-E33C57BCFC2D}"/>
              </a:ext>
            </a:extLst>
          </p:cNvPr>
          <p:cNvSpPr txBox="1"/>
          <p:nvPr/>
        </p:nvSpPr>
        <p:spPr>
          <a:xfrm>
            <a:off x="868680" y="3904487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Payment Mode — Bar</a:t>
            </a:r>
          </a:p>
        </p:txBody>
      </p:sp>
      <p:pic>
        <p:nvPicPr>
          <p:cNvPr id="87" name="Picture 86" descr="s18_mode.png">
            <a:extLst>
              <a:ext uri="{FF2B5EF4-FFF2-40B4-BE49-F238E27FC236}">
                <a16:creationId xmlns:a16="http://schemas.microsoft.com/office/drawing/2014/main" id="{B97BCE00-AF50-9BC0-9C4D-6F251F652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142231"/>
            <a:ext cx="4855464" cy="987552"/>
          </a:xfrm>
          <a:prstGeom prst="rect">
            <a:avLst/>
          </a:prstGeom>
        </p:spPr>
      </p:pic>
      <p:sp>
        <p:nvSpPr>
          <p:cNvPr id="89" name="Rounded Rectangle 29">
            <a:extLst>
              <a:ext uri="{FF2B5EF4-FFF2-40B4-BE49-F238E27FC236}">
                <a16:creationId xmlns:a16="http://schemas.microsoft.com/office/drawing/2014/main" id="{A20C5B51-49B1-3136-9457-8DE3DD8CCAAA}"/>
              </a:ext>
            </a:extLst>
          </p:cNvPr>
          <p:cNvSpPr/>
          <p:nvPr/>
        </p:nvSpPr>
        <p:spPr>
          <a:xfrm>
            <a:off x="6172200" y="3822191"/>
            <a:ext cx="50749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83E59C8-8DC3-38C0-84B7-EBF37B9E5AF8}"/>
              </a:ext>
            </a:extLst>
          </p:cNvPr>
          <p:cNvSpPr/>
          <p:nvPr/>
        </p:nvSpPr>
        <p:spPr>
          <a:xfrm>
            <a:off x="6172200" y="3822191"/>
            <a:ext cx="54864" cy="13716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37F243A-8350-F773-E244-3C75680D5906}"/>
              </a:ext>
            </a:extLst>
          </p:cNvPr>
          <p:cNvSpPr txBox="1"/>
          <p:nvPr/>
        </p:nvSpPr>
        <p:spPr>
          <a:xfrm>
            <a:off x="6355080" y="3904487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Billed vs Collected — Column</a:t>
            </a:r>
          </a:p>
        </p:txBody>
      </p:sp>
      <p:pic>
        <p:nvPicPr>
          <p:cNvPr id="95" name="Picture 94" descr="s18_billed_collected.png">
            <a:extLst>
              <a:ext uri="{FF2B5EF4-FFF2-40B4-BE49-F238E27FC236}">
                <a16:creationId xmlns:a16="http://schemas.microsoft.com/office/drawing/2014/main" id="{DBE409AF-1D0A-15E1-1304-1521D2FC2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4142231"/>
            <a:ext cx="4855464" cy="987552"/>
          </a:xfrm>
          <a:prstGeom prst="rect">
            <a:avLst/>
          </a:prstGeom>
        </p:spPr>
      </p:pic>
      <p:sp>
        <p:nvSpPr>
          <p:cNvPr id="97" name="Rounded Rectangle 33">
            <a:extLst>
              <a:ext uri="{FF2B5EF4-FFF2-40B4-BE49-F238E27FC236}">
                <a16:creationId xmlns:a16="http://schemas.microsoft.com/office/drawing/2014/main" id="{16CA2F46-C90C-0C66-876C-E8E93AEAF1C0}"/>
              </a:ext>
            </a:extLst>
          </p:cNvPr>
          <p:cNvSpPr/>
          <p:nvPr/>
        </p:nvSpPr>
        <p:spPr>
          <a:xfrm>
            <a:off x="685800" y="5468112"/>
            <a:ext cx="5074920" cy="86868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63ECA0C0-3A04-924D-957D-C2E26F9C592B}"/>
              </a:ext>
            </a:extLst>
          </p:cNvPr>
          <p:cNvSpPr/>
          <p:nvPr/>
        </p:nvSpPr>
        <p:spPr>
          <a:xfrm>
            <a:off x="685800" y="5468112"/>
            <a:ext cx="54864" cy="86868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DB09740-8F8E-2FD3-5DE4-96360477E676}"/>
              </a:ext>
            </a:extLst>
          </p:cNvPr>
          <p:cNvSpPr txBox="1"/>
          <p:nvPr/>
        </p:nvSpPr>
        <p:spPr>
          <a:xfrm>
            <a:off x="868680" y="5577840"/>
            <a:ext cx="4782312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Collection Gap — KPI</a:t>
            </a:r>
          </a:p>
          <a:p>
            <a:pPr>
              <a:defRPr sz="2000" b="1">
                <a:solidFill>
                  <a:srgbClr val="36AAA4"/>
                </a:solidFill>
                <a:latin typeface="Poppins"/>
              </a:defRPr>
            </a:pPr>
            <a:r>
              <a:t>₹2,257,446.75</a:t>
            </a:r>
          </a:p>
          <a:p>
            <a:pPr>
              <a:defRPr sz="850">
                <a:solidFill>
                  <a:srgbClr val="6E7D8D"/>
                </a:solidFill>
                <a:latin typeface="Aptos"/>
              </a:defRPr>
            </a:pPr>
            <a:r>
              <a:t>Collection rate: 87.92%</a:t>
            </a:r>
          </a:p>
        </p:txBody>
      </p:sp>
      <p:sp>
        <p:nvSpPr>
          <p:cNvPr id="103" name="Rounded Rectangle 36">
            <a:extLst>
              <a:ext uri="{FF2B5EF4-FFF2-40B4-BE49-F238E27FC236}">
                <a16:creationId xmlns:a16="http://schemas.microsoft.com/office/drawing/2014/main" id="{4534ED46-5725-A7B4-53EB-83232718E592}"/>
              </a:ext>
            </a:extLst>
          </p:cNvPr>
          <p:cNvSpPr/>
          <p:nvPr/>
        </p:nvSpPr>
        <p:spPr>
          <a:xfrm>
            <a:off x="6172200" y="5468112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4B03D6A-7447-4A87-3142-E9F2FC4273EA}"/>
              </a:ext>
            </a:extLst>
          </p:cNvPr>
          <p:cNvSpPr/>
          <p:nvPr/>
        </p:nvSpPr>
        <p:spPr>
          <a:xfrm>
            <a:off x="6172200" y="5468112"/>
            <a:ext cx="54864" cy="86868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65DA5EF-E4F7-C0B3-17AD-063CBDC677C1}"/>
              </a:ext>
            </a:extLst>
          </p:cNvPr>
          <p:cNvSpPr txBox="1"/>
          <p:nvPr/>
        </p:nvSpPr>
        <p:spPr>
          <a:xfrm>
            <a:off x="6355080" y="5559552"/>
            <a:ext cx="4800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Financial Snapshot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F5FFA420-CD50-53FA-71ED-1A0EF7256666}"/>
              </a:ext>
            </a:extLst>
          </p:cNvPr>
          <p:cNvSpPr txBox="1"/>
          <p:nvPr/>
        </p:nvSpPr>
        <p:spPr>
          <a:xfrm>
            <a:off x="6355080" y="5879592"/>
            <a:ext cx="475488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Billed  |  ₹18,690,854.89</a:t>
            </a:r>
          </a:p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Net Collected  |  ₹16,433,408.14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DC95E48-581E-F783-0A44-82C6128D2151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D24628-1D0B-F669-ACE8-2929D10DCB64}"/>
              </a:ext>
            </a:extLst>
          </p:cNvPr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384B"/>
                </a:solidFill>
                <a:latin typeface="Poppins"/>
              </a:defRPr>
            </a:pPr>
            <a:r>
              <a:t>Member Experience Analytics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08DCDF-4714-B10D-9605-1F7567A49C62}"/>
              </a:ext>
            </a:extLst>
          </p:cNvPr>
          <p:cNvSpPr txBox="1"/>
          <p:nvPr/>
        </p:nvSpPr>
        <p:spPr>
          <a:xfrm>
            <a:off x="658368" y="644652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D8D"/>
                </a:solidFill>
                <a:latin typeface="Aptos"/>
              </a:defRPr>
            </a:pPr>
            <a:r>
              <a:t>HealthPlus Care  |  Healthcare Analytics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13E5BD-F097-8CC9-2A78-4F5AA3E9B1F0}"/>
              </a:ext>
            </a:extLst>
          </p:cNvPr>
          <p:cNvSpPr txBox="1"/>
          <p:nvPr/>
        </p:nvSpPr>
        <p:spPr>
          <a:xfrm>
            <a:off x="61264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D8D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35" name="Rounded Rectangle 5">
            <a:extLst>
              <a:ext uri="{FF2B5EF4-FFF2-40B4-BE49-F238E27FC236}">
                <a16:creationId xmlns:a16="http://schemas.microsoft.com/office/drawing/2014/main" id="{CDB79430-CD5A-C3E5-DF0D-81E895393A9E}"/>
              </a:ext>
            </a:extLst>
          </p:cNvPr>
          <p:cNvSpPr/>
          <p:nvPr/>
        </p:nvSpPr>
        <p:spPr>
          <a:xfrm>
            <a:off x="594360" y="1170432"/>
            <a:ext cx="288036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0015C9B-59D9-74B4-7737-02BB86905A9D}"/>
              </a:ext>
            </a:extLst>
          </p:cNvPr>
          <p:cNvSpPr/>
          <p:nvPr/>
        </p:nvSpPr>
        <p:spPr>
          <a:xfrm>
            <a:off x="594360" y="1170432"/>
            <a:ext cx="54864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807D91-8016-12FC-0699-A093AC2E2200}"/>
              </a:ext>
            </a:extLst>
          </p:cNvPr>
          <p:cNvSpPr txBox="1"/>
          <p:nvPr/>
        </p:nvSpPr>
        <p:spPr>
          <a:xfrm>
            <a:off x="777240" y="1280160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Average Feedback Rating</a:t>
            </a:r>
          </a:p>
          <a:p>
            <a:pPr>
              <a:defRPr sz="2000" b="1">
                <a:solidFill>
                  <a:srgbClr val="4A90E2"/>
                </a:solidFill>
                <a:latin typeface="Poppins"/>
              </a:defRPr>
            </a:pPr>
            <a:r>
              <a:t>3.80 / 5</a:t>
            </a:r>
          </a:p>
        </p:txBody>
      </p:sp>
      <p:sp>
        <p:nvSpPr>
          <p:cNvPr id="41" name="Rounded Rectangle 8">
            <a:extLst>
              <a:ext uri="{FF2B5EF4-FFF2-40B4-BE49-F238E27FC236}">
                <a16:creationId xmlns:a16="http://schemas.microsoft.com/office/drawing/2014/main" id="{F715F7CE-4D59-C140-43F2-D711F24EEA0D}"/>
              </a:ext>
            </a:extLst>
          </p:cNvPr>
          <p:cNvSpPr/>
          <p:nvPr/>
        </p:nvSpPr>
        <p:spPr>
          <a:xfrm>
            <a:off x="3657600" y="1170432"/>
            <a:ext cx="288036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A101FBF-6348-C0F8-3A54-C7D2C2F99EFC}"/>
              </a:ext>
            </a:extLst>
          </p:cNvPr>
          <p:cNvSpPr/>
          <p:nvPr/>
        </p:nvSpPr>
        <p:spPr>
          <a:xfrm>
            <a:off x="3657600" y="1170432"/>
            <a:ext cx="54864" cy="9144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558B3C-F456-0445-30D1-1DCA0EF65DC7}"/>
              </a:ext>
            </a:extLst>
          </p:cNvPr>
          <p:cNvSpPr txBox="1"/>
          <p:nvPr/>
        </p:nvSpPr>
        <p:spPr>
          <a:xfrm>
            <a:off x="3840480" y="1280160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Total Feedback Responses</a:t>
            </a:r>
          </a:p>
          <a:p>
            <a:pPr>
              <a:defRPr sz="2200" b="1">
                <a:solidFill>
                  <a:srgbClr val="36AAA4"/>
                </a:solidFill>
                <a:latin typeface="Poppins"/>
              </a:defRPr>
            </a:pPr>
            <a:r>
              <a:t>2,500</a:t>
            </a:r>
          </a:p>
        </p:txBody>
      </p:sp>
      <p:sp>
        <p:nvSpPr>
          <p:cNvPr id="47" name="Rounded Rectangle 11">
            <a:extLst>
              <a:ext uri="{FF2B5EF4-FFF2-40B4-BE49-F238E27FC236}">
                <a16:creationId xmlns:a16="http://schemas.microsoft.com/office/drawing/2014/main" id="{F7584812-9A69-2329-41F3-AB567D26E715}"/>
              </a:ext>
            </a:extLst>
          </p:cNvPr>
          <p:cNvSpPr/>
          <p:nvPr/>
        </p:nvSpPr>
        <p:spPr>
          <a:xfrm>
            <a:off x="6720840" y="1170432"/>
            <a:ext cx="288036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DD348FA-AA6D-F17B-94CA-4A120E33273C}"/>
              </a:ext>
            </a:extLst>
          </p:cNvPr>
          <p:cNvSpPr/>
          <p:nvPr/>
        </p:nvSpPr>
        <p:spPr>
          <a:xfrm>
            <a:off x="6720840" y="1170432"/>
            <a:ext cx="54864" cy="9144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E1FCF2D-4197-DB31-0D30-1BD61C6CA81A}"/>
              </a:ext>
            </a:extLst>
          </p:cNvPr>
          <p:cNvSpPr txBox="1"/>
          <p:nvPr/>
        </p:nvSpPr>
        <p:spPr>
          <a:xfrm>
            <a:off x="6903720" y="1280160"/>
            <a:ext cx="258775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Positive Feedback Rate</a:t>
            </a:r>
          </a:p>
          <a:p>
            <a:pPr>
              <a:defRPr sz="2200" b="1">
                <a:solidFill>
                  <a:srgbClr val="7E62BE"/>
                </a:solidFill>
                <a:latin typeface="Poppins"/>
              </a:defRPr>
            </a:pPr>
            <a:r>
              <a:t>65.12%</a:t>
            </a:r>
          </a:p>
        </p:txBody>
      </p:sp>
      <p:sp>
        <p:nvSpPr>
          <p:cNvPr id="53" name="Rounded Rectangle 14">
            <a:extLst>
              <a:ext uri="{FF2B5EF4-FFF2-40B4-BE49-F238E27FC236}">
                <a16:creationId xmlns:a16="http://schemas.microsoft.com/office/drawing/2014/main" id="{2E9F343F-EEFD-2A55-E844-8ED130BF9E7C}"/>
              </a:ext>
            </a:extLst>
          </p:cNvPr>
          <p:cNvSpPr/>
          <p:nvPr/>
        </p:nvSpPr>
        <p:spPr>
          <a:xfrm>
            <a:off x="685800" y="2359152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1285FAC-7465-49C6-D929-140A3422CA78}"/>
              </a:ext>
            </a:extLst>
          </p:cNvPr>
          <p:cNvSpPr/>
          <p:nvPr/>
        </p:nvSpPr>
        <p:spPr>
          <a:xfrm>
            <a:off x="685800" y="2359152"/>
            <a:ext cx="54864" cy="16002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75CD71-9EFE-E5BF-C655-731A6FD0D6C5}"/>
              </a:ext>
            </a:extLst>
          </p:cNvPr>
          <p:cNvSpPr txBox="1"/>
          <p:nvPr/>
        </p:nvSpPr>
        <p:spPr>
          <a:xfrm>
            <a:off x="868680" y="2441448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Rating Distribution — Column</a:t>
            </a:r>
          </a:p>
        </p:txBody>
      </p:sp>
      <p:pic>
        <p:nvPicPr>
          <p:cNvPr id="59" name="Picture 58" descr="s19_ratings.png">
            <a:extLst>
              <a:ext uri="{FF2B5EF4-FFF2-40B4-BE49-F238E27FC236}">
                <a16:creationId xmlns:a16="http://schemas.microsoft.com/office/drawing/2014/main" id="{A2B49900-EF19-419B-6BBC-9982ADF24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679192"/>
            <a:ext cx="4855464" cy="1216152"/>
          </a:xfrm>
          <a:prstGeom prst="rect">
            <a:avLst/>
          </a:prstGeom>
        </p:spPr>
      </p:pic>
      <p:sp>
        <p:nvSpPr>
          <p:cNvPr id="61" name="Rounded Rectangle 18">
            <a:extLst>
              <a:ext uri="{FF2B5EF4-FFF2-40B4-BE49-F238E27FC236}">
                <a16:creationId xmlns:a16="http://schemas.microsoft.com/office/drawing/2014/main" id="{190C4D68-96C4-4941-0D7E-E888C12B28B3}"/>
              </a:ext>
            </a:extLst>
          </p:cNvPr>
          <p:cNvSpPr/>
          <p:nvPr/>
        </p:nvSpPr>
        <p:spPr>
          <a:xfrm>
            <a:off x="6172200" y="2359152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9F322AD-30E3-D869-4357-18CA4A9F24C2}"/>
              </a:ext>
            </a:extLst>
          </p:cNvPr>
          <p:cNvSpPr/>
          <p:nvPr/>
        </p:nvSpPr>
        <p:spPr>
          <a:xfrm>
            <a:off x="6172200" y="2359152"/>
            <a:ext cx="54864" cy="16002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E37FB2-9296-03A1-A77A-9CE42CE5A166}"/>
              </a:ext>
            </a:extLst>
          </p:cNvPr>
          <p:cNvSpPr txBox="1"/>
          <p:nvPr/>
        </p:nvSpPr>
        <p:spPr>
          <a:xfrm>
            <a:off x="6355080" y="2441448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Average Rating by Clinic — Bar</a:t>
            </a:r>
          </a:p>
        </p:txBody>
      </p:sp>
      <p:pic>
        <p:nvPicPr>
          <p:cNvPr id="67" name="Picture 66" descr="s19_clinic_rating.png">
            <a:extLst>
              <a:ext uri="{FF2B5EF4-FFF2-40B4-BE49-F238E27FC236}">
                <a16:creationId xmlns:a16="http://schemas.microsoft.com/office/drawing/2014/main" id="{CBB29D69-4A1A-9511-22E4-97807D8C7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679192"/>
            <a:ext cx="4855464" cy="1216152"/>
          </a:xfrm>
          <a:prstGeom prst="rect">
            <a:avLst/>
          </a:prstGeom>
        </p:spPr>
      </p:pic>
      <p:sp>
        <p:nvSpPr>
          <p:cNvPr id="69" name="Rounded Rectangle 22">
            <a:extLst>
              <a:ext uri="{FF2B5EF4-FFF2-40B4-BE49-F238E27FC236}">
                <a16:creationId xmlns:a16="http://schemas.microsoft.com/office/drawing/2014/main" id="{E906D1BD-3450-525D-1092-E245F1F00BEE}"/>
              </a:ext>
            </a:extLst>
          </p:cNvPr>
          <p:cNvSpPr/>
          <p:nvPr/>
        </p:nvSpPr>
        <p:spPr>
          <a:xfrm>
            <a:off x="685800" y="4160520"/>
            <a:ext cx="5074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F01FFA4-3D78-7CA5-D48D-57ED13BA8E67}"/>
              </a:ext>
            </a:extLst>
          </p:cNvPr>
          <p:cNvSpPr/>
          <p:nvPr/>
        </p:nvSpPr>
        <p:spPr>
          <a:xfrm>
            <a:off x="685800" y="4160520"/>
            <a:ext cx="54864" cy="16002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1964E51-9940-9E6B-8ECC-90D7D6171AD2}"/>
              </a:ext>
            </a:extLst>
          </p:cNvPr>
          <p:cNvSpPr txBox="1"/>
          <p:nvPr/>
        </p:nvSpPr>
        <p:spPr>
          <a:xfrm>
            <a:off x="868680" y="4242816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Average Rating by Specialist — Bar</a:t>
            </a:r>
          </a:p>
        </p:txBody>
      </p:sp>
      <p:pic>
        <p:nvPicPr>
          <p:cNvPr id="75" name="Picture 74" descr="s19_spec_rating.png">
            <a:extLst>
              <a:ext uri="{FF2B5EF4-FFF2-40B4-BE49-F238E27FC236}">
                <a16:creationId xmlns:a16="http://schemas.microsoft.com/office/drawing/2014/main" id="{9E59B379-89BC-AF53-DEDC-FE3BED0A1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480559"/>
            <a:ext cx="4855464" cy="1216152"/>
          </a:xfrm>
          <a:prstGeom prst="rect">
            <a:avLst/>
          </a:prstGeom>
        </p:spPr>
      </p:pic>
      <p:sp>
        <p:nvSpPr>
          <p:cNvPr id="77" name="Rounded Rectangle 26">
            <a:extLst>
              <a:ext uri="{FF2B5EF4-FFF2-40B4-BE49-F238E27FC236}">
                <a16:creationId xmlns:a16="http://schemas.microsoft.com/office/drawing/2014/main" id="{BD31A0CE-7B12-F163-B6FF-F58C2CB81811}"/>
              </a:ext>
            </a:extLst>
          </p:cNvPr>
          <p:cNvSpPr/>
          <p:nvPr/>
        </p:nvSpPr>
        <p:spPr>
          <a:xfrm>
            <a:off x="6172200" y="4160520"/>
            <a:ext cx="5074920" cy="16002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A0CAEE1-93BE-CA1E-7568-C5470895FF6F}"/>
              </a:ext>
            </a:extLst>
          </p:cNvPr>
          <p:cNvSpPr/>
          <p:nvPr/>
        </p:nvSpPr>
        <p:spPr>
          <a:xfrm>
            <a:off x="6172200" y="4160520"/>
            <a:ext cx="54864" cy="16002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72ED109-26CC-C109-BB8E-A66DA10E5F3F}"/>
              </a:ext>
            </a:extLst>
          </p:cNvPr>
          <p:cNvSpPr txBox="1"/>
          <p:nvPr/>
        </p:nvSpPr>
        <p:spPr>
          <a:xfrm>
            <a:off x="6355080" y="4270248"/>
            <a:ext cx="4782312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Members with Consultations but No Feedback — KPI</a:t>
            </a:r>
          </a:p>
          <a:p>
            <a:pPr>
              <a:defRPr sz="3000" b="1">
                <a:solidFill>
                  <a:srgbClr val="36AAA4"/>
                </a:solidFill>
                <a:latin typeface="Poppins"/>
              </a:defRPr>
            </a:pPr>
            <a:r>
              <a:t>866</a:t>
            </a:r>
          </a:p>
          <a:p>
            <a:pPr>
              <a:defRPr sz="850">
                <a:solidFill>
                  <a:srgbClr val="6E7D8D"/>
                </a:solidFill>
                <a:latin typeface="Aptos"/>
              </a:defRPr>
            </a:pPr>
            <a:r>
              <a:t>Members with at least one consultation and no feedback record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3B34106-3498-74BA-8529-5F23FF922AC8}"/>
              </a:ext>
            </a:extLst>
          </p:cNvPr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32908F-3859-9197-CB01-2C6B30FBF745}"/>
              </a:ext>
            </a:extLst>
          </p:cNvPr>
          <p:cNvSpPr txBox="1"/>
          <p:nvPr/>
        </p:nvSpPr>
        <p:spPr>
          <a:xfrm>
            <a:off x="64008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5384B"/>
                </a:solidFill>
                <a:latin typeface="Poppins"/>
              </a:defRPr>
            </a:pPr>
            <a:r>
              <a:t>Workforce &amp; Clinic Operations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DC7F51-9F18-D4D5-DA76-7A1547F8EF4F}"/>
              </a:ext>
            </a:extLst>
          </p:cNvPr>
          <p:cNvSpPr txBox="1"/>
          <p:nvPr/>
        </p:nvSpPr>
        <p:spPr>
          <a:xfrm>
            <a:off x="658368" y="6446520"/>
            <a:ext cx="9601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D8D"/>
                </a:solidFill>
                <a:latin typeface="Aptos"/>
              </a:defRPr>
            </a:pPr>
            <a:r>
              <a:t>HealthPlus Care  |  Healthcare Analytics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5B4371-5445-0B8A-35EF-F5297EF52FD7}"/>
              </a:ext>
            </a:extLst>
          </p:cNvPr>
          <p:cNvSpPr txBox="1"/>
          <p:nvPr/>
        </p:nvSpPr>
        <p:spPr>
          <a:xfrm>
            <a:off x="6126480" y="6446520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E7D8D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38" name="Rounded Rectangle 5">
            <a:extLst>
              <a:ext uri="{FF2B5EF4-FFF2-40B4-BE49-F238E27FC236}">
                <a16:creationId xmlns:a16="http://schemas.microsoft.com/office/drawing/2014/main" id="{E4CE2C64-2193-8A7A-A3DA-ED4F18282066}"/>
              </a:ext>
            </a:extLst>
          </p:cNvPr>
          <p:cNvSpPr/>
          <p:nvPr/>
        </p:nvSpPr>
        <p:spPr>
          <a:xfrm>
            <a:off x="548640" y="1078992"/>
            <a:ext cx="274320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422BD68-A15D-581C-14ED-4D6CC8BB5118}"/>
              </a:ext>
            </a:extLst>
          </p:cNvPr>
          <p:cNvSpPr/>
          <p:nvPr/>
        </p:nvSpPr>
        <p:spPr>
          <a:xfrm>
            <a:off x="548640" y="1078992"/>
            <a:ext cx="54864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AAC9FF-2E6F-7622-6D16-583F8BCAAEAE}"/>
              </a:ext>
            </a:extLst>
          </p:cNvPr>
          <p:cNvSpPr txBox="1"/>
          <p:nvPr/>
        </p:nvSpPr>
        <p:spPr>
          <a:xfrm>
            <a:off x="731520" y="1188719"/>
            <a:ext cx="245059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Total Specialists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220</a:t>
            </a:r>
          </a:p>
        </p:txBody>
      </p:sp>
      <p:sp>
        <p:nvSpPr>
          <p:cNvPr id="44" name="Rounded Rectangle 8">
            <a:extLst>
              <a:ext uri="{FF2B5EF4-FFF2-40B4-BE49-F238E27FC236}">
                <a16:creationId xmlns:a16="http://schemas.microsoft.com/office/drawing/2014/main" id="{445B7700-431A-9C42-4DC6-7C85B0CDA1F1}"/>
              </a:ext>
            </a:extLst>
          </p:cNvPr>
          <p:cNvSpPr/>
          <p:nvPr/>
        </p:nvSpPr>
        <p:spPr>
          <a:xfrm>
            <a:off x="3429000" y="1078992"/>
            <a:ext cx="274320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7852B37-95AB-ADAD-E9DA-A60A48F7BD53}"/>
              </a:ext>
            </a:extLst>
          </p:cNvPr>
          <p:cNvSpPr/>
          <p:nvPr/>
        </p:nvSpPr>
        <p:spPr>
          <a:xfrm>
            <a:off x="3429000" y="1078992"/>
            <a:ext cx="54864" cy="9144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8DE380-CCDF-D14C-DB30-6648506C2D94}"/>
              </a:ext>
            </a:extLst>
          </p:cNvPr>
          <p:cNvSpPr txBox="1"/>
          <p:nvPr/>
        </p:nvSpPr>
        <p:spPr>
          <a:xfrm>
            <a:off x="3611880" y="1188719"/>
            <a:ext cx="245059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Total Staff</a:t>
            </a:r>
          </a:p>
          <a:p>
            <a:pPr>
              <a:defRPr sz="2200" b="1">
                <a:solidFill>
                  <a:srgbClr val="36AAA4"/>
                </a:solidFill>
                <a:latin typeface="Poppins"/>
              </a:defRPr>
            </a:pPr>
            <a:r>
              <a:t>450</a:t>
            </a:r>
          </a:p>
        </p:txBody>
      </p:sp>
      <p:sp>
        <p:nvSpPr>
          <p:cNvPr id="50" name="Rounded Rectangle 11">
            <a:extLst>
              <a:ext uri="{FF2B5EF4-FFF2-40B4-BE49-F238E27FC236}">
                <a16:creationId xmlns:a16="http://schemas.microsoft.com/office/drawing/2014/main" id="{62F7F29B-7E1F-F89E-0D02-7FAB141E7E5A}"/>
              </a:ext>
            </a:extLst>
          </p:cNvPr>
          <p:cNvSpPr/>
          <p:nvPr/>
        </p:nvSpPr>
        <p:spPr>
          <a:xfrm>
            <a:off x="6309360" y="1078992"/>
            <a:ext cx="274320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081ABA8-6AC8-C50D-4841-7E906BD44A7A}"/>
              </a:ext>
            </a:extLst>
          </p:cNvPr>
          <p:cNvSpPr/>
          <p:nvPr/>
        </p:nvSpPr>
        <p:spPr>
          <a:xfrm>
            <a:off x="6309360" y="1078992"/>
            <a:ext cx="54864" cy="9144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0A75724-42EB-670B-0944-396F3F2E3B0B}"/>
              </a:ext>
            </a:extLst>
          </p:cNvPr>
          <p:cNvSpPr txBox="1"/>
          <p:nvPr/>
        </p:nvSpPr>
        <p:spPr>
          <a:xfrm>
            <a:off x="6492240" y="1188719"/>
            <a:ext cx="245059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Average Staff Salary</a:t>
            </a:r>
          </a:p>
          <a:p>
            <a:pPr>
              <a:defRPr sz="2000" b="1">
                <a:solidFill>
                  <a:srgbClr val="7E62BE"/>
                </a:solidFill>
                <a:latin typeface="Poppins"/>
              </a:defRPr>
            </a:pPr>
            <a:r>
              <a:t>₹56,155</a:t>
            </a:r>
          </a:p>
        </p:txBody>
      </p:sp>
      <p:sp>
        <p:nvSpPr>
          <p:cNvPr id="56" name="Rounded Rectangle 14">
            <a:extLst>
              <a:ext uri="{FF2B5EF4-FFF2-40B4-BE49-F238E27FC236}">
                <a16:creationId xmlns:a16="http://schemas.microsoft.com/office/drawing/2014/main" id="{476E1B3C-9B4E-21DB-CB35-B8DCEC4E4E35}"/>
              </a:ext>
            </a:extLst>
          </p:cNvPr>
          <p:cNvSpPr/>
          <p:nvPr/>
        </p:nvSpPr>
        <p:spPr>
          <a:xfrm>
            <a:off x="9189720" y="1078992"/>
            <a:ext cx="2331720" cy="914400"/>
          </a:xfrm>
          <a:prstGeom prst="roundRect">
            <a:avLst/>
          </a:prstGeom>
          <a:solidFill>
            <a:srgbClr val="F8F9FB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373E142-CB9C-C7D8-16C9-00858DD5EB43}"/>
              </a:ext>
            </a:extLst>
          </p:cNvPr>
          <p:cNvSpPr/>
          <p:nvPr/>
        </p:nvSpPr>
        <p:spPr>
          <a:xfrm>
            <a:off x="9189720" y="1078992"/>
            <a:ext cx="54864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F074B4-F9EF-EC77-DC4A-7F81EDF8B650}"/>
              </a:ext>
            </a:extLst>
          </p:cNvPr>
          <p:cNvSpPr txBox="1"/>
          <p:nvPr/>
        </p:nvSpPr>
        <p:spPr>
          <a:xfrm>
            <a:off x="9372600" y="1188719"/>
            <a:ext cx="2039112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50" b="1">
                <a:solidFill>
                  <a:srgbClr val="25384B"/>
                </a:solidFill>
                <a:latin typeface="Poppins"/>
              </a:defRPr>
            </a:pPr>
            <a:r>
              <a:t>Staff per Clinic</a:t>
            </a:r>
          </a:p>
          <a:p>
            <a:pPr>
              <a:defRPr sz="2100" b="1">
                <a:solidFill>
                  <a:srgbClr val="4A90E2"/>
                </a:solidFill>
                <a:latin typeface="Poppins"/>
              </a:defRPr>
            </a:pPr>
            <a:r>
              <a:t>25.0</a:t>
            </a:r>
          </a:p>
        </p:txBody>
      </p:sp>
      <p:sp>
        <p:nvSpPr>
          <p:cNvPr id="62" name="Rounded Rectangle 17">
            <a:extLst>
              <a:ext uri="{FF2B5EF4-FFF2-40B4-BE49-F238E27FC236}">
                <a16:creationId xmlns:a16="http://schemas.microsoft.com/office/drawing/2014/main" id="{D2A28623-7FB3-7449-C40B-1DDFAB21BAA6}"/>
              </a:ext>
            </a:extLst>
          </p:cNvPr>
          <p:cNvSpPr/>
          <p:nvPr/>
        </p:nvSpPr>
        <p:spPr>
          <a:xfrm>
            <a:off x="685800" y="2240280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0CA77D8-37F0-4C92-1250-FFCD62C3FF5D}"/>
              </a:ext>
            </a:extLst>
          </p:cNvPr>
          <p:cNvSpPr/>
          <p:nvPr/>
        </p:nvSpPr>
        <p:spPr>
          <a:xfrm>
            <a:off x="685800" y="2240280"/>
            <a:ext cx="54864" cy="146304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BBEFBEE-A4B0-7953-E135-87F017D0D476}"/>
              </a:ext>
            </a:extLst>
          </p:cNvPr>
          <p:cNvSpPr txBox="1"/>
          <p:nvPr/>
        </p:nvSpPr>
        <p:spPr>
          <a:xfrm>
            <a:off x="868680" y="2322576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Specialists by Specialization — Bar</a:t>
            </a:r>
          </a:p>
        </p:txBody>
      </p:sp>
      <p:pic>
        <p:nvPicPr>
          <p:cNvPr id="68" name="Picture 67" descr="s20_specialization.png">
            <a:extLst>
              <a:ext uri="{FF2B5EF4-FFF2-40B4-BE49-F238E27FC236}">
                <a16:creationId xmlns:a16="http://schemas.microsoft.com/office/drawing/2014/main" id="{7D117FD2-79A6-8A97-52DF-D12E85C60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560320"/>
            <a:ext cx="4855464" cy="1078992"/>
          </a:xfrm>
          <a:prstGeom prst="rect">
            <a:avLst/>
          </a:prstGeom>
        </p:spPr>
      </p:pic>
      <p:sp>
        <p:nvSpPr>
          <p:cNvPr id="70" name="Rounded Rectangle 21">
            <a:extLst>
              <a:ext uri="{FF2B5EF4-FFF2-40B4-BE49-F238E27FC236}">
                <a16:creationId xmlns:a16="http://schemas.microsoft.com/office/drawing/2014/main" id="{8411ABB9-0D53-EBFF-9DE3-337B4FC4E20E}"/>
              </a:ext>
            </a:extLst>
          </p:cNvPr>
          <p:cNvSpPr/>
          <p:nvPr/>
        </p:nvSpPr>
        <p:spPr>
          <a:xfrm>
            <a:off x="6172200" y="2240280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78339E0-2288-7D03-5644-B6DEA429A557}"/>
              </a:ext>
            </a:extLst>
          </p:cNvPr>
          <p:cNvSpPr/>
          <p:nvPr/>
        </p:nvSpPr>
        <p:spPr>
          <a:xfrm>
            <a:off x="6172200" y="2240280"/>
            <a:ext cx="54864" cy="146304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314DDA7-115F-9BEE-1A2B-0AD2500C9915}"/>
              </a:ext>
            </a:extLst>
          </p:cNvPr>
          <p:cNvSpPr txBox="1"/>
          <p:nvPr/>
        </p:nvSpPr>
        <p:spPr>
          <a:xfrm>
            <a:off x="6355080" y="2322576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Staff by Designation — Bar</a:t>
            </a:r>
          </a:p>
        </p:txBody>
      </p:sp>
      <p:pic>
        <p:nvPicPr>
          <p:cNvPr id="76" name="Picture 75" descr="s20_designation.png">
            <a:extLst>
              <a:ext uri="{FF2B5EF4-FFF2-40B4-BE49-F238E27FC236}">
                <a16:creationId xmlns:a16="http://schemas.microsoft.com/office/drawing/2014/main" id="{875E10D0-8AD3-B6F7-AA9D-22FDFFD2E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560320"/>
            <a:ext cx="4855464" cy="1078992"/>
          </a:xfrm>
          <a:prstGeom prst="rect">
            <a:avLst/>
          </a:prstGeom>
        </p:spPr>
      </p:pic>
      <p:sp>
        <p:nvSpPr>
          <p:cNvPr id="78" name="Rounded Rectangle 25">
            <a:extLst>
              <a:ext uri="{FF2B5EF4-FFF2-40B4-BE49-F238E27FC236}">
                <a16:creationId xmlns:a16="http://schemas.microsoft.com/office/drawing/2014/main" id="{F3C1E959-14A4-DD01-B115-85A871B523C6}"/>
              </a:ext>
            </a:extLst>
          </p:cNvPr>
          <p:cNvSpPr/>
          <p:nvPr/>
        </p:nvSpPr>
        <p:spPr>
          <a:xfrm>
            <a:off x="685800" y="3913632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F57F482-8960-236F-9C16-5F23C651F1BC}"/>
              </a:ext>
            </a:extLst>
          </p:cNvPr>
          <p:cNvSpPr/>
          <p:nvPr/>
        </p:nvSpPr>
        <p:spPr>
          <a:xfrm>
            <a:off x="685800" y="3913632"/>
            <a:ext cx="54864" cy="14630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DB91E4E-ACBC-CBFF-02D7-BD852AECC174}"/>
              </a:ext>
            </a:extLst>
          </p:cNvPr>
          <p:cNvSpPr txBox="1"/>
          <p:nvPr/>
        </p:nvSpPr>
        <p:spPr>
          <a:xfrm>
            <a:off x="868680" y="3995928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Staff Distribution by Clinic — Bar</a:t>
            </a:r>
          </a:p>
        </p:txBody>
      </p:sp>
      <p:pic>
        <p:nvPicPr>
          <p:cNvPr id="84" name="Picture 83" descr="s20_clinic.png">
            <a:extLst>
              <a:ext uri="{FF2B5EF4-FFF2-40B4-BE49-F238E27FC236}">
                <a16:creationId xmlns:a16="http://schemas.microsoft.com/office/drawing/2014/main" id="{600B7435-BF92-F80B-4395-6043BC7F2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233672"/>
            <a:ext cx="4855464" cy="1078992"/>
          </a:xfrm>
          <a:prstGeom prst="rect">
            <a:avLst/>
          </a:prstGeom>
        </p:spPr>
      </p:pic>
      <p:sp>
        <p:nvSpPr>
          <p:cNvPr id="86" name="Rounded Rectangle 29">
            <a:extLst>
              <a:ext uri="{FF2B5EF4-FFF2-40B4-BE49-F238E27FC236}">
                <a16:creationId xmlns:a16="http://schemas.microsoft.com/office/drawing/2014/main" id="{CB7081D3-D5CA-7488-C665-0F4E0F64F40F}"/>
              </a:ext>
            </a:extLst>
          </p:cNvPr>
          <p:cNvSpPr/>
          <p:nvPr/>
        </p:nvSpPr>
        <p:spPr>
          <a:xfrm>
            <a:off x="6172200" y="3913632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D8FFAFC-F2CC-B673-ABB4-7FEAE5C5D9F7}"/>
              </a:ext>
            </a:extLst>
          </p:cNvPr>
          <p:cNvSpPr/>
          <p:nvPr/>
        </p:nvSpPr>
        <p:spPr>
          <a:xfrm>
            <a:off x="6172200" y="3913632"/>
            <a:ext cx="54864" cy="146304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DEA452A-ACA5-13E4-3337-B81F5B4D33F2}"/>
              </a:ext>
            </a:extLst>
          </p:cNvPr>
          <p:cNvSpPr txBox="1"/>
          <p:nvPr/>
        </p:nvSpPr>
        <p:spPr>
          <a:xfrm>
            <a:off x="6355080" y="3995928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Employment Type Distribution — Donut</a:t>
            </a:r>
          </a:p>
        </p:txBody>
      </p:sp>
      <p:pic>
        <p:nvPicPr>
          <p:cNvPr id="92" name="Picture 91" descr="s20_employment.png">
            <a:extLst>
              <a:ext uri="{FF2B5EF4-FFF2-40B4-BE49-F238E27FC236}">
                <a16:creationId xmlns:a16="http://schemas.microsoft.com/office/drawing/2014/main" id="{221478DF-86A3-FA45-EF94-78E171386C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4233672"/>
            <a:ext cx="4855464" cy="1078992"/>
          </a:xfrm>
          <a:prstGeom prst="rect">
            <a:avLst/>
          </a:prstGeom>
        </p:spPr>
      </p:pic>
      <p:sp>
        <p:nvSpPr>
          <p:cNvPr id="94" name="Rounded Rectangle 33">
            <a:extLst>
              <a:ext uri="{FF2B5EF4-FFF2-40B4-BE49-F238E27FC236}">
                <a16:creationId xmlns:a16="http://schemas.microsoft.com/office/drawing/2014/main" id="{6158FF22-2684-DA9F-6111-C0B1AE8FE30B}"/>
              </a:ext>
            </a:extLst>
          </p:cNvPr>
          <p:cNvSpPr/>
          <p:nvPr/>
        </p:nvSpPr>
        <p:spPr>
          <a:xfrm>
            <a:off x="685800" y="5532120"/>
            <a:ext cx="1056132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9F12904-D188-78EC-AC4F-6DDB99F65333}"/>
              </a:ext>
            </a:extLst>
          </p:cNvPr>
          <p:cNvSpPr/>
          <p:nvPr/>
        </p:nvSpPr>
        <p:spPr>
          <a:xfrm>
            <a:off x="685800" y="5532120"/>
            <a:ext cx="54864" cy="6858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4F0B2E6-EACA-069A-8588-133B88B413D9}"/>
              </a:ext>
            </a:extLst>
          </p:cNvPr>
          <p:cNvSpPr txBox="1"/>
          <p:nvPr/>
        </p:nvSpPr>
        <p:spPr>
          <a:xfrm>
            <a:off x="868680" y="5623559"/>
            <a:ext cx="10287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384B"/>
                </a:solidFill>
                <a:latin typeface="Poppins"/>
              </a:defRPr>
            </a:pPr>
            <a:r>
              <a:t>Workforce Snapshot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F427009-05B6-D585-C952-ECBD836B29C0}"/>
              </a:ext>
            </a:extLst>
          </p:cNvPr>
          <p:cNvSpPr txBox="1"/>
          <p:nvPr/>
        </p:nvSpPr>
        <p:spPr>
          <a:xfrm>
            <a:off x="868680" y="5943600"/>
            <a:ext cx="1024128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Full-Time  |  367</a:t>
            </a:r>
          </a:p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Part-Time  |  53</a:t>
            </a:r>
          </a:p>
          <a:p>
            <a:pPr>
              <a:spcAft>
                <a:spcPts val="400"/>
              </a:spcAft>
              <a:defRPr sz="850">
                <a:solidFill>
                  <a:srgbClr val="25384B"/>
                </a:solidFill>
                <a:latin typeface="Aptos"/>
              </a:defRPr>
            </a:pPr>
            <a:r>
              <a:t>Contract  | 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444"/>
                </a:solidFill>
                <a:latin typeface="Poppins"/>
              </a:defRPr>
            </a:pPr>
            <a:r>
              <a:t>Key Business Questions Answered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3474720" cy="7772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64008" cy="7772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1271016"/>
            <a:ext cx="3200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dirty="0"/>
              <a:t>01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dirty="0"/>
              <a:t>Which clinics have the highest consultation activity?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43000"/>
            <a:ext cx="3474720" cy="7772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97680" y="1143000"/>
            <a:ext cx="64008" cy="77724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62272" y="1271016"/>
            <a:ext cx="3200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02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Which specialists handle the highest workload?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143000"/>
            <a:ext cx="3474720" cy="7772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92440" y="1143000"/>
            <a:ext cx="64008" cy="77724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2" y="1271016"/>
            <a:ext cx="3200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03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Which specializations are most active?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48840"/>
            <a:ext cx="3474720" cy="7772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2148840"/>
            <a:ext cx="64008" cy="7772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2276856"/>
            <a:ext cx="3200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04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What are the most common reasons for visits?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148840"/>
            <a:ext cx="3474720" cy="7772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80" y="2148840"/>
            <a:ext cx="64008" cy="77724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2276856"/>
            <a:ext cx="320040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05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How much healthcare activity occurs through telemedicine?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148840"/>
            <a:ext cx="3474720" cy="7772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2440" y="2148840"/>
            <a:ext cx="64008" cy="77724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57032" y="2276856"/>
            <a:ext cx="3200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06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Which chronic conditions have the highest enrollment?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154680"/>
            <a:ext cx="3474720" cy="7772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3154680"/>
            <a:ext cx="64008" cy="7772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" y="3282696"/>
            <a:ext cx="320040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07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Which health packages have the highest subscriptions?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154680"/>
            <a:ext cx="3474720" cy="7772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7680" y="3154680"/>
            <a:ext cx="64008" cy="77724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62272" y="3282696"/>
            <a:ext cx="3200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08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How active is corporate healthcare participation?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154680"/>
            <a:ext cx="3474720" cy="7772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92440" y="3154680"/>
            <a:ext cx="64008" cy="77724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57032" y="3282696"/>
            <a:ext cx="3200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09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Which medicines are most frequently prescribed?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160520"/>
            <a:ext cx="3474720" cy="7772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4160520"/>
            <a:ext cx="64008" cy="7772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" y="4288536"/>
            <a:ext cx="3200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10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What is the total laboratory cost?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4160520"/>
            <a:ext cx="3474720" cy="7772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97680" y="4160520"/>
            <a:ext cx="64008" cy="77724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62272" y="4288536"/>
            <a:ext cx="3200400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11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Which insurance providers have the highest claim amounts?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4160520"/>
            <a:ext cx="3474720" cy="7772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92440" y="4160520"/>
            <a:ext cx="64008" cy="77724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57032" y="4288536"/>
            <a:ext cx="3200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12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What is the total billed and collected amount?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166360"/>
            <a:ext cx="3474720" cy="7772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02920" y="5166360"/>
            <a:ext cx="64008" cy="77724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7512" y="5294376"/>
            <a:ext cx="3200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13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What is the collection gap?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97680" y="5166360"/>
            <a:ext cx="3474720" cy="7772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297680" y="5166360"/>
            <a:ext cx="64008" cy="77724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62272" y="5294376"/>
            <a:ext cx="3200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14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Which clinics have weaker feedback performance?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92440" y="5166360"/>
            <a:ext cx="3474720" cy="77724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92440" y="5166360"/>
            <a:ext cx="64008" cy="77724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57032" y="5294376"/>
            <a:ext cx="32004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15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Which members have consultations but no feedback?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  <a:latin typeface="Aptos"/>
              </a:defRPr>
            </a:pPr>
            <a:r>
              <a:t>HealthPlus Care  |  Healthcare Analytics                                 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444"/>
                </a:solidFill>
                <a:latin typeface="Poppins"/>
              </a:defRPr>
            </a:pPr>
            <a:r>
              <a:t>Advanced SQL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372100" cy="11430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64008" cy="1143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453895"/>
            <a:ext cx="50977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2000"/>
              <a:t>CTEs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sz="2000"/>
              <a:t>Multi-step analytical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1325880"/>
            <a:ext cx="5372100" cy="11430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95060" y="1325880"/>
            <a:ext cx="64008" cy="11430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9652" y="1453895"/>
            <a:ext cx="50977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2000" dirty="0"/>
              <a:t>Window Functions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sz="2000" dirty="0"/>
              <a:t>ROW_NUMBER() • RANK() • LAG() • LEAD()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97480"/>
            <a:ext cx="5372100" cy="11430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2697480"/>
            <a:ext cx="64008" cy="11430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" y="2825496"/>
            <a:ext cx="50977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2000" dirty="0"/>
              <a:t>Aggregations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sz="2000" dirty="0"/>
              <a:t>SUM() • AVG() • COUNT()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5060" y="2697480"/>
            <a:ext cx="5372100" cy="11430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5060" y="2697480"/>
            <a:ext cx="64008" cy="1143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9652" y="2825496"/>
            <a:ext cx="50977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2000" dirty="0"/>
              <a:t>Joins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sz="2000" dirty="0"/>
              <a:t>INNER • LEFT • RIGHT JOIN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069080"/>
            <a:ext cx="5372100" cy="11430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4069080"/>
            <a:ext cx="64008" cy="11430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4197096"/>
            <a:ext cx="50977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rPr sz="2000" dirty="0"/>
              <a:t>Business Applications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rPr sz="2000" dirty="0"/>
              <a:t>Rank specialists • Compare clinics • Analyze payment trends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  <a:latin typeface="Aptos"/>
              </a:defRPr>
            </a:pPr>
            <a:r>
              <a:t>HealthPlus Care  |  Healthcare Analytics                                  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444"/>
                </a:solidFill>
                <a:latin typeface="Poppins"/>
              </a:defRPr>
            </a:pPr>
            <a:r>
              <a:t>Clinic Performance Opportunity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2971800" cy="1188720"/>
          </a:xfrm>
          <a:prstGeom prst="roundRect">
            <a:avLst/>
          </a:prstGeom>
          <a:solidFill>
            <a:srgbClr val="E8F2FD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64008" cy="1188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1545336"/>
            <a:ext cx="2697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ACTIVITY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High healthcare activity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417320"/>
            <a:ext cx="2971800" cy="1188720"/>
          </a:xfrm>
          <a:prstGeom prst="roundRect">
            <a:avLst/>
          </a:prstGeom>
          <a:solidFill>
            <a:srgbClr val="F1EDFA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17720" y="1417320"/>
            <a:ext cx="64008" cy="118872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82312" y="1545336"/>
            <a:ext cx="2697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FINANCIAL</a:t>
            </a:r>
          </a:p>
          <a:p>
            <a:pPr>
              <a:defRPr sz="2200" b="1">
                <a:solidFill>
                  <a:srgbClr val="7E62BE"/>
                </a:solidFill>
                <a:latin typeface="Poppins"/>
              </a:defRPr>
            </a:pPr>
            <a:r>
              <a:t>Weak financial indicators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417320"/>
            <a:ext cx="2971800" cy="1188720"/>
          </a:xfrm>
          <a:prstGeom prst="roundRect">
            <a:avLst/>
          </a:prstGeom>
          <a:solidFill>
            <a:srgbClr val="E7F8F6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21040" y="1417320"/>
            <a:ext cx="64008" cy="118872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85632" y="1545336"/>
            <a:ext cx="2697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EXPERIENCE</a:t>
            </a:r>
          </a:p>
          <a:p>
            <a:pPr>
              <a:defRPr sz="2200" b="1">
                <a:solidFill>
                  <a:srgbClr val="36AAA4"/>
                </a:solidFill>
                <a:latin typeface="Poppins"/>
              </a:defRPr>
            </a:pPr>
            <a:r>
              <a:t>Lower-than-average experience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3657600"/>
            <a:ext cx="5943600" cy="132588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08960" y="3657600"/>
            <a:ext cx="64008" cy="13258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73552" y="3785615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CLINIC PERFORMANCE OPPORTUNITY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Activity + Financial Performance + Member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257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63444"/>
                </a:solidFill>
                <a:latin typeface="Aptos"/>
              </a:defRPr>
            </a:pPr>
            <a:r>
              <a:t>• Use actual SQL output to identify qualifying clinics.</a:t>
            </a:r>
          </a:p>
          <a:p>
            <a:pPr>
              <a:spcAft>
                <a:spcPts val="1000"/>
              </a:spcAft>
              <a:defRPr sz="1200">
                <a:solidFill>
                  <a:srgbClr val="263444"/>
                </a:solidFill>
                <a:latin typeface="Aptos"/>
              </a:defRPr>
            </a:pPr>
            <a:r>
              <a:t>• Do not invent clinic names or performance values.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  <a:latin typeface="Aptos"/>
              </a:defRPr>
            </a:pPr>
            <a:r>
              <a:t>HealthPlus Care  |  Healthcare Analytics                                  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444"/>
                </a:solidFill>
                <a:latin typeface="Poppins"/>
              </a:defRPr>
            </a:pPr>
            <a:r>
              <a:t>Key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684"/>
                </a:solidFill>
                <a:latin typeface="Poppins"/>
              </a:defRPr>
            </a:pPr>
            <a:r>
              <a:t>Insights must be supported by actual SQL outputs.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5372100" cy="118872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64008" cy="1188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408176"/>
            <a:ext cx="50977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Service Utilization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Consultation patterns • Clinic workload • Specialist workload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1280160"/>
            <a:ext cx="5372100" cy="118872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5060" y="1280160"/>
            <a:ext cx="64008" cy="118872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9652" y="1408176"/>
            <a:ext cx="50977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Digital Healthcare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Telemedicine adoption • Session quality • Completion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697480"/>
            <a:ext cx="5372100" cy="118872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2697480"/>
            <a:ext cx="64008" cy="118872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2825496"/>
            <a:ext cx="50977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Financial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Billing • Collection • Collection gap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2697480"/>
            <a:ext cx="5372100" cy="118872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5060" y="2697480"/>
            <a:ext cx="64008" cy="118872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9652" y="2825496"/>
            <a:ext cx="50977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Member Experience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Feedback rating • Positive feedback • Coverage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114800"/>
            <a:ext cx="5372100" cy="118872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4114800"/>
            <a:ext cx="64008" cy="118872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4242816"/>
            <a:ext cx="50977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Corporate &amp; Chronic Care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Corporate participation • Chronic care • Package adoption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  <a:latin typeface="Aptos"/>
              </a:defRPr>
            </a:pPr>
            <a:r>
              <a:t>HealthPlus Care  |  Healthcare Analytics                                   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444"/>
                </a:solidFill>
                <a:latin typeface="Poppins"/>
              </a:defRPr>
            </a:pPr>
            <a:r>
              <a:t>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684"/>
                </a:solidFill>
                <a:latin typeface="Poppins"/>
              </a:defRPr>
            </a:pPr>
            <a:r>
              <a:t>Recommendations should be linked to actual findings.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16636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64008" cy="71323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362456"/>
            <a:ext cx="4892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1. Improve low-performing clinic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16636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1234440"/>
            <a:ext cx="64008" cy="713232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1362456"/>
            <a:ext cx="4892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2. Optimize specialist workload distribution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48840"/>
            <a:ext cx="516636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2148840"/>
            <a:ext cx="64008" cy="713232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2276856"/>
            <a:ext cx="4892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3. Improve telemedicine session quality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148840"/>
            <a:ext cx="516636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2148840"/>
            <a:ext cx="64008" cy="71323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2276856"/>
            <a:ext cx="4892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4. Increase health package adoption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63240"/>
            <a:ext cx="516636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063240"/>
            <a:ext cx="64008" cy="713232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191256"/>
            <a:ext cx="4892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5. Strengthen chronic care engagement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063240"/>
            <a:ext cx="516636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3063240"/>
            <a:ext cx="64008" cy="713232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3191256"/>
            <a:ext cx="4892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6. Improve payment collection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977639"/>
            <a:ext cx="516636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3977639"/>
            <a:ext cx="64008" cy="71323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" y="4105655"/>
            <a:ext cx="4892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7. Reduce collection gaps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977639"/>
            <a:ext cx="516636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3977639"/>
            <a:ext cx="64008" cy="713232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36792" y="4105655"/>
            <a:ext cx="4892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8. Improve feedback participation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892040"/>
            <a:ext cx="516636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4892040"/>
            <a:ext cx="64008" cy="713232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" y="5020055"/>
            <a:ext cx="4892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9. Optimize laboratory service utilization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892040"/>
            <a:ext cx="5166360" cy="713232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4892040"/>
            <a:ext cx="64008" cy="713232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36792" y="5020055"/>
            <a:ext cx="489204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10. Strengthen corporate healthcare engagement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  <a:latin typeface="Aptos"/>
              </a:defRPr>
            </a:pPr>
            <a:r>
              <a:t>HealthPlus Care  |  Healthcare Analytics                                    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444"/>
                </a:solidFill>
                <a:latin typeface="Poppins"/>
              </a:defRPr>
            </a:pPr>
            <a:r>
              <a:t>Project Outcome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141732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828800"/>
            <a:ext cx="64008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6072" y="1956816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Data</a:t>
            </a:r>
          </a:p>
        </p:txBody>
      </p:sp>
      <p:sp>
        <p:nvSpPr>
          <p:cNvPr id="7" name="Chevron 6"/>
          <p:cNvSpPr/>
          <p:nvPr/>
        </p:nvSpPr>
        <p:spPr>
          <a:xfrm>
            <a:off x="1837944" y="2139696"/>
            <a:ext cx="201168" cy="27432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075688" y="1828800"/>
            <a:ext cx="141732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075688" y="1828800"/>
            <a:ext cx="64008" cy="9144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40280" y="1956816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Clean</a:t>
            </a:r>
          </a:p>
        </p:txBody>
      </p:sp>
      <p:sp>
        <p:nvSpPr>
          <p:cNvPr id="11" name="Chevron 10"/>
          <p:cNvSpPr/>
          <p:nvPr/>
        </p:nvSpPr>
        <p:spPr>
          <a:xfrm>
            <a:off x="3502152" y="2139696"/>
            <a:ext cx="201168" cy="27432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39896" y="1828800"/>
            <a:ext cx="141732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739896" y="1828800"/>
            <a:ext cx="64008" cy="9144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04487" y="1956816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Validate</a:t>
            </a:r>
          </a:p>
        </p:txBody>
      </p:sp>
      <p:sp>
        <p:nvSpPr>
          <p:cNvPr id="15" name="Chevron 14"/>
          <p:cNvSpPr/>
          <p:nvPr/>
        </p:nvSpPr>
        <p:spPr>
          <a:xfrm>
            <a:off x="5166360" y="2139696"/>
            <a:ext cx="201168" cy="27432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04104" y="1828800"/>
            <a:ext cx="141732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04104" y="1828800"/>
            <a:ext cx="64008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68696" y="1956816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Analyze</a:t>
            </a:r>
          </a:p>
        </p:txBody>
      </p:sp>
      <p:sp>
        <p:nvSpPr>
          <p:cNvPr id="19" name="Chevron 18"/>
          <p:cNvSpPr/>
          <p:nvPr/>
        </p:nvSpPr>
        <p:spPr>
          <a:xfrm>
            <a:off x="6830568" y="2139696"/>
            <a:ext cx="201168" cy="27432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068312" y="1828800"/>
            <a:ext cx="141732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68312" y="1828800"/>
            <a:ext cx="64008" cy="9144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32904" y="1956816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Measure</a:t>
            </a:r>
          </a:p>
        </p:txBody>
      </p:sp>
      <p:sp>
        <p:nvSpPr>
          <p:cNvPr id="23" name="Chevron 22"/>
          <p:cNvSpPr/>
          <p:nvPr/>
        </p:nvSpPr>
        <p:spPr>
          <a:xfrm>
            <a:off x="8494776" y="2139696"/>
            <a:ext cx="201168" cy="27432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732519" y="1828800"/>
            <a:ext cx="141732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732519" y="1828800"/>
            <a:ext cx="64008" cy="9144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97111" y="1956816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Understand</a:t>
            </a:r>
          </a:p>
        </p:txBody>
      </p:sp>
      <p:sp>
        <p:nvSpPr>
          <p:cNvPr id="27" name="Chevron 26"/>
          <p:cNvSpPr/>
          <p:nvPr/>
        </p:nvSpPr>
        <p:spPr>
          <a:xfrm>
            <a:off x="10158984" y="2139696"/>
            <a:ext cx="201168" cy="274320"/>
          </a:xfrm>
          <a:prstGeom prst="chevron">
            <a:avLst/>
          </a:prstGeom>
          <a:solidFill>
            <a:srgbClr val="697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396728" y="1828800"/>
            <a:ext cx="141732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396728" y="1828800"/>
            <a:ext cx="64008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561319" y="1956816"/>
            <a:ext cx="1143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Improve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6576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63444"/>
                </a:solidFill>
                <a:latin typeface="Aptos"/>
              </a:defRPr>
            </a:pPr>
            <a:r>
              <a:t>• Structured healthcare database</a:t>
            </a:r>
          </a:p>
          <a:p>
            <a:pPr>
              <a:spcAft>
                <a:spcPts val="1000"/>
              </a:spcAft>
              <a:defRPr sz="1300">
                <a:solidFill>
                  <a:srgbClr val="263444"/>
                </a:solidFill>
                <a:latin typeface="Aptos"/>
              </a:defRPr>
            </a:pPr>
            <a:r>
              <a:t>• Clean and validated data</a:t>
            </a:r>
          </a:p>
          <a:p>
            <a:pPr>
              <a:spcAft>
                <a:spcPts val="1000"/>
              </a:spcAft>
              <a:defRPr sz="1300">
                <a:solidFill>
                  <a:srgbClr val="263444"/>
                </a:solidFill>
                <a:latin typeface="Aptos"/>
              </a:defRPr>
            </a:pPr>
            <a:r>
              <a:t>• Reusable SQL KPI queries</a:t>
            </a:r>
          </a:p>
          <a:p>
            <a:pPr>
              <a:spcAft>
                <a:spcPts val="1000"/>
              </a:spcAft>
              <a:defRPr sz="1300">
                <a:solidFill>
                  <a:srgbClr val="263444"/>
                </a:solidFill>
                <a:latin typeface="Aptos"/>
              </a:defRPr>
            </a:pPr>
            <a:r>
              <a:t>• Business-oriented analytics</a:t>
            </a:r>
          </a:p>
          <a:p>
            <a:pPr>
              <a:spcAft>
                <a:spcPts val="1000"/>
              </a:spcAft>
              <a:defRPr sz="1300">
                <a:solidFill>
                  <a:srgbClr val="263444"/>
                </a:solidFill>
                <a:latin typeface="Aptos"/>
              </a:defRPr>
            </a:pPr>
            <a:r>
              <a:t>• Financial and member-experience measurement</a:t>
            </a:r>
          </a:p>
          <a:p>
            <a:pPr>
              <a:spcAft>
                <a:spcPts val="1000"/>
              </a:spcAft>
              <a:defRPr sz="1300">
                <a:solidFill>
                  <a:srgbClr val="263444"/>
                </a:solidFill>
                <a:latin typeface="Aptos"/>
              </a:defRPr>
            </a:pPr>
            <a:r>
              <a:t>• Healthcare utilization analysis</a:t>
            </a:r>
          </a:p>
          <a:p>
            <a:pPr>
              <a:spcAft>
                <a:spcPts val="1000"/>
              </a:spcAft>
              <a:defRPr sz="1300">
                <a:solidFill>
                  <a:srgbClr val="263444"/>
                </a:solidFill>
                <a:latin typeface="Aptos"/>
              </a:defRPr>
            </a:pPr>
            <a:r>
              <a:t>• Actionable decision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  <a:latin typeface="Aptos"/>
              </a:defRPr>
            </a:pPr>
            <a:r>
              <a:t>HealthPlus Care  |  Healthcare Analytics                                    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444"/>
                </a:solidFill>
                <a:latin typeface="Poppins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2514600" cy="155448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64008" cy="15544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956816"/>
            <a:ext cx="2240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Database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MySQL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514600" cy="155448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64008" cy="155448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39312" y="1956816"/>
            <a:ext cx="2240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Analytics</a:t>
            </a:r>
          </a:p>
          <a:p>
            <a:pPr>
              <a:defRPr sz="2200" b="1">
                <a:solidFill>
                  <a:srgbClr val="36AAA4"/>
                </a:solidFill>
                <a:latin typeface="Poppins"/>
              </a:defRPr>
            </a:pPr>
            <a:r>
              <a:t>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2514600" cy="155448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64008" cy="155448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1" y="1956816"/>
            <a:ext cx="2240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Data Source</a:t>
            </a:r>
          </a:p>
          <a:p>
            <a:pPr>
              <a:defRPr sz="2200" b="1">
                <a:solidFill>
                  <a:srgbClr val="7E62BE"/>
                </a:solidFill>
                <a:latin typeface="Poppins"/>
              </a:defRPr>
            </a:pPr>
            <a:r>
              <a:t>CSV / Excel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59" y="1828800"/>
            <a:ext cx="2514600" cy="155448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052559" y="1828800"/>
            <a:ext cx="64008" cy="155448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17151" y="1956816"/>
            <a:ext cx="2240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Visualization</a:t>
            </a:r>
          </a:p>
          <a:p>
            <a:pPr>
              <a:defRPr sz="2200" b="1">
                <a:solidFill>
                  <a:srgbClr val="4A90E2"/>
                </a:solidFill>
                <a:latin typeface="Poppins"/>
              </a:defRPr>
            </a:pPr>
            <a:r>
              <a:t>Power BI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148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63444"/>
                </a:solidFill>
                <a:latin typeface="Aptos"/>
              </a:defRPr>
            </a:pPr>
            <a:r>
              <a:t>• Relational healthcare database</a:t>
            </a:r>
          </a:p>
          <a:p>
            <a:pPr>
              <a:spcAft>
                <a:spcPts val="1000"/>
              </a:spcAft>
              <a:defRPr sz="1400">
                <a:solidFill>
                  <a:srgbClr val="263444"/>
                </a:solidFill>
                <a:latin typeface="Aptos"/>
              </a:defRPr>
            </a:pPr>
            <a:r>
              <a:t>• SQL-based business analysis and KPI queries</a:t>
            </a:r>
          </a:p>
          <a:p>
            <a:pPr>
              <a:spcAft>
                <a:spcPts val="1000"/>
              </a:spcAft>
              <a:defRPr sz="1400">
                <a:solidFill>
                  <a:srgbClr val="263444"/>
                </a:solidFill>
                <a:latin typeface="Aptos"/>
              </a:defRPr>
            </a:pPr>
            <a:r>
              <a:t>• CSV/Excel source data</a:t>
            </a:r>
          </a:p>
          <a:p>
            <a:pPr>
              <a:spcAft>
                <a:spcPts val="1000"/>
              </a:spcAft>
              <a:defRPr sz="1400">
                <a:solidFill>
                  <a:srgbClr val="263444"/>
                </a:solidFill>
                <a:latin typeface="Aptos"/>
              </a:defRPr>
            </a:pPr>
            <a:r>
              <a:t>• Power BI for dashboard 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  <a:latin typeface="Aptos"/>
              </a:defRPr>
            </a:pPr>
            <a:r>
              <a:t>HealthPlus Care  |  Healthcare Analytics                                    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444"/>
                </a:solidFill>
                <a:latin typeface="Poppins"/>
              </a:defRPr>
            </a:pPr>
            <a:r>
              <a:t>End-to-End Project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38328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64008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362456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CSV 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338328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64008" cy="9144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596896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MySQL 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338328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703320"/>
            <a:ext cx="64008" cy="9144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831336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Data Cleaning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234440"/>
            <a:ext cx="338328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26280" y="1234440"/>
            <a:ext cx="64008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90872" y="1362456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Data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2468880"/>
            <a:ext cx="338328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26280" y="2468880"/>
            <a:ext cx="64008" cy="9144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90872" y="2596896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SQL Business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3703320"/>
            <a:ext cx="338328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26280" y="3703320"/>
            <a:ext cx="64008" cy="9144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90872" y="3831336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KPI Queries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234440"/>
            <a:ext cx="338328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21040" y="1234440"/>
            <a:ext cx="64008" cy="9144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85632" y="1362456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Power BI Dashboard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2468880"/>
            <a:ext cx="338328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321040" y="2468880"/>
            <a:ext cx="64008" cy="9144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85632" y="2596896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Business Insights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703320"/>
            <a:ext cx="3383280" cy="9144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21040" y="3703320"/>
            <a:ext cx="64008" cy="9144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85632" y="3831336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Decision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  <a:latin typeface="Aptos"/>
              </a:defRPr>
            </a:pPr>
            <a:r>
              <a:t>HealthPlus Care  |  Healthcare Analytics                                    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444"/>
                </a:solidFill>
                <a:latin typeface="Poppin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6774" y="1417320"/>
            <a:ext cx="11216532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A90E2"/>
                </a:solidFill>
                <a:latin typeface="Poppins"/>
              </a:defRPr>
            </a:pPr>
            <a:r>
              <a:rPr dirty="0" err="1"/>
              <a:t>HealthPlus</a:t>
            </a:r>
            <a:r>
              <a:rPr dirty="0"/>
              <a:t> Care Healthcare Analytics transforms healthcare service, member, </a:t>
            </a:r>
            <a:endParaRPr lang="en-IN" dirty="0"/>
          </a:p>
          <a:p>
            <a:pPr>
              <a:defRPr sz="2200">
                <a:solidFill>
                  <a:srgbClr val="4A90E2"/>
                </a:solidFill>
                <a:latin typeface="Poppins"/>
              </a:defRPr>
            </a:pPr>
            <a:r>
              <a:rPr dirty="0"/>
              <a:t>financial and experience data into meaningful business </a:t>
            </a:r>
            <a:endParaRPr lang="en-IN" dirty="0"/>
          </a:p>
          <a:p>
            <a:pPr>
              <a:defRPr sz="2200">
                <a:solidFill>
                  <a:srgbClr val="4A90E2"/>
                </a:solidFill>
                <a:latin typeface="Poppins"/>
              </a:defRPr>
            </a:pPr>
            <a:r>
              <a:rPr dirty="0"/>
              <a:t>insights using SQL and structured analytics.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3063240"/>
            <a:ext cx="5372100" cy="11430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3063240"/>
            <a:ext cx="64008" cy="1143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3191256"/>
            <a:ext cx="50977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Service Visibility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Better understanding of healthcare utilization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5060" y="3063240"/>
            <a:ext cx="5372100" cy="11430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5060" y="3063240"/>
            <a:ext cx="64008" cy="1143000"/>
          </a:xfrm>
          <a:prstGeom prst="rect">
            <a:avLst/>
          </a:prstGeom>
          <a:solidFill>
            <a:srgbClr val="7E6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9652" y="3191256"/>
            <a:ext cx="50977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Financial Monitoring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Improved billing and collection visibility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434840"/>
            <a:ext cx="5372100" cy="11430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4434840"/>
            <a:ext cx="64008" cy="1143000"/>
          </a:xfrm>
          <a:prstGeom prst="rect">
            <a:avLst/>
          </a:prstGeom>
          <a:solidFill>
            <a:srgbClr val="36AA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4562855"/>
            <a:ext cx="50977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Member Engagement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Stronger analysis of packages and care programs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4434840"/>
            <a:ext cx="5372100" cy="1143000"/>
          </a:xfrm>
          <a:prstGeom prst="roundRect">
            <a:avLst/>
          </a:prstGeom>
          <a:solidFill>
            <a:srgbClr val="F6F8FB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5060" y="4434840"/>
            <a:ext cx="64008" cy="1143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9652" y="4562855"/>
            <a:ext cx="50977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63444"/>
                </a:solidFill>
                <a:latin typeface="Poppins"/>
              </a:defRPr>
            </a:pPr>
            <a:r>
              <a:t>Decision Support</a:t>
            </a:r>
          </a:p>
          <a:p>
            <a:pPr>
              <a:defRPr sz="1000">
                <a:solidFill>
                  <a:srgbClr val="697684"/>
                </a:solidFill>
                <a:latin typeface="Aptos"/>
              </a:defRPr>
            </a:pPr>
            <a:r>
              <a:t>Data-driven operational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684"/>
                </a:solidFill>
                <a:latin typeface="Aptos"/>
              </a:defRPr>
            </a:pPr>
            <a:r>
              <a:t>HealthPlus Care  |  Healthcare Analytics                                    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263444"/>
                </a:solidFill>
                <a:latin typeface="Poppin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88920"/>
            <a:ext cx="8503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A90E2"/>
                </a:solidFill>
                <a:latin typeface="Poppins"/>
              </a:defRPr>
            </a:pPr>
            <a:r>
              <a:t>HealthPlus Care</a:t>
            </a:r>
            <a:br/>
            <a:r>
              <a:t>Healthcare Service Utilization, Financial Performance &amp; Member Experience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1714</Words>
  <Application>Microsoft Office PowerPoint</Application>
  <PresentationFormat>Widescreen</PresentationFormat>
  <Paragraphs>464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 KARTHICK</dc:creator>
  <cp:keywords/>
  <dc:description>generated using python-pptx</dc:description>
  <cp:lastModifiedBy>S0040569</cp:lastModifiedBy>
  <cp:revision>2</cp:revision>
  <dcterms:created xsi:type="dcterms:W3CDTF">2013-01-27T09:14:16Z</dcterms:created>
  <dcterms:modified xsi:type="dcterms:W3CDTF">2026-10-04T07:56:55Z</dcterms:modified>
  <cp:category/>
</cp:coreProperties>
</file>