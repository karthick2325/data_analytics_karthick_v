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552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Operational activity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A6FA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H005</c:v>
                </c:pt>
                <c:pt idx="1">
                  <c:v>~Next Highest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1471</c:v>
                </c:pt>
                <c:pt idx="1">
                  <c:v>545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C0-4F20-A8FB-0562B01E76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Admission type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2A6FA8"/>
              </a:solidFill>
            </c:spPr>
            <c:extLst>
              <c:ext xmlns:c16="http://schemas.microsoft.com/office/drawing/2014/chart" uri="{C3380CC4-5D6E-409C-BE32-E72D297353CC}">
                <c16:uniqueId val="{00000001-9667-4F08-877E-F2959805192D}"/>
              </c:ext>
            </c:extLst>
          </c:dPt>
          <c:dPt>
            <c:idx val="1"/>
            <c:bubble3D val="0"/>
            <c:spPr>
              <a:solidFill>
                <a:srgbClr val="715EA0"/>
              </a:solidFill>
            </c:spPr>
            <c:extLst>
              <c:ext xmlns:c16="http://schemas.microsoft.com/office/drawing/2014/chart" uri="{C3380CC4-5D6E-409C-BE32-E72D297353CC}">
                <c16:uniqueId val="{00000003-9667-4F08-877E-F2959805192D}"/>
              </c:ext>
            </c:extLst>
          </c:dPt>
          <c:dPt>
            <c:idx val="2"/>
            <c:bubble3D val="0"/>
            <c:spPr>
              <a:solidFill>
                <a:srgbClr val="CD803A"/>
              </a:solidFill>
            </c:spPr>
            <c:extLst>
              <c:ext xmlns:c16="http://schemas.microsoft.com/office/drawing/2014/chart" uri="{C3380CC4-5D6E-409C-BE32-E72D297353CC}">
                <c16:uniqueId val="{00000005-9667-4F08-877E-F2959805192D}"/>
              </c:ext>
            </c:extLst>
          </c:dPt>
          <c:cat>
            <c:strRef>
              <c:f>Sheet1!$A$2:$A$4</c:f>
              <c:strCache>
                <c:ptCount val="3"/>
                <c:pt idx="0">
                  <c:v>Emergency</c:v>
                </c:pt>
                <c:pt idx="1">
                  <c:v>Planned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1165</c:v>
                </c:pt>
                <c:pt idx="1">
                  <c:v>981</c:v>
                </c:pt>
                <c:pt idx="2">
                  <c:v>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67-4F08-877E-F295980519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Room status %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2A6FA8"/>
              </a:solidFill>
            </c:spPr>
            <c:extLst>
              <c:ext xmlns:c16="http://schemas.microsoft.com/office/drawing/2014/chart" uri="{C3380CC4-5D6E-409C-BE32-E72D297353CC}">
                <c16:uniqueId val="{00000001-0D2B-4805-B904-1FC1B442503B}"/>
              </c:ext>
            </c:extLst>
          </c:dPt>
          <c:dPt>
            <c:idx val="1"/>
            <c:bubble3D val="0"/>
            <c:spPr>
              <a:solidFill>
                <a:srgbClr val="715EA0"/>
              </a:solidFill>
            </c:spPr>
            <c:extLst>
              <c:ext xmlns:c16="http://schemas.microsoft.com/office/drawing/2014/chart" uri="{C3380CC4-5D6E-409C-BE32-E72D297353CC}">
                <c16:uniqueId val="{00000003-0D2B-4805-B904-1FC1B442503B}"/>
              </c:ext>
            </c:extLst>
          </c:dPt>
          <c:dPt>
            <c:idx val="2"/>
            <c:bubble3D val="0"/>
            <c:spPr>
              <a:solidFill>
                <a:srgbClr val="CD803A"/>
              </a:solidFill>
            </c:spPr>
            <c:extLst>
              <c:ext xmlns:c16="http://schemas.microsoft.com/office/drawing/2014/chart" uri="{C3380CC4-5D6E-409C-BE32-E72D297353CC}">
                <c16:uniqueId val="{00000005-0D2B-4805-B904-1FC1B442503B}"/>
              </c:ext>
            </c:extLst>
          </c:dPt>
          <c:cat>
            <c:strRef>
              <c:f>Sheet1!$A$2:$A$4</c:f>
              <c:strCache>
                <c:ptCount val="3"/>
                <c:pt idx="0">
                  <c:v>Occupied</c:v>
                </c:pt>
                <c:pt idx="1">
                  <c:v>Vacant</c:v>
                </c:pt>
                <c:pt idx="2">
                  <c:v>Maintenance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53.25</c:v>
                </c:pt>
                <c:pt idx="1">
                  <c:v>43.13</c:v>
                </c:pt>
                <c:pt idx="2">
                  <c:v>3.63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2B-4805-B904-1FC1B4425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Approx. service cost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A6FA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Appendicitis Mgmt.</c:v>
                </c:pt>
                <c:pt idx="1">
                  <c:v>Ultrasound Abdomen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6.45</c:v>
                </c:pt>
                <c:pt idx="1">
                  <c:v>0.82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2A4-4000-AE00-3E512F81F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₹ Million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A6FA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Billed</c:v>
                </c:pt>
                <c:pt idx="1">
                  <c:v>Collected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70.77</c:v>
                </c:pt>
                <c:pt idx="1">
                  <c:v>62.45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CB7-4241-BCCB-083DD7B8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Bill status %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2A6FA8"/>
              </a:solidFill>
            </c:spPr>
            <c:extLst>
              <c:ext xmlns:c16="http://schemas.microsoft.com/office/drawing/2014/chart" uri="{C3380CC4-5D6E-409C-BE32-E72D297353CC}">
                <c16:uniqueId val="{00000001-695D-416D-8762-0BB7C1320B86}"/>
              </c:ext>
            </c:extLst>
          </c:dPt>
          <c:dPt>
            <c:idx val="1"/>
            <c:bubble3D val="0"/>
            <c:spPr>
              <a:solidFill>
                <a:srgbClr val="715EA0"/>
              </a:solidFill>
            </c:spPr>
            <c:extLst>
              <c:ext xmlns:c16="http://schemas.microsoft.com/office/drawing/2014/chart" uri="{C3380CC4-5D6E-409C-BE32-E72D297353CC}">
                <c16:uniqueId val="{00000003-695D-416D-8762-0BB7C1320B86}"/>
              </c:ext>
            </c:extLst>
          </c:dPt>
          <c:dPt>
            <c:idx val="2"/>
            <c:bubble3D val="0"/>
            <c:spPr>
              <a:solidFill>
                <a:srgbClr val="CD803A"/>
              </a:solidFill>
            </c:spPr>
            <c:extLst>
              <c:ext xmlns:c16="http://schemas.microsoft.com/office/drawing/2014/chart" uri="{C3380CC4-5D6E-409C-BE32-E72D297353CC}">
                <c16:uniqueId val="{00000005-695D-416D-8762-0BB7C1320B86}"/>
              </c:ext>
            </c:extLst>
          </c:dPt>
          <c:cat>
            <c:strRef>
              <c:f>Sheet1!$A$2:$A$4</c:f>
              <c:strCache>
                <c:ptCount val="3"/>
                <c:pt idx="0">
                  <c:v>Paid</c:v>
                </c:pt>
                <c:pt idx="1">
                  <c:v>Partially Paid</c:v>
                </c:pt>
                <c:pt idx="2">
                  <c:v>Unpaid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65.34</c:v>
                </c:pt>
                <c:pt idx="1">
                  <c:v>19.920000000000002</c:v>
                </c:pt>
                <c:pt idx="2">
                  <c:v>14.74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5D-416D-8762-0BB7C1320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Payment transaction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2A6FA8"/>
              </a:solidFill>
            </c:spPr>
            <c:extLst>
              <c:ext xmlns:c16="http://schemas.microsoft.com/office/drawing/2014/chart" uri="{C3380CC4-5D6E-409C-BE32-E72D297353CC}">
                <c16:uniqueId val="{00000001-E855-4539-A75B-93CBA424223B}"/>
              </c:ext>
            </c:extLst>
          </c:dPt>
          <c:dPt>
            <c:idx val="1"/>
            <c:bubble3D val="0"/>
            <c:spPr>
              <a:solidFill>
                <a:srgbClr val="715EA0"/>
              </a:solidFill>
            </c:spPr>
            <c:extLst>
              <c:ext xmlns:c16="http://schemas.microsoft.com/office/drawing/2014/chart" uri="{C3380CC4-5D6E-409C-BE32-E72D297353CC}">
                <c16:uniqueId val="{00000003-E855-4539-A75B-93CBA424223B}"/>
              </c:ext>
            </c:extLst>
          </c:dPt>
          <c:dPt>
            <c:idx val="2"/>
            <c:bubble3D val="0"/>
            <c:spPr>
              <a:solidFill>
                <a:srgbClr val="CD803A"/>
              </a:solidFill>
            </c:spPr>
            <c:extLst>
              <c:ext xmlns:c16="http://schemas.microsoft.com/office/drawing/2014/chart" uri="{C3380CC4-5D6E-409C-BE32-E72D297353CC}">
                <c16:uniqueId val="{00000005-E855-4539-A75B-93CBA424223B}"/>
              </c:ext>
            </c:extLst>
          </c:dPt>
          <c:cat>
            <c:strRef>
              <c:f>Sheet1!$A$2:$A$4</c:f>
              <c:strCache>
                <c:ptCount val="3"/>
                <c:pt idx="0">
                  <c:v>Success</c:v>
                </c:pt>
                <c:pt idx="1">
                  <c:v>Failed</c:v>
                </c:pt>
                <c:pt idx="2">
                  <c:v>Refunded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4413</c:v>
                </c:pt>
                <c:pt idx="1">
                  <c:v>390</c:v>
                </c:pt>
                <c:pt idx="2">
                  <c:v>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55-4539-A75B-93CBA4242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10881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49840" cy="6400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3400" b="1">
                <a:solidFill>
                  <a:srgbClr val="142D4E"/>
                </a:solidFill>
                <a:latin typeface="Aptos"/>
              </a:defRPr>
            </a:pPr>
            <a:r>
              <a:t>MEDICARE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4984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2300" b="1">
                <a:solidFill>
                  <a:srgbClr val="2A6FA8"/>
                </a:solidFill>
                <a:latin typeface="Aptos"/>
              </a:defRPr>
            </a:pPr>
            <a:r>
              <a:t>Healthcare Operations &amp; Revenue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149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400" b="0">
                <a:solidFill>
                  <a:srgbClr val="677482"/>
                </a:solidFill>
                <a:latin typeface="Aptos"/>
              </a:defRPr>
            </a:pPr>
            <a:r>
              <a:t>MySQL  |  SQL  | 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84048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0" y="3840480"/>
            <a:ext cx="64008" cy="9601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47088" y="3986784"/>
            <a:ext cx="141731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4315968"/>
            <a:ext cx="1417319" cy="3657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51960" y="384048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3840480"/>
            <a:ext cx="64008" cy="96012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3986784"/>
            <a:ext cx="141731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315968"/>
            <a:ext cx="1417319" cy="3657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03720" y="384048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3840480"/>
            <a:ext cx="64008" cy="96012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4888" y="3986784"/>
            <a:ext cx="141731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BILLING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315968"/>
            <a:ext cx="1417319" cy="3657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81160" y="384048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60" y="3840480"/>
            <a:ext cx="64008" cy="96012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82328" y="3986784"/>
            <a:ext cx="141731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4315968"/>
            <a:ext cx="1417319" cy="3657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10149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100" b="0">
                <a:solidFill>
                  <a:srgbClr val="677482"/>
                </a:solidFill>
                <a:latin typeface="Aptos"/>
              </a:defRPr>
            </a:pPr>
            <a:r>
              <a:t>Academic Project • Portfolio • Viva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0" cy="393192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Hospital operations and patient activity</a:t>
            </a:r>
          </a:p>
          <a:p>
            <a:pPr>
              <a:spcAft>
                <a:spcPts val="6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Department and doctor workload</a:t>
            </a:r>
          </a:p>
          <a:p>
            <a:pPr>
              <a:spcAft>
                <a:spcPts val="6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Healthcare service utilization</a:t>
            </a:r>
          </a:p>
          <a:p>
            <a:pPr>
              <a:spcAft>
                <a:spcPts val="6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Billing and payment collection</a:t>
            </a:r>
          </a:p>
          <a:p>
            <a:pPr>
              <a:spcAft>
                <a:spcPts val="6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SQL-based business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846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64008" cy="11887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517904"/>
            <a:ext cx="45262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47088"/>
            <a:ext cx="4526280" cy="594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Build a structured MySQL database and use SQL analysis to support healthcare operational and financial decision-making.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788920"/>
            <a:ext cx="64008" cy="114300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935224"/>
            <a:ext cx="45262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ANALYTICAL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264408"/>
            <a:ext cx="4526280" cy="5486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Connect healthcare activity with billing and collected revenue.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160520"/>
            <a:ext cx="64008" cy="114300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306824"/>
            <a:ext cx="45262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636008"/>
            <a:ext cx="4526280" cy="5486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KPI framework • business insights •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109728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1790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PATIENT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47088"/>
            <a:ext cx="3063240" cy="5029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No consolidated SQL view of patient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109728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1790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63240" cy="5029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Hospital and department workload is fragmented.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64008" cy="109728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1790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47088"/>
            <a:ext cx="3063240" cy="5029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Billing and payment collection need integrated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063240"/>
            <a:ext cx="813816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03120" y="3127248"/>
            <a:ext cx="7955280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FROM HEALTHCARE OPERATIONS → TO REVENUE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960120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142D4E"/>
                </a:solidFill>
                <a:latin typeface="Aptos"/>
              </a:defRPr>
            </a:pPr>
            <a:r>
              <a:t>Patient activity  →  service utilization  →  billing  →  payment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54880"/>
            <a:ext cx="941832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300" b="0">
                <a:solidFill>
                  <a:srgbClr val="677482"/>
                </a:solidFill>
                <a:latin typeface="Aptos"/>
              </a:defRPr>
            </a:pPr>
            <a:r>
              <a:t>Management needs a consolidated view to identify workload, utilization and collection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Structured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15087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5636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928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Entity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64008" cy="150876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8928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Patient &amp; hospital activity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474720"/>
            <a:ext cx="64008" cy="150876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6210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9502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Service utilization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474720"/>
            <a:ext cx="64008" cy="15087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6210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39502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Billing &amp; payments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79" y="3474720"/>
            <a:ext cx="64008" cy="15087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3621024"/>
            <a:ext cx="30175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950208"/>
            <a:ext cx="301752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Insights &amp;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5029200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46320" cy="406908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MySQL database creation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Table &amp; relationship design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Primary &amp; foreign keys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Data loading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Data cleaning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SQL analysis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Aggregations &amp; joins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Window functions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KPI analysis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79" y="1389888"/>
            <a:ext cx="5029200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301752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Medical diagnosis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Clinical decision-making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Predictive healthcare modeling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External data integration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Unsupported clinical quality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Healthcare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Major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874519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HOSPITAL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4754880" cy="12801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Hospitals • Departments • Rooms •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7218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PATIENT &amp; 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01368"/>
            <a:ext cx="4754880" cy="12801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Patients • Doctors • Appointments • Admissions • Treatments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64008" cy="1874519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0390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33087"/>
            <a:ext cx="4754880" cy="12801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Laboratory • Pharmacy • Medicines • Insurance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" cy="1874519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80390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33087"/>
            <a:ext cx="4754880" cy="12801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Billing •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Logical Healthcare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71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32304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APPOINTMENT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9976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ADMISSION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71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TREATMENT / LAB / PHARMACY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7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799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8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39" y="2331720"/>
            <a:ext cx="1600200" cy="868680"/>
          </a:xfrm>
          <a:prstGeom prst="roundRect">
            <a:avLst/>
          </a:prstGeom>
          <a:solidFill>
            <a:srgbClr val="F2F8FC"/>
          </a:solidFill>
          <a:ln>
            <a:solidFill>
              <a:srgbClr val="398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22991" y="2542032"/>
            <a:ext cx="145389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69080"/>
            <a:ext cx="941832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0">
                <a:solidFill>
                  <a:srgbClr val="677482"/>
                </a:solidFill>
                <a:latin typeface="Aptos"/>
              </a:defRPr>
            </a:pPr>
            <a:r>
              <a:t>This analytical flow connects healthcare operations with financial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Relational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Database: HospitalAnalyticsDB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4008" cy="15087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17904"/>
            <a:ext cx="47091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Hospital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47088"/>
            <a:ext cx="470916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hospitals • departments • rooms •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4008" cy="15087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17904"/>
            <a:ext cx="47091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Healthcare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470916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patients • appointments • admissions • doctors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64008" cy="150876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575304"/>
            <a:ext cx="47091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Healthcare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04487"/>
            <a:ext cx="470916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treatments • laboratory • pharmacy • insurance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64008" cy="150876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575304"/>
            <a:ext cx="47091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Financial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904487"/>
            <a:ext cx="4709160" cy="91439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billing •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86400"/>
            <a:ext cx="7772400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300" b="1">
                <a:solidFill>
                  <a:srgbClr val="142D4E"/>
                </a:solidFill>
                <a:latin typeface="Aptos"/>
              </a:defRPr>
            </a:pPr>
            <a:r>
              <a:t>Primary keys + foreign keys + referential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Database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Grouped by analytical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08760"/>
            <a:ext cx="2606040" cy="4160520"/>
          </a:xfrm>
          <a:prstGeom prst="roundRect">
            <a:avLst/>
          </a:prstGeom>
          <a:solidFill>
            <a:srgbClr val="F2F8FC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22860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HOSPITAL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148840" cy="265176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Hospitals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Departments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Rooms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Employees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508760"/>
            <a:ext cx="2606040" cy="4160520"/>
          </a:xfrm>
          <a:prstGeom prst="roundRect">
            <a:avLst/>
          </a:prstGeom>
          <a:solidFill>
            <a:srgbClr val="F2F8FC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83864" y="1783080"/>
            <a:ext cx="22860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PATIENT &amp; CLINICAL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60320"/>
            <a:ext cx="2148840" cy="265176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Patients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Doctors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Appointments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Admissions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Treatments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508760"/>
            <a:ext cx="2606040" cy="4160520"/>
          </a:xfrm>
          <a:prstGeom prst="roundRect">
            <a:avLst/>
          </a:prstGeom>
          <a:solidFill>
            <a:srgbClr val="F2F8FC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1783080"/>
            <a:ext cx="22860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560320"/>
            <a:ext cx="2148840" cy="265176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Laboratory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Pharmacy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Medicines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Insurance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508760"/>
            <a:ext cx="2606040" cy="4160520"/>
          </a:xfrm>
          <a:prstGeom prst="roundRect">
            <a:avLst/>
          </a:prstGeom>
          <a:solidFill>
            <a:srgbClr val="F2F8FC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1783080"/>
            <a:ext cx="22860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560320"/>
            <a:ext cx="2148840" cy="265176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Billing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897880"/>
            <a:ext cx="77724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0">
                <a:solidFill>
                  <a:srgbClr val="677482"/>
                </a:solidFill>
                <a:latin typeface="Aptos"/>
              </a:defRPr>
            </a:pPr>
            <a:r>
              <a:t>Relational structure supports cross-functional SQL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Data Cleaning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167335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Trim &amp; Standardize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167335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NULL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67335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Invalid Value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67335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1673352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67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14173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664208"/>
            <a:ext cx="1408176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Validated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10241280" cy="256032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Blank values → NULL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Extra spaces removed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Gender and status values standardized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Negative numeric values handled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Invalid phone numbers handled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Invalid email formats handled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Invalid dates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715000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2A6FA8"/>
                </a:solidFill>
                <a:latin typeface="Aptos"/>
              </a:defRPr>
            </a:pPr>
            <a:r>
              <a:t>Cleaning decisions were applied using 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Data Validation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64008" cy="8229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47218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Duplicate Primary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64008" cy="8229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47218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0136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2316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2423160"/>
            <a:ext cx="64008" cy="8229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256946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89864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Invalid Foreign Keys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2316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423160"/>
            <a:ext cx="64008" cy="8229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256946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89864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Invalid Numeric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20439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520439"/>
            <a:ext cx="64008" cy="8229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366674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995927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Invalid 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20439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520439"/>
            <a:ext cx="64008" cy="8229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7" y="366674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3995927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Invalid Phone Numbers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1772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4617720"/>
            <a:ext cx="64008" cy="8229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476402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09320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Invalid Email Formats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61772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617720"/>
            <a:ext cx="64008" cy="8229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7" y="4764024"/>
            <a:ext cx="47548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093208"/>
            <a:ext cx="4754880" cy="2286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Referential Integrity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100" b="0">
                <a:solidFill>
                  <a:srgbClr val="677482"/>
                </a:solidFill>
                <a:latin typeface="Aptos"/>
              </a:defRPr>
            </a:pPr>
            <a:r>
              <a:t>Example relationships: Patient → Appointment  |  Doctor → Appointment  |  Hospital → Department  |  Bill → Payment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SQL Analysis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323561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323561"/>
            <a:ext cx="64008" cy="566928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380744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DDL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09928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CREATE DATABASE • CREATE TABLE • ALTER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075687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" y="2075687"/>
            <a:ext cx="64008" cy="566928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2130552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DML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59736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INSERT •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839211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20" y="2784669"/>
            <a:ext cx="64008" cy="566928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2880360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CORE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209544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SELECT • WHERE • ORDER BY • LIMIT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573403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7692" y="3535122"/>
            <a:ext cx="64008" cy="566928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1288" y="3630168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959352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SUM • AVG • COUNT • GROUP BY • HAVING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302253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" y="4274883"/>
            <a:ext cx="64008" cy="566928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1288" y="4379976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709160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INNER JOIN • LEFT JOIN • RIGHT JOIN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5063457"/>
            <a:ext cx="10149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2613" y="5071313"/>
            <a:ext cx="64008" cy="566928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8" y="5129783"/>
            <a:ext cx="98298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WINDOW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5458967"/>
            <a:ext cx="982980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ROW_NUMBER • RANK • LAG • LEAD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Key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86868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01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Which hospitals have the highest activity?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64008" cy="86868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472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01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Which departments have the highest workload?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468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468880"/>
            <a:ext cx="64008" cy="86868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615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How is doctor workload distributed?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68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64008" cy="86868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2615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944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Which patients have highest service activity?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11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611880"/>
            <a:ext cx="64008" cy="86868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758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087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What are admission patterns and average LOS?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611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611880"/>
            <a:ext cx="64008" cy="86868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3758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087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Which treatments, labs and medicines lead activity/cost?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54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754880"/>
            <a:ext cx="64008" cy="86868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" y="4901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5230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How much is billed and collected?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754880"/>
            <a:ext cx="5257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4754880"/>
            <a:ext cx="64008" cy="86868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0528" y="4901184"/>
            <a:ext cx="49377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Q8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230368"/>
            <a:ext cx="4937760" cy="2743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Where are the largest collection gaps?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Healthcare KPI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3291839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OPERATIONAL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00400" cy="3749039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Patients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Appointments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Admissions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Average Length of Stay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Treatments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Lab Activity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Pharmacy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298448"/>
            <a:ext cx="3291839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FINANCIAL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00400" cy="283464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Billed Amount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Total Payment Collected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Collection Gap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Collection Rate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298448"/>
            <a:ext cx="3291839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WORKLOAD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00400" cy="219456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Hospital Activity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Department Workload</a:t>
            </a:r>
          </a:p>
          <a:p>
            <a:pPr>
              <a:spcAft>
                <a:spcPts val="600"/>
              </a:spcAft>
              <a:defRPr sz="1200">
                <a:solidFill>
                  <a:srgbClr val="283441"/>
                </a:solidFill>
                <a:latin typeface="Aptos"/>
              </a:defRPr>
            </a:pPr>
            <a:r>
              <a:t>• Doctor Workload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Operational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Actual supplied-data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64008" cy="14173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26463"/>
            <a:ext cx="269747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H005 — MEDICARE BELAGAVI NORTH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55648"/>
            <a:ext cx="2697479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1,471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2697479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Operational Activities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64008" cy="141732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072384"/>
            <a:ext cx="269747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DISTINCT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401568"/>
            <a:ext cx="2697479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931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913632"/>
            <a:ext cx="2697479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Highest hospital activity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3017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64008" cy="105156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718304"/>
            <a:ext cx="2697479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ADMISSION LEADER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047488"/>
            <a:ext cx="2697479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559552"/>
            <a:ext cx="2697479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H005 — Ophthalmology (D006)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069080" y="1325880"/>
          <a:ext cx="7132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251960" y="4800600"/>
            <a:ext cx="6675120" cy="594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300" b="1">
                <a:solidFill>
                  <a:srgbClr val="142D4E"/>
                </a:solidFill>
                <a:latin typeface="Aptos"/>
              </a:defRPr>
            </a:pPr>
            <a:r>
              <a:t>H005 records the highest operational activity; approximately 2.7× the next-highest hospital.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Admission &amp; Resource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Actual supplied-data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23444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380744"/>
            <a:ext cx="2103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EMERGENCY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09928"/>
            <a:ext cx="2103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1,165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21992"/>
            <a:ext cx="2103120" cy="1554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46.6% of admissions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64008" cy="123444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380744"/>
            <a:ext cx="2103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709928"/>
            <a:ext cx="2103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981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21992"/>
            <a:ext cx="2103120" cy="1554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39.24% of admissions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2344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1234440"/>
            <a:ext cx="64008" cy="123444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380744"/>
            <a:ext cx="2103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DISCHARGED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1709928"/>
            <a:ext cx="2103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1,869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221992"/>
            <a:ext cx="2103120" cy="1554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74.76% of admissions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2344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9640" y="1234440"/>
            <a:ext cx="64008" cy="123444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50808" y="1380744"/>
            <a:ext cx="24231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AVERAGE 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1709928"/>
            <a:ext cx="242316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7.44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221992"/>
            <a:ext cx="2423160" cy="1554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1,776 valid admissions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94360" y="2743200"/>
          <a:ext cx="52120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172200" y="2743200"/>
          <a:ext cx="52120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60120" y="5806440"/>
            <a:ext cx="1014984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Emergency admissions are the largest category. The 43.13% vacant room share indicates a capacity-utilization review opportunity.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Healthcare Service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Actual supplied-data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64008" cy="15087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26463"/>
            <a:ext cx="3246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TREATMENT — APPENDICITIS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55648"/>
            <a:ext cx="3246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213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3246120" cy="4297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~₹6.45M total treatment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64008" cy="150876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209544"/>
            <a:ext cx="3246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LAB — ULTRASOUND ABDOMEN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38728"/>
            <a:ext cx="3246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204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50791"/>
            <a:ext cx="3246120" cy="4297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~₹0.82M total test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35661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64008" cy="105156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992624"/>
            <a:ext cx="3246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PHARMACY — ATORVASTATIN 650MG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21808"/>
            <a:ext cx="32461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~₹4.70M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833872"/>
            <a:ext cx="324612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292 sales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26280" y="1325880"/>
          <a:ext cx="6720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0" y="4709160"/>
            <a:ext cx="6583680" cy="594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300" b="1">
                <a:solidFill>
                  <a:srgbClr val="142D4E"/>
                </a:solidFill>
                <a:latin typeface="Aptos"/>
              </a:defRPr>
            </a:pPr>
            <a:r>
              <a:t>High-volume service categories represent priority areas for operational and cost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Billing &amp; Revenue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Actual supplied-data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64008" cy="14173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380744"/>
            <a:ext cx="22860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TOTAL BILLED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709928"/>
            <a:ext cx="228600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~₹70.77M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21992"/>
            <a:ext cx="2286000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Cleaned financial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3444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64008" cy="141732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380744"/>
            <a:ext cx="22860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SUCCESSFUL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709928"/>
            <a:ext cx="228600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~₹62.45M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221992"/>
            <a:ext cx="2286000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Successful payments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23444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1234440"/>
            <a:ext cx="64008" cy="141732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1380744"/>
            <a:ext cx="22860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COLLECTION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709928"/>
            <a:ext cx="228600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~88.24%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221992"/>
            <a:ext cx="2286000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Amount-based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23444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9680" y="1234440"/>
            <a:ext cx="64008" cy="141732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70848" y="1380744"/>
            <a:ext cx="228600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COLLECTION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1709928"/>
            <a:ext cx="228600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~₹8.32M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221992"/>
            <a:ext cx="2286000" cy="33832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Billed less collected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94360" y="297180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355080" y="2880360"/>
          <a:ext cx="4983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0">
                <a:solidFill>
                  <a:srgbClr val="677482"/>
                </a:solidFill>
                <a:latin typeface="Aptos"/>
              </a:defRPr>
            </a:pPr>
            <a:r>
              <a:t>Figures apply the documented cleaning approach for invalid negative billing/payment values.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Payment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Actual supplied-data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46304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28803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288036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4,413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2880360" cy="3840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88.26%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64008" cy="1463040"/>
          </a:xfrm>
          <a:prstGeom prst="rect">
            <a:avLst/>
          </a:prstGeom>
          <a:solidFill>
            <a:srgbClr val="B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209544"/>
            <a:ext cx="28803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38728"/>
            <a:ext cx="288036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390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50791"/>
            <a:ext cx="2880360" cy="38404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7.80%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00600"/>
            <a:ext cx="3200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946904"/>
            <a:ext cx="28803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REFUNDED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276088"/>
            <a:ext cx="288036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500" b="1">
                <a:solidFill>
                  <a:srgbClr val="142D4E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788152"/>
            <a:ext cx="288036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3.94%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297680" y="1417320"/>
          <a:ext cx="4937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43400" y="5669280"/>
            <a:ext cx="612648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300" b="1">
                <a:solidFill>
                  <a:srgbClr val="142D4E"/>
                </a:solidFill>
                <a:latin typeface="Aptos"/>
              </a:defRPr>
            </a:pPr>
            <a:r>
              <a:t>Failed and refunded transactions represent an area for collection-process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4008" cy="155448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721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H005 has the highest operational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64008" cy="155448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721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Emergency admissions form the largest admission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3258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325880"/>
            <a:ext cx="64008" cy="155448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4721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8013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Room vacancy indicates a capacity-utilization opportunity.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64008" cy="155448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5295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587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Appendicitis Management is a major treatment-cost category.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383280"/>
            <a:ext cx="64008" cy="155448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5295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8587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Atorvastatin 650mg leads pharmacy revenue.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59" y="3383280"/>
            <a:ext cx="64008" cy="155448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7" y="3529584"/>
            <a:ext cx="30632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858768"/>
            <a:ext cx="3063240" cy="960119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Collection performance is ~88.24%, leaving a measurable gap.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4924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5166359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HIGH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983480" cy="329184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Review H005 staffing and capacity allocation.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Strengthen emergency-care resource planning.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Improve follow-up for partially paid and unpaid bills.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Investigate failed and refunded payment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49240" cy="347472"/>
          </a:xfrm>
          <a:prstGeom prst="roundRect">
            <a:avLst/>
          </a:prstGeom>
          <a:solidFill>
            <a:srgbClr val="E0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1298448"/>
            <a:ext cx="5166359" cy="201168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000" b="1">
                <a:solidFill>
                  <a:srgbClr val="142D4E"/>
                </a:solidFill>
                <a:latin typeface="Aptos"/>
              </a:defRPr>
            </a:pPr>
            <a:r>
              <a:t>MEDIUM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983480" cy="3291840"/>
          </a:xfrm>
          <a:prstGeom prst="rect">
            <a:avLst/>
          </a:prstGeom>
          <a:noFill/>
        </p:spPr>
        <p:txBody>
          <a:bodyPr wrap="square" lIns="36576" rIns="27432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Review room vacancy and utilization.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Monitor high-cost treatment categories.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Improve inventory planning for high-revenue medicines.</a:t>
            </a:r>
          </a:p>
          <a:p>
            <a:pPr>
              <a:spcAft>
                <a:spcPts val="600"/>
              </a:spcAft>
              <a:defRPr sz="1300">
                <a:solidFill>
                  <a:srgbClr val="283441"/>
                </a:solidFill>
                <a:latin typeface="Aptos"/>
              </a:defRPr>
            </a:pPr>
            <a:r>
              <a:t>• Review high-demand laboratory services.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Data Quality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677482"/>
                </a:solidFill>
                <a:latin typeface="Aptos"/>
              </a:defRPr>
            </a:pPr>
            <a:r>
              <a:t>Important limitation identified during source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801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64008" cy="34747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26463"/>
            <a:ext cx="28346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EXPECTED DOCTOR 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55648"/>
            <a:ext cx="283464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doctor_id</a:t>
            </a:r>
            <a:br/>
            <a:r>
              <a:t>first_name</a:t>
            </a:r>
            <a:br/>
            <a:r>
              <a:t>last_name</a:t>
            </a:r>
            <a:br/>
            <a:r>
              <a:t>specialization</a:t>
            </a:r>
            <a:br/>
            <a:r>
              <a:t>department_id</a:t>
            </a:r>
            <a:br/>
            <a:r>
              <a:t>hospital_id</a:t>
            </a:r>
            <a:br/>
            <a:r>
              <a:t>experience_years</a:t>
            </a:r>
            <a:br/>
            <a:r>
              <a:t>consultation_fee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64008" cy="347472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1426463"/>
            <a:ext cx="28346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SUPPLIED Doctors.csv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755648"/>
            <a:ext cx="283464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The supplied file does not match the doctor master schema expected by the database setup.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280160"/>
            <a:ext cx="3566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1280160"/>
            <a:ext cx="64008" cy="347472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1426463"/>
            <a:ext cx="324612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755648"/>
            <a:ext cx="324612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Doctor-name and specialization-based insights should be finalized only after the correct Doctors.csv master dataset is supplied.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57800"/>
            <a:ext cx="96012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500" b="1">
                <a:solidFill>
                  <a:srgbClr val="142D4E"/>
                </a:solidFill>
                <a:latin typeface="Aptos"/>
              </a:defRPr>
            </a:pPr>
            <a:r>
              <a:t>Expected Schema  →  Supplied File  →  Validation Issue  →  Correct Master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806440"/>
            <a:ext cx="566928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100" b="0">
                <a:solidFill>
                  <a:srgbClr val="677482"/>
                </a:solidFill>
                <a:latin typeface="Aptos"/>
              </a:defRPr>
            </a:pPr>
            <a:r>
              <a:t>This limitation is disclosed rather than hidden.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64008" cy="347472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655063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OPERATIONAL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219456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Understand hospital, department and admission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64008" cy="3474720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1655063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RESOURCE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984248"/>
            <a:ext cx="219456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Identify workload and room-utilization opportunities.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64008" cy="3474720"/>
          </a:xfrm>
          <a:prstGeom prst="rect">
            <a:avLst/>
          </a:prstGeom>
          <a:solidFill>
            <a:srgbClr val="39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1655063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SERVICE &amp; COST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984248"/>
            <a:ext cx="219456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Monitor treatments, laboratory and pharmacy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508760"/>
            <a:ext cx="64008" cy="3474720"/>
          </a:xfrm>
          <a:prstGeom prst="rect">
            <a:avLst/>
          </a:prstGeom>
          <a:solidFill>
            <a:srgbClr val="CD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36608" y="1655063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REVENUE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1984248"/>
            <a:ext cx="2194560" cy="28803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Track billing, payments and collection gaps.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77840"/>
            <a:ext cx="9601200" cy="4114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600" b="1">
                <a:solidFill>
                  <a:srgbClr val="142D4E"/>
                </a:solidFill>
                <a:latin typeface="Aptos"/>
              </a:defRPr>
            </a:pPr>
            <a:r>
              <a:t>Healthcare Analytics  +  SQL Database  +  Business Intelligence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2700" b="1">
                <a:solidFill>
                  <a:srgbClr val="142D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10058400" cy="10058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2000" b="1">
                <a:solidFill>
                  <a:srgbClr val="142D4E"/>
                </a:solidFill>
                <a:latin typeface="Aptos"/>
              </a:defRPr>
            </a:pPr>
            <a:r>
              <a:t>“MediCare Healthcare Operations &amp; Revenue Analytics provides a structured SQL-based approach to connect healthcare activity with financial performance.”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71990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2861298"/>
            <a:ext cx="64008" cy="5303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889504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218688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Relational database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47070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1575" y="2820924"/>
            <a:ext cx="64008" cy="530352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889504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18688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Data cleaning &amp;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30168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5840" y="3584448"/>
            <a:ext cx="64008" cy="5303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3639312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68496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SQL business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276" y="3621024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594878"/>
            <a:ext cx="64008" cy="530352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639312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968496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KPI framework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344174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19556" y="4334256"/>
            <a:ext cx="64008" cy="5303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07008" y="4389120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718304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Healthcare operational insights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988" y="4398264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4334256"/>
            <a:ext cx="64008" cy="530352"/>
          </a:xfrm>
          <a:prstGeom prst="rect">
            <a:avLst/>
          </a:prstGeom>
          <a:solidFill>
            <a:srgbClr val="71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4389120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718304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Billing &amp; collection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120640"/>
            <a:ext cx="4754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9677" y="5110722"/>
            <a:ext cx="64008" cy="530352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07008" y="5138928"/>
            <a:ext cx="4434840" cy="2743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000" b="1">
                <a:solidFill>
                  <a:srgbClr val="6774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468112"/>
            <a:ext cx="4434840" cy="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1200" b="0">
                <a:solidFill>
                  <a:srgbClr val="283441"/>
                </a:solidFill>
                <a:latin typeface="Aptos"/>
              </a:defRPr>
            </a:pPr>
            <a:r>
              <a:t>Actionable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500" b="1">
                <a:solidFill>
                  <a:srgbClr val="2A6FA8"/>
                </a:solidFill>
                <a:latin typeface="Aptos"/>
              </a:defRPr>
            </a:pPr>
            <a:r>
              <a:t>From Patient Activity to Revenue Collection — Data-Driven Healthcare Decisions.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3400" b="1">
                <a:solidFill>
                  <a:srgbClr val="142D4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2100" b="1">
                <a:solidFill>
                  <a:srgbClr val="2A6FA8"/>
                </a:solidFill>
                <a:latin typeface="Aptos"/>
              </a:defRPr>
            </a:pPr>
            <a:r>
              <a:t>MediCare Healthcare Operations &amp; Revenue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400" b="0">
                <a:solidFill>
                  <a:srgbClr val="677482"/>
                </a:solidFill>
                <a:latin typeface="Aptos"/>
              </a:defRPr>
            </a:pPr>
            <a:r>
              <a:t>MySQL  |  SQL  | 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ctr">
              <a:defRPr sz="1100" b="0">
                <a:solidFill>
                  <a:srgbClr val="677482"/>
                </a:solidFill>
                <a:latin typeface="Aptos"/>
              </a:defRPr>
            </a:pPr>
            <a:r>
              <a:t>Academic Project • Portfolio •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MediCare Healthcare Operations &amp; Revenue Analytics  |  MySQL • SQL •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228600" cy="18288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r">
              <a:defRPr sz="900" b="1">
                <a:solidFill>
                  <a:srgbClr val="142D4E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1644</Words>
  <Application>Microsoft Office PowerPoint</Application>
  <PresentationFormat>Widescreen</PresentationFormat>
  <Paragraphs>391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KARTHICK</dc:creator>
  <cp:keywords/>
  <dc:description>generated using python-pptx</dc:description>
  <cp:lastModifiedBy>S0040569</cp:lastModifiedBy>
  <cp:revision>2</cp:revision>
  <dcterms:created xsi:type="dcterms:W3CDTF">2013-01-27T09:14:16Z</dcterms:created>
  <dcterms:modified xsi:type="dcterms:W3CDTF">2026-10-04T06:12:14Z</dcterms:modified>
  <cp:category/>
</cp:coreProperties>
</file>